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448" autoAdjust="0"/>
  </p:normalViewPr>
  <p:slideViewPr>
    <p:cSldViewPr snapToGrid="0" showGuides="1">
      <p:cViewPr varScale="1">
        <p:scale>
          <a:sx n="96" d="100"/>
          <a:sy n="96" d="100"/>
        </p:scale>
        <p:origin x="1068" y="114"/>
      </p:cViewPr>
      <p:guideLst>
        <p:guide orient="horz" pos="200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№3: Паттерны проектирования: порождающие и структурные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216817"/>
            <a:ext cx="12192000" cy="591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разработчик сталкивается с типовыми проблемами:</a:t>
            </a:r>
          </a:p>
          <a:p>
            <a:pPr lvl="1" algn="just"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создать объект, чтобы не привязываться к конкретному классу?</a:t>
            </a:r>
          </a:p>
          <a:p>
            <a:pPr lvl="1" algn="just"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работать с несовместимыми интерфейсами?</a:t>
            </a:r>
          </a:p>
          <a:p>
            <a:pPr lvl="1" algn="just">
              <a:lnSpc>
                <a:spcPct val="150000"/>
              </a:lnSpc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контролировать доступ к объекту?</a:t>
            </a:r>
          </a:p>
          <a:p>
            <a:pPr lvl="0" algn="just"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Использовать проверенные паттерны (шаблоны).</a:t>
            </a:r>
          </a:p>
          <a:p>
            <a:pPr lvl="0" algn="just"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Цитата: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"Паттерн — это решение проблемы в контексте" (Кристофер Александер).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A589-B760-70EA-46E7-F404A9AD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6BA04A1-4B40-A9B2-A3DA-347A6D143896}"/>
              </a:ext>
            </a:extLst>
          </p:cNvPr>
          <p:cNvSpPr txBox="1"/>
          <p:nvPr/>
        </p:nvSpPr>
        <p:spPr>
          <a:xfrm>
            <a:off x="1572" y="0"/>
            <a:ext cx="12190428" cy="583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паттернов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GoF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GoF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Gang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Four)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Эрих Гамма, Ричард Хелм, Ральф Джонсон, Джон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Влиссидес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Книга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"Design Patterns: Elements of Reusable Object-Oriented Software" (1994).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 группы: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Порождающие (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Creational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как создавать объекты.</a:t>
            </a:r>
          </a:p>
          <a:p>
            <a:pPr lvl="0" algn="just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Структурные (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как строить связи между объектами.</a:t>
            </a:r>
          </a:p>
          <a:p>
            <a:pPr lvl="0" algn="just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Поведенческие (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как распределить обязанности между объектами.</a:t>
            </a:r>
          </a:p>
        </p:txBody>
      </p:sp>
    </p:spTree>
    <p:extLst>
      <p:ext uri="{BB962C8B-B14F-4D97-AF65-F5344CB8AC3E}">
        <p14:creationId xmlns:p14="http://schemas.microsoft.com/office/powerpoint/2010/main" val="295532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61111-D426-9DB6-3D11-DA2D7047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B2745BC-1393-14D1-6D17-30604B54DBF4}"/>
              </a:ext>
            </a:extLst>
          </p:cNvPr>
          <p:cNvSpPr txBox="1"/>
          <p:nvPr/>
        </p:nvSpPr>
        <p:spPr>
          <a:xfrm>
            <a:off x="0" y="0"/>
            <a:ext cx="12192000" cy="3697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Порождающие паттерны — общая идея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Создание объекта через 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привязывает вас к конкретному классу.</a:t>
            </a:r>
          </a:p>
          <a:p>
            <a:pPr lvl="0" algn="just"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Инкапсулировать логику создания.</a:t>
            </a:r>
          </a:p>
          <a:p>
            <a:pPr lvl="0" algn="just"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Зачем: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Гибкость, переиспользование, контроль.</a:t>
            </a:r>
          </a:p>
        </p:txBody>
      </p:sp>
    </p:spTree>
    <p:extLst>
      <p:ext uri="{BB962C8B-B14F-4D97-AF65-F5344CB8AC3E}">
        <p14:creationId xmlns:p14="http://schemas.microsoft.com/office/powerpoint/2010/main" val="312588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DDB6-EFE5-A6D1-9EC1-DD6C6EE7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AFEDF9B-00F9-B5AD-0ED9-A09F3D81E397}"/>
              </a:ext>
            </a:extLst>
          </p:cNvPr>
          <p:cNvSpPr txBox="1"/>
          <p:nvPr/>
        </p:nvSpPr>
        <p:spPr>
          <a:xfrm>
            <a:off x="0" y="0"/>
            <a:ext cx="6096000" cy="647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(Одиночка)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"Гарантирует, что у класса есть только один экземпляр, и предоставляет глобальную точку доступа к нему."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Логгеры</a:t>
            </a:r>
          </a:p>
          <a:p>
            <a:pPr lvl="0">
              <a:lnSpc>
                <a:spcPct val="15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Менеджеры конфигурации</a:t>
            </a:r>
          </a:p>
          <a:p>
            <a:pPr lvl="0">
              <a:lnSpc>
                <a:spcPct val="15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Пул соединений с БД</a:t>
            </a:r>
          </a:p>
          <a:p>
            <a:pPr lvl="0">
              <a:lnSpc>
                <a:spcPct val="15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Кэш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6CA97-6397-F086-E5E4-4D407FE3BB2C}"/>
              </a:ext>
            </a:extLst>
          </p:cNvPr>
          <p:cNvSpPr txBox="1"/>
          <p:nvPr/>
        </p:nvSpPr>
        <p:spPr>
          <a:xfrm>
            <a:off x="6259398" y="674400"/>
            <a:ext cx="593260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кода (проблема):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6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Плохой </a:t>
            </a:r>
            <a:r>
              <a:rPr lang="ru-RU" sz="1600" i="1" kern="0" dirty="0" err="1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lang="ru-RU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(не </a:t>
            </a:r>
            <a:r>
              <a:rPr lang="ru-RU" sz="1600" i="1" kern="0" dirty="0" err="1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потокобезопасный</a:t>
            </a:r>
            <a:r>
              <a:rPr lang="ru-RU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instance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{}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Приватный конструктор</a:t>
            </a:r>
            <a:r>
              <a:rPr lang="en-US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getInstance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instance </a:t>
            </a:r>
            <a:r>
              <a:rPr lang="en-US" sz="16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instance </a:t>
            </a:r>
            <a:r>
              <a:rPr lang="en-US" sz="16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Ленивая инициализация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instance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message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6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6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"LOG: "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message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sz="16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getInstance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6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"Hello"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483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90EFE-B5F8-818A-E89F-C7725C40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D921B6-3281-6592-285B-C351F6F665F2}"/>
              </a:ext>
            </a:extLst>
          </p:cNvPr>
          <p:cNvSpPr txBox="1"/>
          <p:nvPr/>
        </p:nvSpPr>
        <p:spPr>
          <a:xfrm>
            <a:off x="96906" y="445907"/>
            <a:ext cx="5999094" cy="596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кода (хороший, </a:t>
            </a:r>
            <a:r>
              <a:rPr lang="ru-RU" b="1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потокобезопасный</a:t>
            </a:r>
            <a:r>
              <a:rPr lang="ru-RU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945"/>
              </a:lnSpc>
              <a:spcAft>
                <a:spcPts val="800"/>
              </a:spcAft>
              <a:buNone/>
            </a:pPr>
            <a:r>
              <a:rPr lang="ru-RU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ru-RU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ru-RU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volatile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instance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volatile </a:t>
            </a:r>
            <a:r>
              <a:rPr lang="ru-RU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видимости между потоками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{}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getInstance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instance </a:t>
            </a:r>
            <a:r>
              <a:rPr lang="en-US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synchronized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Блокировка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instance </a:t>
            </a:r>
            <a:r>
              <a:rPr lang="en-US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instance </a:t>
            </a:r>
            <a:r>
              <a:rPr lang="en-US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ru-RU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ru-RU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lang="ru-RU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CE67C-4F4A-C068-6E11-7603955F8164}"/>
              </a:ext>
            </a:extLst>
          </p:cNvPr>
          <p:cNvSpPr txBox="1"/>
          <p:nvPr/>
        </p:nvSpPr>
        <p:spPr>
          <a:xfrm>
            <a:off x="6095999" y="298174"/>
            <a:ext cx="5922893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Или еще проще (инициализация при загрузке класса):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945"/>
              </a:lnSpc>
              <a:spcAft>
                <a:spcPts val="800"/>
              </a:spcAft>
              <a:buNone/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Создается сразу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{}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getInstance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2A39F1-6B5B-22C4-B9F4-420F18630D89}"/>
              </a:ext>
            </a:extLst>
          </p:cNvPr>
          <p:cNvSpPr txBox="1"/>
          <p:nvPr/>
        </p:nvSpPr>
        <p:spPr>
          <a:xfrm>
            <a:off x="4132193" y="5023507"/>
            <a:ext cx="6097656" cy="153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Минусы</a:t>
            </a:r>
            <a:r>
              <a:rPr lang="en-US" sz="1800" b="1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Singleton: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Нарушает SRP (сам себя создает и сам работает)</a:t>
            </a:r>
            <a:endParaRPr lang="ru-RU" sz="1600" kern="1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Сложно тестировать (нельзя подменить </a:t>
            </a:r>
            <a:r>
              <a:rPr lang="ru-RU" sz="1800" kern="0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моком</a:t>
            </a:r>
            <a:r>
              <a:rPr lang="ru-RU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600" kern="1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800" kern="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Глобальное состояние (скрытые зависимости)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1131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2EA03-7B29-5043-50A0-68761DBE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FE009F7-04D4-5820-A4E0-11DB9E590183}"/>
              </a:ext>
            </a:extLst>
          </p:cNvPr>
          <p:cNvSpPr txBox="1"/>
          <p:nvPr/>
        </p:nvSpPr>
        <p:spPr>
          <a:xfrm>
            <a:off x="0" y="0"/>
            <a:ext cx="12191999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/>
              <a:t>Factory </a:t>
            </a:r>
            <a:r>
              <a:rPr lang="ru-RU" sz="2400" b="1" dirty="0" err="1"/>
              <a:t>Method</a:t>
            </a:r>
            <a:r>
              <a:rPr lang="ru-RU" sz="2400" b="1" dirty="0"/>
              <a:t> (Фабричный метод)</a:t>
            </a:r>
            <a:endParaRPr lang="ru-RU" sz="2400" dirty="0"/>
          </a:p>
          <a:p>
            <a:pPr algn="just">
              <a:lnSpc>
                <a:spcPct val="150000"/>
              </a:lnSpc>
            </a:pPr>
            <a:r>
              <a:rPr lang="ru-RU" sz="2400" b="1" dirty="0"/>
              <a:t>"Определяет интерфейс для создания объекта, но позволяет подклассам изменять тип создаваемого объекта."</a:t>
            </a:r>
            <a:endParaRPr lang="ru-RU" sz="2400" dirty="0"/>
          </a:p>
          <a:p>
            <a:pPr algn="just">
              <a:lnSpc>
                <a:spcPct val="150000"/>
              </a:lnSpc>
            </a:pPr>
            <a:r>
              <a:rPr lang="ru-RU" sz="2400" b="1" dirty="0"/>
              <a:t>Применение:</a:t>
            </a:r>
            <a:endParaRPr lang="ru-RU" sz="2400" dirty="0"/>
          </a:p>
          <a:p>
            <a:pPr lvl="0" algn="just">
              <a:lnSpc>
                <a:spcPct val="150000"/>
              </a:lnSpc>
            </a:pPr>
            <a:r>
              <a:rPr lang="ru-RU" sz="2400" dirty="0"/>
              <a:t>Когда заранее неизвестно, объекты каких классов понадобятся</a:t>
            </a:r>
          </a:p>
          <a:p>
            <a:pPr lvl="0" algn="just">
              <a:lnSpc>
                <a:spcPct val="150000"/>
              </a:lnSpc>
            </a:pPr>
            <a:r>
              <a:rPr lang="ru-RU" sz="2400" dirty="0"/>
              <a:t>Когда класс ожидает, что его подклассы определят тип создаваемого объекта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98500-FA06-42E0-7E49-1E4216F660F9}"/>
              </a:ext>
            </a:extLst>
          </p:cNvPr>
          <p:cNvSpPr txBox="1"/>
          <p:nvPr/>
        </p:nvSpPr>
        <p:spPr>
          <a:xfrm>
            <a:off x="0" y="3607904"/>
            <a:ext cx="6096000" cy="2875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кода (проблема без паттерна):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945"/>
              </a:lnSpc>
              <a:spcAft>
                <a:spcPts val="800"/>
              </a:spcAft>
              <a:buNone/>
            </a:pPr>
            <a:r>
              <a:rPr lang="ru-RU" sz="16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Плохо: жесткая привязка к классу </a:t>
            </a:r>
            <a:r>
              <a:rPr lang="ru-RU" sz="1600" i="1" kern="0" dirty="0" err="1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Truck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planDelivery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Truck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truck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Truck</a:t>
            </a:r>
            <a:r>
              <a:rPr lang="en-US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← </a:t>
            </a:r>
            <a:r>
              <a:rPr lang="ru-RU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  <a:r>
              <a:rPr lang="en-US" sz="16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6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truck</a:t>
            </a:r>
            <a:r>
              <a:rPr lang="ru-RU" sz="16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6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ru-RU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6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795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1CE95-EA7C-309B-64A4-33683A91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AC457EF-5020-7ADF-A188-879F1727D54E}"/>
              </a:ext>
            </a:extLst>
          </p:cNvPr>
          <p:cNvSpPr txBox="1"/>
          <p:nvPr/>
        </p:nvSpPr>
        <p:spPr>
          <a:xfrm>
            <a:off x="33130" y="0"/>
            <a:ext cx="5909641" cy="390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45"/>
              </a:lnSpc>
              <a:buNone/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Абстрактный продукт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Конкретные продукты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Truck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Грузовик везет по земле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Ship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ru-RU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"Корабль везет по морю"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52C731-126A-6D23-A458-5F2820D6AD3F}"/>
              </a:ext>
            </a:extLst>
          </p:cNvPr>
          <p:cNvSpPr txBox="1"/>
          <p:nvPr/>
        </p:nvSpPr>
        <p:spPr>
          <a:xfrm>
            <a:off x="6094344" y="0"/>
            <a:ext cx="5909641" cy="2478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Создатель с фабричным методом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Фабричный метод - подклассы определяют, какой объект создавать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createTransport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Бизнес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логика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использующая продукт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planDelivery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createTransport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вызов фабричного метода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C17617-8512-1CA0-A736-6CF9AF7D74A8}"/>
              </a:ext>
            </a:extLst>
          </p:cNvPr>
          <p:cNvSpPr txBox="1"/>
          <p:nvPr/>
        </p:nvSpPr>
        <p:spPr>
          <a:xfrm>
            <a:off x="6096000" y="2567700"/>
            <a:ext cx="4574482" cy="2696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Конкретные создатели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RoadLogistics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createTransport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Truck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создаем грузовик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SeaLogistics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createTransport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Ship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создаем корабль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E3AE3-5A0D-3190-BE0E-D3C13FE05055}"/>
              </a:ext>
            </a:extLst>
          </p:cNvPr>
          <p:cNvSpPr txBox="1"/>
          <p:nvPr/>
        </p:nvSpPr>
        <p:spPr>
          <a:xfrm>
            <a:off x="0" y="4152974"/>
            <a:ext cx="6097656" cy="222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RoadLogistics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 err="1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SeaLogistics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  <a:r>
              <a:rPr lang="ru-RU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planDelivery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Будет использован нужный транспорт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8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B54AF-EAFC-0F16-C6EF-5D5C6843B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8DD93CD-A522-8ADB-A55F-CB9092767470}"/>
              </a:ext>
            </a:extLst>
          </p:cNvPr>
          <p:cNvSpPr txBox="1"/>
          <p:nvPr/>
        </p:nvSpPr>
        <p:spPr>
          <a:xfrm>
            <a:off x="0" y="0"/>
            <a:ext cx="1219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Factory (Абстрактная фабрика)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"Предоставляет интерфейс для создания семейств связанных или зависимых объектов без указания их конкретных классов."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нужно создавать целые наборы объектов (мебель в викторианском стиле: стул + стол + диван)</a:t>
            </a:r>
          </a:p>
          <a:p>
            <a:pPr lvl="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система не должна зависеть от того, как создаются объекты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7C485-BECB-03B4-1FA9-333EC3E9784C}"/>
              </a:ext>
            </a:extLst>
          </p:cNvPr>
          <p:cNvSpPr txBox="1"/>
          <p:nvPr/>
        </p:nvSpPr>
        <p:spPr>
          <a:xfrm>
            <a:off x="0" y="2061815"/>
            <a:ext cx="6162260" cy="452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80"/>
              </a:lnSpc>
              <a:buNone/>
            </a:pPr>
            <a:r>
              <a:rPr lang="ru-RU" sz="14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кода: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680"/>
              </a:lnSpc>
              <a:buNone/>
            </a:pP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Абстрактные продукты (семейство)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Конкретные продукты для Windows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WinButton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Кнопка в стиле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Windows"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680"/>
              </a:lnSpc>
              <a:buNone/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WinCheckbox</a:t>
            </a:r>
            <a:r>
              <a:rPr lang="en-US" sz="1400" kern="0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kern="0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en-US" sz="1400" kern="0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en-US" sz="1400" kern="0" dirty="0">
                <a:solidFill>
                  <a:srgbClr val="383A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kern="0" dirty="0">
                <a:solidFill>
                  <a:srgbClr val="50A14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Чекбокс в стиле</a:t>
            </a:r>
            <a:r>
              <a:rPr lang="en-US" sz="1400" kern="0" dirty="0">
                <a:solidFill>
                  <a:srgbClr val="50A14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Windows"</a:t>
            </a:r>
            <a:r>
              <a:rPr lang="en-US" sz="1400" kern="0" dirty="0">
                <a:solidFill>
                  <a:srgbClr val="383A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kern="0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680"/>
              </a:lnSpc>
              <a:buNone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1A3F3-57CC-2918-6D93-764576B259BA}"/>
              </a:ext>
            </a:extLst>
          </p:cNvPr>
          <p:cNvSpPr txBox="1"/>
          <p:nvPr/>
        </p:nvSpPr>
        <p:spPr>
          <a:xfrm>
            <a:off x="6162260" y="1954331"/>
            <a:ext cx="5953540" cy="313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Конкретные продукты для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Mac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MacButton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Кнопка в стиле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Mac"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MacCheckbox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Чекбокс в стиле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Mac"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Абстрактная фабрика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GUIFactory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createButton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createCheckbox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999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2B543-164F-78ED-984F-88C1D96B1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C205E1-3FF2-B7E3-774A-100DBE636D3D}"/>
              </a:ext>
            </a:extLst>
          </p:cNvPr>
          <p:cNvSpPr txBox="1"/>
          <p:nvPr/>
        </p:nvSpPr>
        <p:spPr>
          <a:xfrm>
            <a:off x="0" y="0"/>
            <a:ext cx="6097656" cy="3568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Абстрактная фабрика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GUIFactory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createButton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createCheckbox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Конкретные фабрики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WinFactory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GUIFactory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createButton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WinButton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createCheckbox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WinCheckbox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MacFactory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GUIFactory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createButton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MacButton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createCheckbox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MacCheckbox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A6A736-C858-7068-E3F8-97FD10AC4776}"/>
              </a:ext>
            </a:extLst>
          </p:cNvPr>
          <p:cNvSpPr txBox="1"/>
          <p:nvPr/>
        </p:nvSpPr>
        <p:spPr>
          <a:xfrm>
            <a:off x="6096000" y="0"/>
            <a:ext cx="6107594" cy="3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Клиентский код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GUIFactory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factory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button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createButton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создаем КОМПЛЕКТ кнопок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checkbox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createCheckbox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одной ОС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BB112F-1C50-E364-6C62-43BFF72636C5}"/>
              </a:ext>
            </a:extLst>
          </p:cNvPr>
          <p:cNvSpPr txBox="1"/>
          <p:nvPr/>
        </p:nvSpPr>
        <p:spPr>
          <a:xfrm>
            <a:off x="3602936" y="3350084"/>
            <a:ext cx="6112564" cy="3568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"Windows"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допустим, определили ОС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GUIFactory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factory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equals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"Windows"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factory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WinFactory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factory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MacFactory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ru-RU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Все элементы будут в едином стиле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151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F9ED-F6BA-2038-0483-CB9009135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68EC5ED-4006-1E00-F01F-F811B35F76AE}"/>
              </a:ext>
            </a:extLst>
          </p:cNvPr>
          <p:cNvSpPr txBox="1"/>
          <p:nvPr/>
        </p:nvSpPr>
        <p:spPr>
          <a:xfrm>
            <a:off x="0" y="0"/>
            <a:ext cx="1219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(Строитель)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"Позволяет создавать сложные объекты пошагово, используя один и тот же строительный процесс для разных представлений."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у объекта много параметров (особенно опциональных)</a:t>
            </a:r>
          </a:p>
          <a:p>
            <a:pPr lvl="0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объект создается в несколько шагов</a:t>
            </a:r>
          </a:p>
          <a:p>
            <a:pPr lvl="0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Классика: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StringBuilder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Java, построение SQL-запросов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C94E9-57C1-48AE-D548-E1A5D3536D42}"/>
              </a:ext>
            </a:extLst>
          </p:cNvPr>
          <p:cNvSpPr txBox="1"/>
          <p:nvPr/>
        </p:nvSpPr>
        <p:spPr>
          <a:xfrm>
            <a:off x="352839" y="2327483"/>
            <a:ext cx="5464865" cy="2654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ru-RU" sz="14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кода (проблема):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945"/>
              </a:lnSpc>
              <a:buNone/>
            </a:pP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Плохо: телескопический конструктор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cheese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pepperoni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mushrooms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olives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bacon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...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невозможно запомнить порядок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"Large"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9F8F81-A4AE-0D9F-2C71-A172F4C5EE65}"/>
              </a:ext>
            </a:extLst>
          </p:cNvPr>
          <p:cNvSpPr txBox="1"/>
          <p:nvPr/>
        </p:nvSpPr>
        <p:spPr>
          <a:xfrm>
            <a:off x="6096000" y="2525821"/>
            <a:ext cx="6096000" cy="4170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ru-RU" sz="14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кода (с паттерном):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945"/>
              </a:lnSpc>
              <a:buNone/>
            </a:pP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cheese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pepperoni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mushrooms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olives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bacon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Приватный конструктор - только </a:t>
            </a:r>
            <a:r>
              <a:rPr lang="ru-RU" sz="1400" i="1" kern="0" dirty="0" err="1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может вызвать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PizzaBuilder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builder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cheese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cheese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pepperoni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pepperoni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mushrooms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mushrooms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olives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olives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331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95FCB-6E59-E1C0-7574-3CCBCE5F4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85727A-C164-7F8D-CE5B-E1142B567758}"/>
              </a:ext>
            </a:extLst>
          </p:cNvPr>
          <p:cNvSpPr txBox="1"/>
          <p:nvPr/>
        </p:nvSpPr>
        <p:spPr>
          <a:xfrm>
            <a:off x="0" y="0"/>
            <a:ext cx="6097656" cy="705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Вложенный класс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Builder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PizzaBuilder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Обязательные параметры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Опциональные параметры (с значениями по умолчанию)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cheese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pepperoni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mushrooms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olives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bacon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PizzaBuilder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PizzaBuilder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addCheese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cheese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Возвращаем себя для цепочки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PizzaBuilder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addPepperoni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pepperoni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PizzaBuilder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addMushrooms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mushrooms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PizzaBuilder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addOlives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olives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PizzaBuilder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addBacon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0895D-AE6E-001C-5525-8309C7DAD1E9}"/>
              </a:ext>
            </a:extLst>
          </p:cNvPr>
          <p:cNvSpPr txBox="1"/>
          <p:nvPr/>
        </p:nvSpPr>
        <p:spPr>
          <a:xfrm>
            <a:off x="6096000" y="0"/>
            <a:ext cx="6107594" cy="3149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@Override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"Pizza{"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"size='"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size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'\''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cheese="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cheese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pepperoni="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pepperoni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mushrooms="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mushrooms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olives="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olives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bacon="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bacon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'}'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5ADA75-9405-BF62-7D0D-2C03DFF78D85}"/>
              </a:ext>
            </a:extLst>
          </p:cNvPr>
          <p:cNvSpPr txBox="1"/>
          <p:nvPr/>
        </p:nvSpPr>
        <p:spPr>
          <a:xfrm>
            <a:off x="6079436" y="3248779"/>
            <a:ext cx="6112564" cy="2696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PizzaBuilder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"Large"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addCheese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addPepperoni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addOlives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Понятно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 добавляем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конце создаем объект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pizza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775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FDE5-7BB9-40BD-2365-3DDC398C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CC65650-10A8-C384-7E5F-01E9C9D961F4}"/>
              </a:ext>
            </a:extLst>
          </p:cNvPr>
          <p:cNvSpPr txBox="1"/>
          <p:nvPr/>
        </p:nvSpPr>
        <p:spPr>
          <a:xfrm>
            <a:off x="1828800" y="0"/>
            <a:ext cx="73160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Сравнение порождающих паттернов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4CAEFBD2-9700-2EF5-E486-91143BF15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200985"/>
              </p:ext>
            </p:extLst>
          </p:nvPr>
        </p:nvGraphicFramePr>
        <p:xfrm>
          <a:off x="1" y="1264048"/>
          <a:ext cx="12192000" cy="38744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512502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367564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13987421"/>
                    </a:ext>
                  </a:extLst>
                </a:gridCol>
              </a:tblGrid>
              <a:tr h="5268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Паттерн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Суть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Когда использовать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110066749"/>
                  </a:ext>
                </a:extLst>
              </a:tr>
              <a:tr h="83690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Singleton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Один экземпляр класса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Нужен ровно один объект (логгер, конфиг)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877041042"/>
                  </a:ext>
                </a:extLst>
              </a:tr>
              <a:tr h="83690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Factory Method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Один метод создает объект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Класс не знает, какой именно объект создавать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064520444"/>
                  </a:ext>
                </a:extLst>
              </a:tr>
              <a:tr h="83690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Factory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Целая фабрика для семейства объектов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Нужны согласованные наборы объектов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956457188"/>
                  </a:ext>
                </a:extLst>
              </a:tr>
              <a:tr h="83690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Builder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Пошаговое создание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Сложная инициализация, много параметров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834150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399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3B384-0C01-2EDC-CFC8-2F0C29CB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E1C22C7-A0BE-4A66-D4BC-6AD935D84CEE}"/>
              </a:ext>
            </a:extLst>
          </p:cNvPr>
          <p:cNvSpPr txBox="1"/>
          <p:nvPr/>
        </p:nvSpPr>
        <p:spPr>
          <a:xfrm>
            <a:off x="0" y="0"/>
            <a:ext cx="12192000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Структурные паттерны — общая идея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Как собрать объекты в гибкую структуру?</a:t>
            </a:r>
          </a:p>
          <a:p>
            <a:pPr lvl="0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Определить удобные отношения между классами.</a:t>
            </a:r>
          </a:p>
          <a:p>
            <a:pPr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Зачем: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Упростить архитектуру, сделать классы независимыми.</a:t>
            </a:r>
          </a:p>
        </p:txBody>
      </p:sp>
    </p:spTree>
    <p:extLst>
      <p:ext uri="{BB962C8B-B14F-4D97-AF65-F5344CB8AC3E}">
        <p14:creationId xmlns:p14="http://schemas.microsoft.com/office/powerpoint/2010/main" val="2746006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05084-7FA1-EEE4-8A71-EBAF4993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09C65AC-66DD-B57E-C199-C068DBE3CAD8}"/>
              </a:ext>
            </a:extLst>
          </p:cNvPr>
          <p:cNvSpPr txBox="1"/>
          <p:nvPr/>
        </p:nvSpPr>
        <p:spPr>
          <a:xfrm>
            <a:off x="0" y="0"/>
            <a:ext cx="12192000" cy="308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(Адаптер)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"Позволяет объектам с несовместимыми интерфейсами работать вместе."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со старым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legacy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кодом</a:t>
            </a:r>
          </a:p>
          <a:p>
            <a:pPr lvl="0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сторонних библиотек</a:t>
            </a:r>
          </a:p>
          <a:p>
            <a:pPr lvl="0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в жизни: переходник с HDMI на VGA</a:t>
            </a:r>
          </a:p>
        </p:txBody>
      </p:sp>
    </p:spTree>
    <p:extLst>
      <p:ext uri="{BB962C8B-B14F-4D97-AF65-F5344CB8AC3E}">
        <p14:creationId xmlns:p14="http://schemas.microsoft.com/office/powerpoint/2010/main" val="485946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B72BE-6B6B-79EA-8ACA-97B68EF4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14F2C9-9B62-CFF4-D4F6-149052F62BA0}"/>
              </a:ext>
            </a:extLst>
          </p:cNvPr>
          <p:cNvSpPr txBox="1"/>
          <p:nvPr/>
        </p:nvSpPr>
        <p:spPr>
          <a:xfrm>
            <a:off x="0" y="49566"/>
            <a:ext cx="6097656" cy="6184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buNone/>
            </a:pPr>
            <a:r>
              <a:rPr lang="ru-RU" sz="14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кода: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80"/>
              </a:lnSpc>
              <a:buNone/>
            </a:pP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Старый класс (нельзя менять)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OldLibrary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getSpecificData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"Данные из старой библиотеки"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Новый интерфейс, который ожидает клиент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DataProvider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fetchData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Адаптер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переходник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LibraryAdapter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DataProvider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OldLibrary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oldLibrary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LibraryAdapter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OldLibrary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oldLibrary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oldLibrary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oldLibrary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@Override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fetchData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 нужно клиенту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Адаптируем вызов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oldLibrary</a:t>
            </a:r>
            <a:r>
              <a:rPr lang="ru-RU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getSpecificData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То, что есть на самом деле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DADAF-7AF8-B149-4BFA-28DDB5BCC3B3}"/>
              </a:ext>
            </a:extLst>
          </p:cNvPr>
          <p:cNvSpPr txBox="1"/>
          <p:nvPr/>
        </p:nvSpPr>
        <p:spPr>
          <a:xfrm>
            <a:off x="6096000" y="134509"/>
            <a:ext cx="6107594" cy="5437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Клиентский код (работает только с </a:t>
            </a:r>
            <a:r>
              <a:rPr lang="ru-RU" sz="1400" i="1" kern="0" dirty="0" err="1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DataProvider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printData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DataProvider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provider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provider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fetchData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OldLibrary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oldLib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OldLibrary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Старая библиотека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DataProvider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adapter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LibraryAdapter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oldLib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Оборачиваем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printData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Работает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847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5C04-C617-E54B-DC77-2844B020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8273C27-F0C6-06C6-7A23-28B5D5B966BE}"/>
              </a:ext>
            </a:extLst>
          </p:cNvPr>
          <p:cNvSpPr txBox="1"/>
          <p:nvPr/>
        </p:nvSpPr>
        <p:spPr>
          <a:xfrm>
            <a:off x="0" y="0"/>
            <a:ext cx="12192000" cy="3299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Facade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(Фасад)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"Предоставляет простой интерфейс к сложной системе классов."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нужно скрыть сложность подсистемы</a:t>
            </a:r>
          </a:p>
          <a:p>
            <a:pPr lvl="0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система состоит из множества компонентов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пульт от телевизора (фасад) вместо копания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проводах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DB5A7-5502-973C-0F00-206D163297EF}"/>
              </a:ext>
            </a:extLst>
          </p:cNvPr>
          <p:cNvSpPr txBox="1"/>
          <p:nvPr/>
        </p:nvSpPr>
        <p:spPr>
          <a:xfrm>
            <a:off x="6059558" y="1286117"/>
            <a:ext cx="6132442" cy="4876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buNone/>
            </a:pPr>
            <a:r>
              <a:rPr lang="ru-RU" sz="14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кода: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80"/>
              </a:lnSpc>
              <a:buNone/>
            </a:pP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Сложная подсистема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freeze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"CPU: freeze"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jump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position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"CPU: jump to "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position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"CPU: execute"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position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"Memory: load data at "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position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HardDrive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lba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size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kern="0" dirty="0" err="1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HardDrive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read sector "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lba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485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D0E7C-816B-0F87-1EAD-5E4BE21A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6DEE9A-5D37-E28F-BD8A-52849302D496}"/>
              </a:ext>
            </a:extLst>
          </p:cNvPr>
          <p:cNvSpPr txBox="1"/>
          <p:nvPr/>
        </p:nvSpPr>
        <p:spPr>
          <a:xfrm>
            <a:off x="0" y="0"/>
            <a:ext cx="6097656" cy="6625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</a:t>
            </a:r>
            <a:r>
              <a:rPr lang="ru-RU" sz="18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Фасад</a:t>
            </a:r>
            <a:r>
              <a:rPr lang="en-US" sz="18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</a:t>
            </a:r>
            <a:r>
              <a:rPr lang="ru-RU" sz="18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простой интерфейс</a:t>
            </a:r>
            <a:r>
              <a:rPr lang="en-US" sz="18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class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 err="1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ComputerFacade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private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CPU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cpu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private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Memory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memory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private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 err="1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HardDrive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hardDrive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public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 err="1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ComputerFacade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800" kern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this</a:t>
            </a:r>
            <a:r>
              <a:rPr lang="en-US" sz="1800" kern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kern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cpu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CPU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800" kern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this</a:t>
            </a:r>
            <a:r>
              <a:rPr lang="en-US" sz="1800" kern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kern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memory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Memory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800" kern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this</a:t>
            </a:r>
            <a:r>
              <a:rPr lang="en-US" sz="1800" kern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kern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hardDrive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 err="1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HardDrive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18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</a:t>
            </a:r>
            <a:r>
              <a:rPr lang="ru-RU" sz="18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Один простой метод вместо кучи вызовов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public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start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800" kern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cpu</a:t>
            </a:r>
            <a:r>
              <a:rPr lang="en-US" sz="1800" kern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kern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freeze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800" kern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memory</a:t>
            </a:r>
            <a:r>
              <a:rPr lang="en-US" sz="1800" kern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kern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load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kern="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hardDrive</a:t>
            </a:r>
            <a:r>
              <a:rPr lang="en-US" sz="1800" kern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kern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read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kern="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1024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));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800" kern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cpu</a:t>
            </a:r>
            <a:r>
              <a:rPr lang="en-US" sz="1800" kern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kern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jump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kern="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0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800" kern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cpu</a:t>
            </a:r>
            <a:r>
              <a:rPr lang="en-US" sz="1800" kern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kern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execute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44709-8D76-6276-08D4-CF6A82483C05}"/>
              </a:ext>
            </a:extLst>
          </p:cNvPr>
          <p:cNvSpPr txBox="1"/>
          <p:nvPr/>
        </p:nvSpPr>
        <p:spPr>
          <a:xfrm>
            <a:off x="6069496" y="1519473"/>
            <a:ext cx="6122504" cy="267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</a:t>
            </a:r>
            <a:r>
              <a:rPr lang="ru-RU" sz="18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Использование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public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class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Main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public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static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void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main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kern="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args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800" kern="0" dirty="0" err="1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ComputerFacade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computer </a:t>
            </a:r>
            <a:r>
              <a:rPr lang="en-US" sz="1800" kern="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kern="0" dirty="0" err="1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ComputerFacade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800" kern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computer</a:t>
            </a:r>
            <a:r>
              <a:rPr lang="en-US" sz="1800" kern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kern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start</a:t>
            </a:r>
            <a:r>
              <a:rPr lang="en-US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</a:t>
            </a:r>
            <a:r>
              <a:rPr lang="ru-RU" sz="18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Одна команда</a:t>
            </a:r>
            <a:r>
              <a:rPr lang="en-US" sz="18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- </a:t>
            </a:r>
            <a:r>
              <a:rPr lang="ru-RU" sz="18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вся сложность скрыта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ru-RU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kern="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220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C8F11-1D17-9508-DC05-0549B6AB3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A0BD719-76E2-37F8-F2DF-77317B2EA0AB}"/>
              </a:ext>
            </a:extLst>
          </p:cNvPr>
          <p:cNvSpPr txBox="1"/>
          <p:nvPr/>
        </p:nvSpPr>
        <p:spPr>
          <a:xfrm>
            <a:off x="0" y="0"/>
            <a:ext cx="121920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Proxy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(Заместитель)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"Предоставляет заменитель другого объекта для контроля доступа к нему."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прокси: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Защитный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проверка прав доступа</a:t>
            </a:r>
          </a:p>
          <a:p>
            <a:pPr lvl="0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Ленивая загрузка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создает объект только когда реально нужен</a:t>
            </a:r>
          </a:p>
          <a:p>
            <a:pPr lvl="0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Кэширующий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хранит результаты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Удаленный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локальный представитель удаленного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770710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FC6860-F550-7F1D-A719-7CA0123BB813}"/>
              </a:ext>
            </a:extLst>
          </p:cNvPr>
          <p:cNvSpPr txBox="1"/>
          <p:nvPr/>
        </p:nvSpPr>
        <p:spPr>
          <a:xfrm>
            <a:off x="0" y="0"/>
            <a:ext cx="6096000" cy="55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buNone/>
            </a:pPr>
            <a:r>
              <a:rPr lang="ru-RU" sz="14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кода (ленивая загрузка):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80"/>
              </a:lnSpc>
              <a:buNone/>
            </a:pP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Интерфейс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Реальный объект (тяжелый для создания)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RealImage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filename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RealImage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filename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filename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loadFromDisk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Тяжелая операция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loadFromDisk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Загрузка изображения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filename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ru-RU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 диска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Тут реальная загрузка файла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Отображение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filename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14FAC-D0DA-9DB2-15F8-73104B561356}"/>
              </a:ext>
            </a:extLst>
          </p:cNvPr>
          <p:cNvSpPr txBox="1"/>
          <p:nvPr/>
        </p:nvSpPr>
        <p:spPr>
          <a:xfrm>
            <a:off x="6096000" y="0"/>
            <a:ext cx="6105524" cy="400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Прокси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ленивая загрузка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ImageProxy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filename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RealImage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realImage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Создадим только когда понадобится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ImageProxy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filename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filename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Ленивая инициализация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realImage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realImage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RealImage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Создаем ТОЛЬКО при первом вызове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realImage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80"/>
              </a:lnSpc>
              <a:buNone/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99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01520-18EE-3274-DFC7-81D1C77E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03F9CD-7AFA-6E82-C8EC-BE2F147188D0}"/>
              </a:ext>
            </a:extLst>
          </p:cNvPr>
          <p:cNvSpPr txBox="1"/>
          <p:nvPr/>
        </p:nvSpPr>
        <p:spPr>
          <a:xfrm>
            <a:off x="0" y="0"/>
            <a:ext cx="6096000" cy="6078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Создаем прокси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быстро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image1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ImageProxy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"photo1.jpg"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image2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ImageProxy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"photo2.jpg"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Изображения еще не загружены с диска!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Отображаем первое - только сейчас оно загрузится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image1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Загрузка + отображение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Отображаем второе - загрузится сейчас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image2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Загрузка + отображение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Отображаем первое снова - уже загружено, просто показ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image1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Только отображение (без загрузки)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811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29BCC-CC58-2E50-9C92-F8CF95C6D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867A26-162B-C83D-8215-C2D00AB92EE2}"/>
              </a:ext>
            </a:extLst>
          </p:cNvPr>
          <p:cNvSpPr txBox="1"/>
          <p:nvPr/>
        </p:nvSpPr>
        <p:spPr>
          <a:xfrm>
            <a:off x="2381250" y="0"/>
            <a:ext cx="7200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Сравнение структурных паттернов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182D615D-4313-BB58-E9D1-A1BED87CE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759937"/>
              </p:ext>
            </p:extLst>
          </p:nvPr>
        </p:nvGraphicFramePr>
        <p:xfrm>
          <a:off x="0" y="1183289"/>
          <a:ext cx="12192000" cy="28648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6692631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847971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33630536"/>
                    </a:ext>
                  </a:extLst>
                </a:gridCol>
              </a:tblGrid>
              <a:tr h="4968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Паттерн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Суть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Когда использовать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36984134"/>
                  </a:ext>
                </a:extLst>
              </a:tr>
              <a:tr h="78931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Adapter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Переходник между интерфейсами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Нужно использовать старый класс в новом коде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348478129"/>
                  </a:ext>
                </a:extLst>
              </a:tr>
              <a:tr h="78931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Facade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Простой интерфейс к сложной системе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Хотим скрыть сложность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179432438"/>
                  </a:ext>
                </a:extLst>
              </a:tr>
              <a:tr h="78931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Proxy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Контроль доступа к объекту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20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Нужна ленивая загрузка, кэш, контроль прав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646849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211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67793-1550-B6E6-2303-C73327174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778835-BBD0-02AD-D52D-D366A301AB21}"/>
              </a:ext>
            </a:extLst>
          </p:cNvPr>
          <p:cNvSpPr txBox="1"/>
          <p:nvPr/>
        </p:nvSpPr>
        <p:spPr>
          <a:xfrm>
            <a:off x="0" y="-2"/>
            <a:ext cx="12192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Антипаттерны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(Божественный объект)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класс, который делает всё.</a:t>
            </a:r>
          </a:p>
          <a:p>
            <a:pPr lvl="0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Лечение: SRP, разделение на мелкие классы.</a:t>
            </a:r>
          </a:p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Spaghetti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(Спагетти-код)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с запутанной логикой,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длинными методами.</a:t>
            </a:r>
          </a:p>
          <a:p>
            <a:pPr lvl="0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Лечение: рефакторинг, выделение методов.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Golden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Hammer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(Золотой молоток)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"Если у меня есть молоток, всё вокруг кажется гвоздями."</a:t>
            </a:r>
          </a:p>
          <a:p>
            <a:pPr lvl="0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Лечение: выбирать паттерн под задачу, а не наоборот.</a:t>
            </a:r>
          </a:p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Copy-Paste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Копирование кода вместо повторного использования.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Лечение: выделение общего кода в методы/классы.</a:t>
            </a:r>
          </a:p>
        </p:txBody>
      </p:sp>
    </p:spTree>
    <p:extLst>
      <p:ext uri="{BB962C8B-B14F-4D97-AF65-F5344CB8AC3E}">
        <p14:creationId xmlns:p14="http://schemas.microsoft.com/office/powerpoint/2010/main" val="4066060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FB3B5-A79F-800F-03FE-36C07C725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F3DE4E-9471-DFB1-511A-915041684F4F}"/>
              </a:ext>
            </a:extLst>
          </p:cNvPr>
          <p:cNvSpPr txBox="1"/>
          <p:nvPr/>
        </p:nvSpPr>
        <p:spPr>
          <a:xfrm>
            <a:off x="0" y="-2"/>
            <a:ext cx="1219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 лекции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Паттерны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словарь архитектора и проверенные решения.</a:t>
            </a:r>
          </a:p>
          <a:p>
            <a:pPr lvl="0"/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Порождающие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контролируют создание объектов (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Factory,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/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Структурные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управляют структурой классов (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Facade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Proxy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— выбрать правильный паттерн под задачу.</a:t>
            </a:r>
          </a:p>
          <a:p>
            <a:pPr lvl="0"/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Избегайте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антипаттернов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"золотого молотка".</a:t>
            </a:r>
          </a:p>
        </p:txBody>
      </p:sp>
    </p:spTree>
    <p:extLst>
      <p:ext uri="{BB962C8B-B14F-4D97-AF65-F5344CB8AC3E}">
        <p14:creationId xmlns:p14="http://schemas.microsoft.com/office/powerpoint/2010/main" val="2465420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03BF-C472-BEEC-EFB6-0C4985C8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70FB1B-25CC-5692-3C4C-984B6B1DCAAB}"/>
              </a:ext>
            </a:extLst>
          </p:cNvPr>
          <p:cNvSpPr txBox="1"/>
          <p:nvPr/>
        </p:nvSpPr>
        <p:spPr>
          <a:xfrm>
            <a:off x="0" y="789398"/>
            <a:ext cx="6057900" cy="182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buNone/>
            </a:pPr>
            <a:r>
              <a:rPr lang="ru-RU" sz="14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Задание 1:</a:t>
            </a:r>
            <a:b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Определите, какие паттерны можно применить в вашем проекте (из практики 1):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68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Нужен ли </a:t>
            </a: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логгера или конфигурации?</a:t>
            </a:r>
            <a:endParaRPr lang="ru-RU" sz="1400" kern="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68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Можно ли использовать Factory </a:t>
            </a: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создания разных типов объектов?</a:t>
            </a:r>
            <a:endParaRPr lang="ru-RU" sz="1400" kern="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68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Есть ли сложные объекты, которые удобно строить через </a:t>
            </a: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1400" kern="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80"/>
              </a:lnSpc>
              <a:buNone/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Напишите краткий отчет (5-10 предложений).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3049A-F2BF-5E7C-3FF8-C6FC33303EDA}"/>
              </a:ext>
            </a:extLst>
          </p:cNvPr>
          <p:cNvSpPr txBox="1"/>
          <p:nvPr/>
        </p:nvSpPr>
        <p:spPr>
          <a:xfrm>
            <a:off x="6096000" y="703673"/>
            <a:ext cx="6096000" cy="575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buNone/>
            </a:pPr>
            <a:r>
              <a:rPr lang="ru-RU" sz="14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Задание 2 (практическое):</a:t>
            </a:r>
            <a:b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 код: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DatabaseConnection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подключение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запрос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disconnect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ru-RU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отключение</a:t>
            </a:r>
            <a:r>
              <a:rPr lang="en-US" sz="1400" i="1" kern="0" dirty="0">
                <a:solidFill>
                  <a:srgbClr val="A0A1A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createUser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DatabaseConnection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conn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DatabaseConnection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"INSERT INTO users ..."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disconnect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deleteUser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DatabaseConnection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conn </a:t>
            </a:r>
            <a:r>
              <a:rPr lang="en-US" sz="1400" kern="0" dirty="0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>
                <a:solidFill>
                  <a:srgbClr val="A626A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kern="0" dirty="0" err="1">
                <a:solidFill>
                  <a:srgbClr val="B76B0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DatabaseConnection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en-US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kern="0" dirty="0">
                <a:solidFill>
                  <a:srgbClr val="50A14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"DELETE FROM users ..."</a:t>
            </a:r>
            <a:r>
              <a:rPr lang="en-US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14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conn</a:t>
            </a:r>
            <a:r>
              <a:rPr lang="ru-RU" sz="1400" kern="0" dirty="0" err="1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400" kern="0" dirty="0" err="1">
                <a:solidFill>
                  <a:srgbClr val="4078F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disconnect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8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kern="0" dirty="0">
                <a:solidFill>
                  <a:srgbClr val="383A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80"/>
              </a:lnSpc>
              <a:buNone/>
            </a:pPr>
            <a:r>
              <a:rPr lang="ru-RU" sz="14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Вопросы: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68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Какие нарушения принципов/паттернов вы видите?</a:t>
            </a:r>
            <a:endParaRPr lang="ru-RU" sz="1400" kern="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68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Какой паттерн можно применить, чтобы не создавать соединение каждый раз?</a:t>
            </a:r>
            <a:endParaRPr lang="ru-RU" sz="1400" kern="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680"/>
              </a:lnSpc>
              <a:buNone/>
            </a:pPr>
            <a:r>
              <a:rPr lang="ru-RU" sz="14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Перепишите код с использованием этого паттерна.</a:t>
            </a:r>
            <a:endParaRPr lang="ru-RU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CBE75-088C-4D76-627E-20F99B6D47AB}"/>
              </a:ext>
            </a:extLst>
          </p:cNvPr>
          <p:cNvSpPr txBox="1"/>
          <p:nvPr/>
        </p:nvSpPr>
        <p:spPr>
          <a:xfrm>
            <a:off x="3514725" y="226037"/>
            <a:ext cx="6396037" cy="352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buNone/>
            </a:pPr>
            <a:r>
              <a:rPr lang="ru-RU" sz="32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ДОМАШНЕЕ ЗАДАНИЕ</a:t>
            </a:r>
            <a:endParaRPr lang="ru-RU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1696E-E2FA-326F-E94B-41416F81CF4B}"/>
              </a:ext>
            </a:extLst>
          </p:cNvPr>
          <p:cNvSpPr txBox="1"/>
          <p:nvPr/>
        </p:nvSpPr>
        <p:spPr>
          <a:xfrm>
            <a:off x="0" y="2830340"/>
            <a:ext cx="610759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ДОПОЛНИТЕЛЬНЫЕ МАТЕРИАЛЫ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Книга:</a:t>
            </a:r>
            <a:r>
              <a:rPr lang="ru-RU" sz="18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Э. Гамма и др. "Design </a:t>
            </a:r>
            <a:r>
              <a:rPr lang="ru-RU" sz="18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ru-RU" sz="18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lang="ru-RU" sz="18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GoF</a:t>
            </a:r>
            <a:r>
              <a:rPr lang="ru-RU" sz="18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— классика.</a:t>
            </a:r>
            <a:endParaRPr lang="ru-RU" sz="1600" kern="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Книга:</a:t>
            </a:r>
            <a:r>
              <a:rPr lang="ru-RU" sz="18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Э. Фримен "Паттерны проектирования" (Head First) — для начинающих.</a:t>
            </a:r>
            <a:endParaRPr lang="ru-RU" sz="1600" kern="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Сайт:</a:t>
            </a:r>
            <a:r>
              <a:rPr lang="ru-RU" sz="18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8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Refactoring.Guru</a:t>
            </a:r>
            <a:r>
              <a:rPr lang="ru-RU" sz="18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отличные объяснения с примерами на разных языках.</a:t>
            </a:r>
            <a:endParaRPr lang="ru-RU" sz="1600" kern="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Видео:</a:t>
            </a:r>
            <a:r>
              <a:rPr lang="ru-RU" sz="18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YouTube-канал "</a:t>
            </a:r>
            <a:r>
              <a:rPr lang="ru-RU" sz="18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Dmytro</a:t>
            </a:r>
            <a:r>
              <a:rPr lang="ru-RU" sz="18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kern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Shyshko</a:t>
            </a:r>
            <a:r>
              <a:rPr lang="ru-RU" sz="1800" kern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— русскоязычные лекции по паттернам.</a:t>
            </a:r>
            <a:endParaRPr lang="ru-RU" sz="1600" kern="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0059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6074</TotalTime>
  <Words>3246</Words>
  <Application>Microsoft Office PowerPoint</Application>
  <PresentationFormat>Широкоэкранный</PresentationFormat>
  <Paragraphs>584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Segoe UI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20</cp:revision>
  <dcterms:created xsi:type="dcterms:W3CDTF">2025-09-19T18:20:34Z</dcterms:created>
  <dcterms:modified xsi:type="dcterms:W3CDTF">2026-02-27T19:56:40Z</dcterms:modified>
</cp:coreProperties>
</file>