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68" r:id="rId5"/>
    <p:sldId id="295" r:id="rId6"/>
    <p:sldId id="274" r:id="rId7"/>
    <p:sldId id="296" r:id="rId8"/>
    <p:sldId id="297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98" r:id="rId17"/>
    <p:sldId id="299" r:id="rId18"/>
    <p:sldId id="282" r:id="rId19"/>
    <p:sldId id="283" r:id="rId20"/>
    <p:sldId id="285" r:id="rId21"/>
    <p:sldId id="294" r:id="rId22"/>
    <p:sldId id="302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0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448" autoAdjust="0"/>
  </p:normalViewPr>
  <p:slideViewPr>
    <p:cSldViewPr snapToGrid="0" showGuides="1">
      <p:cViewPr varScale="1">
        <p:scale>
          <a:sx n="59" d="100"/>
          <a:sy n="59" d="100"/>
        </p:scale>
        <p:origin x="84" y="888"/>
      </p:cViewPr>
      <p:guideLst>
        <p:guide orient="horz" pos="200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886FC9-3976-4731-B236-7A8F403A5F36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C78DD-17D4-487C-B810-22055114B9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969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6C78DD-17D4-487C-B810-22055114B95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18229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6C78DD-17D4-487C-B810-22055114B95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8742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6C78DD-17D4-487C-B810-22055114B959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19584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6C78DD-17D4-487C-B810-22055114B959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47402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25EFD-8613-58FD-1719-F89E42CC0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B63DCB3-BAAE-E3AC-8DB9-0E960B5097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5472493-1131-0730-7A18-98F9DADD28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B0B99AF-A37A-7FFE-002C-CB08658A82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6C78DD-17D4-487C-B810-22055114B959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5203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6F939B-D03E-D30C-A810-EEBDA7138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D796D6E-ADE2-CD1C-C647-8F50E69FF1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54BB7D-7194-4C9C-A117-D81E37A6B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B689A0-1B10-B447-8DF5-B76FB086E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72CFA4-E6B4-684D-9E2A-C1B96748D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29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3E55A4-6149-A983-0363-BFE7D04E4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FAB9FE-B873-3E72-E18C-39A157123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EC2870-7F6E-109B-8041-25E74D47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13C32C-236A-F54D-E292-41D0CA490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4F8EDF-1B27-7091-7D47-5775A543A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837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AFCB83-D2FC-83AB-039E-72B248473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E649E9-8EA1-1378-239D-EFC635AF1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EE3025-46A2-5F31-ED73-E78860B3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806FFF-C6C0-5DE1-F22F-F4C6828D0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8F3275-CFFB-FB65-9D5C-14A3FAF5B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4049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956727-548A-3309-C384-2C15A8C9F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70AFF7-FE6C-8D72-91DE-19FECB3BBF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80A1665-FAD8-2AA9-4057-198007F3F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9E6712-3ED8-DABB-C8FC-43C31B7AB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20F49A-8F5E-A113-1FFC-C2501B61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6FB815-92B1-1F33-286B-8343A8E90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956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C89510-A44E-03DE-C188-5FEEA9641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529430F-EA7F-1C72-879C-4BBC4175B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66FDB1E-510D-4A5F-8A3F-9B1F5D08D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54DC8E5-52AA-7753-3566-A382C6CE5F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7779F90-47D7-2460-83A8-B62CAEB878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50C7755-3347-4D90-6EF8-2DD306C3F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BDDCA8A-A2AF-401A-C284-5EA347E38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01B781E-BB26-1167-2ACB-AD005A8FB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309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F3A3E7-F129-6CD9-9D39-C0C4BD52E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4DBD420-4980-6586-AF75-9993055C4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AA0E24F-43AF-7E00-5BDC-D271F6C8C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9ED13AB-62D2-A8C2-247B-6C990616B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2463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830C6C5-A9A9-A031-9835-3E445316D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D157B3B-236F-59DB-B6BD-126655F86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8F42D4-D553-08AE-0D3F-1AE23CB37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519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C2B731-F2CF-CED1-E595-603B6F460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6A1EE9-BB36-302B-9B21-7BC53E358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F993FB8-D340-AA88-8A83-9F640F14B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CE24426-0AF0-F702-3E6F-EB5E7FD50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127403-AFF5-A1F1-C38B-EAE576746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DD87016-7C3B-8820-5FFA-E1F41226C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180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083BC2-5D8C-6DCC-9DB4-22045EA48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43429BF-C80C-6FB7-B257-57CBDC1FDD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7AF6F03-3F54-0FBC-2041-1417E6AF3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7682CD-F275-E00C-9E86-EC98EA0F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F279DD-417B-2C4B-28BA-0A5350BBA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514FC7C-95BE-CB51-FA62-273D7A50E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7616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50BA6A-9AE9-7C7A-3926-887923A35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89E3E1A-29AD-799B-AF38-5D6203AD2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281B96-8B5E-3649-E736-48828CE42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B8976D-6341-2F02-209A-1BABFE625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76A6FD-5AF5-7F33-A734-7DD6D253A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4221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CB62C44-C171-CB5F-5F56-26B88D1D7A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B4AD2F9-ED0C-7417-1C1D-386663A0E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8FE3A7-8B80-C7F0-DB9F-7B2D2E1B4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74A1F5-D0C0-746C-9FDA-EAFD1369D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B8AE5F-419C-3412-B52D-B3C77E65A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399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0A8ACE-89FD-86A8-11E5-2DE20E721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73113E-A006-24C6-0730-C1738BF2D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570BD6-0B00-7DFA-125A-629E83DD7C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62E36-7B94-44FF-8913-FF4B90064E98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C25892-923C-BAE0-48E6-F7061E8AD4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C92736-5165-6F55-7961-EA2F0F956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9764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sre.google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joelonsoftware.com/" TargetMode="External"/><Relationship Id="rId4" Type="http://schemas.openxmlformats.org/officeDocument/2006/relationships/hyperlink" Target="https://martinfowler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8A2FC49-0F3D-10F3-3C58-C150ADDDA79A}"/>
              </a:ext>
            </a:extLst>
          </p:cNvPr>
          <p:cNvSpPr>
            <a:spLocks noGrp="1"/>
          </p:cNvSpPr>
          <p:nvPr/>
        </p:nvSpPr>
        <p:spPr>
          <a:xfrm>
            <a:off x="767408" y="637906"/>
            <a:ext cx="10009112" cy="11521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Программная инженерия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CF9474D-52CF-A0C1-82BD-88882A3B6B89}"/>
              </a:ext>
            </a:extLst>
          </p:cNvPr>
          <p:cNvSpPr/>
          <p:nvPr/>
        </p:nvSpPr>
        <p:spPr>
          <a:xfrm>
            <a:off x="2328709" y="5850762"/>
            <a:ext cx="7357848" cy="3693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ru-RU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СРЕДНЕРУССКИЙ ИНСТИТУТ УПРАВЛЕНИЯ - РАНХиГС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D372B26-2A09-4EED-6486-A25A87BA09D9}"/>
              </a:ext>
            </a:extLst>
          </p:cNvPr>
          <p:cNvSpPr/>
          <p:nvPr/>
        </p:nvSpPr>
        <p:spPr>
          <a:xfrm>
            <a:off x="1991544" y="5073564"/>
            <a:ext cx="7560840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 кафедры «Математики и информационных технологий», кандидат технических наук Абдалов Арсентий Владимирович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C8FFEF4D-BCEA-CBA4-F2AB-011E6A9000B2}"/>
              </a:ext>
            </a:extLst>
          </p:cNvPr>
          <p:cNvSpPr txBox="1"/>
          <p:nvPr/>
        </p:nvSpPr>
        <p:spPr>
          <a:xfrm>
            <a:off x="0" y="2698876"/>
            <a:ext cx="121919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Лекция №7: Управление проектами и людьми</a:t>
            </a:r>
          </a:p>
        </p:txBody>
      </p:sp>
    </p:spTree>
    <p:extLst>
      <p:ext uri="{BB962C8B-B14F-4D97-AF65-F5344CB8AC3E}">
        <p14:creationId xmlns:p14="http://schemas.microsoft.com/office/powerpoint/2010/main" val="351218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81224-752A-DFD2-CFBE-6223E6F32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B05BA81-1097-457A-493F-2E5B52C3C659}"/>
              </a:ext>
            </a:extLst>
          </p:cNvPr>
          <p:cNvSpPr txBox="1"/>
          <p:nvPr/>
        </p:nvSpPr>
        <p:spPr>
          <a:xfrm>
            <a:off x="0" y="0"/>
            <a:ext cx="12192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Почему проекты проваливаются?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Статистика CHAOS Report (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Standish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Group):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Успешные проекты: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35% (срок, бюджет, качество)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Проблемные проекты: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46% (что-то пошло не так)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Провалившиеся проекты: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19% (отменены до завершения)</a:t>
            </a:r>
          </a:p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Топ-5 причин провала: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Неполные требования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13%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Недостаток вовлечённости заказчика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12%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Нехватка ресурсов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11%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Нереалистичные ожидания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10%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поддержки руководства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9%</a:t>
            </a:r>
          </a:p>
        </p:txBody>
      </p:sp>
    </p:spTree>
    <p:extLst>
      <p:ext uri="{BB962C8B-B14F-4D97-AF65-F5344CB8AC3E}">
        <p14:creationId xmlns:p14="http://schemas.microsoft.com/office/powerpoint/2010/main" val="2994999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EA589-B760-70EA-46E7-F404A9AD4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6D7919-1E29-1011-7705-B76547FA6E71}"/>
              </a:ext>
            </a:extLst>
          </p:cNvPr>
          <p:cNvSpPr txBox="1"/>
          <p:nvPr/>
        </p:nvSpPr>
        <p:spPr>
          <a:xfrm>
            <a:off x="0" y="0"/>
            <a:ext cx="12192000" cy="6368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Оценка задач — почему это сложно?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Почему разработчики плохо оценивают: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Оптимизм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"я сделаю это за 2 часа" (реальность: 2 дня)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Неучтённые факторы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созвоны, баги, ревью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Эффект </a:t>
            </a:r>
            <a:r>
              <a:rPr lang="ru-RU" sz="28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Хофштадтера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"всё всегда занимает больше времени, чем вы ожидаете, даже если учесть эффект 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Хофштадтера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Что делать?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Оценивать в </a:t>
            </a: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относительных единицах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(Story 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Points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а не в часах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Использовать </a:t>
            </a: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покер планирования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(Planning 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Poker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Учитывать </a:t>
            </a: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скорость команды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Velocity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55320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61111-D426-9DB6-3D11-DA2D70478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CD0F5F9-B610-768A-2D97-E97A1502B943}"/>
              </a:ext>
            </a:extLst>
          </p:cNvPr>
          <p:cNvSpPr txBox="1"/>
          <p:nvPr/>
        </p:nvSpPr>
        <p:spPr>
          <a:xfrm>
            <a:off x="0" y="0"/>
            <a:ext cx="12192000" cy="6568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Story </a:t>
            </a:r>
            <a:r>
              <a:rPr lang="ru-RU" sz="32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Points</a:t>
            </a:r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32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Velocity</a:t>
            </a:r>
            <a:endParaRPr lang="ru-RU" sz="3200" b="1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ru-RU" sz="24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Story </a:t>
            </a:r>
            <a:r>
              <a:rPr lang="ru-RU" sz="24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Points</a:t>
            </a:r>
            <a:r>
              <a:rPr lang="ru-RU" sz="24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(SP)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относительная сложность задачи: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 SP — очень простая задача (изменить конфиг)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 SP — средняя задача (добавить поле в форму)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 SP — сложная задача (новый модуль)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 SP — очень сложная (интеграция с внешним API)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13 SP — задача требует декомпозиции</a:t>
            </a:r>
          </a:p>
          <a:p>
            <a:pPr algn="l">
              <a:lnSpc>
                <a:spcPct val="150000"/>
              </a:lnSpc>
              <a:buNone/>
            </a:pPr>
            <a:r>
              <a:rPr lang="ru-RU" sz="24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Velocity</a:t>
            </a:r>
            <a:r>
              <a:rPr lang="ru-RU" sz="24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(Скорость команды):</a:t>
            </a:r>
            <a:endParaRPr lang="ru-RU" sz="2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SP, которое команда закрывает за спринт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Пример: за последние 3 спринта команда сделала 30, 35, 32 SP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Средняя </a:t>
            </a:r>
            <a:r>
              <a:rPr lang="ru-RU" sz="24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Velocity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32 SP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Планируем следующий спринт на 32 SP</a:t>
            </a:r>
          </a:p>
        </p:txBody>
      </p:sp>
    </p:spTree>
    <p:extLst>
      <p:ext uri="{BB962C8B-B14F-4D97-AF65-F5344CB8AC3E}">
        <p14:creationId xmlns:p14="http://schemas.microsoft.com/office/powerpoint/2010/main" val="3125888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37145-F67E-A59E-0807-F7A07BFD5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E5FDEA7-C789-39B0-CFBF-14031F31D5D9}"/>
              </a:ext>
            </a:extLst>
          </p:cNvPr>
          <p:cNvSpPr txBox="1"/>
          <p:nvPr/>
        </p:nvSpPr>
        <p:spPr>
          <a:xfrm>
            <a:off x="0" y="0"/>
            <a:ext cx="12192000" cy="4811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Покер планирования (Planning </a:t>
            </a:r>
            <a:r>
              <a:rPr lang="ru-RU" sz="32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Poker</a:t>
            </a:r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Карты для покера: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0, 1, 2, 3, 5, 8, 13, 20, 40, 100, ∞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Процесс: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Product 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Owner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рассказывает задачу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Каждый разработчик выбирает карту (тайно)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Все показывают карты одновременно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Если оценки разнятся — обсуждение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 Повторяем до консенсуса</a:t>
            </a:r>
          </a:p>
        </p:txBody>
      </p:sp>
    </p:spTree>
    <p:extLst>
      <p:ext uri="{BB962C8B-B14F-4D97-AF65-F5344CB8AC3E}">
        <p14:creationId xmlns:p14="http://schemas.microsoft.com/office/powerpoint/2010/main" val="3797452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2DDB6-EFE5-A6D1-9EC1-DD6C6EE76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143D8C-8670-DD1D-6907-D4701FD1C1C4}"/>
              </a:ext>
            </a:extLst>
          </p:cNvPr>
          <p:cNvSpPr txBox="1"/>
          <p:nvPr/>
        </p:nvSpPr>
        <p:spPr>
          <a:xfrm>
            <a:off x="0" y="0"/>
            <a:ext cx="12192000" cy="5711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Оценка в часах — когда и как?</a:t>
            </a:r>
          </a:p>
          <a:p>
            <a:pPr algn="l">
              <a:buNone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Story </a:t>
            </a:r>
            <a:r>
              <a:rPr lang="ru-RU" sz="28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Points</a:t>
            </a: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≠ часы, но иногда нужны часы: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внешних отчётов (заказчик хочет сроки)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финансового планирования</a:t>
            </a:r>
          </a:p>
          <a:p>
            <a:pPr algn="l">
              <a:buNone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Как перевести SP в часы: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Измерить 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Velocity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 часах (затраченное время)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Следить за точностью</a:t>
            </a:r>
          </a:p>
          <a:p>
            <a:pPr algn="l">
              <a:buNone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Правило Паркинсона: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"Работа занимает всё отведённое на неё время."</a:t>
            </a:r>
          </a:p>
          <a:p>
            <a:pPr algn="l">
              <a:buNone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Что делать: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Оценивать задачи, а не людей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Добавлять буфер (20-50%)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Использовать три оценки: оптимистичную, реалистичную, пессимистичную</a:t>
            </a:r>
          </a:p>
        </p:txBody>
      </p:sp>
    </p:spTree>
    <p:extLst>
      <p:ext uri="{BB962C8B-B14F-4D97-AF65-F5344CB8AC3E}">
        <p14:creationId xmlns:p14="http://schemas.microsoft.com/office/powerpoint/2010/main" val="4207483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D7AB6-C6CB-AECF-F4E6-E928B25D4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7CBF2F9-FB79-B702-4BCC-E8CD7A9E5A0F}"/>
              </a:ext>
            </a:extLst>
          </p:cNvPr>
          <p:cNvSpPr txBox="1"/>
          <p:nvPr/>
        </p:nvSpPr>
        <p:spPr>
          <a:xfrm>
            <a:off x="0" y="0"/>
            <a:ext cx="12192000" cy="4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рисками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888058-DA76-0FA6-804F-844CAA5C6BCC}"/>
              </a:ext>
            </a:extLst>
          </p:cNvPr>
          <p:cNvSpPr txBox="1"/>
          <p:nvPr/>
        </p:nvSpPr>
        <p:spPr>
          <a:xfrm>
            <a:off x="0" y="409728"/>
            <a:ext cx="121920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Риск — это не проблема. Это потенциальная проблема.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Матрица рисков: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63FD4C62-F33A-00FD-4EED-8536D6ECF2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095376"/>
              </p:ext>
            </p:extLst>
          </p:nvPr>
        </p:nvGraphicFramePr>
        <p:xfrm>
          <a:off x="0" y="2510148"/>
          <a:ext cx="12192000" cy="2036828"/>
        </p:xfrm>
        <a:graphic>
          <a:graphicData uri="http://schemas.openxmlformats.org/drawingml/2006/table">
            <a:tbl>
              <a:tblPr/>
              <a:tblGrid>
                <a:gridCol w="2605548">
                  <a:extLst>
                    <a:ext uri="{9D8B030D-6E8A-4147-A177-3AD203B41FA5}">
                      <a16:colId xmlns:a16="http://schemas.microsoft.com/office/drawing/2014/main" val="1305865817"/>
                    </a:ext>
                  </a:extLst>
                </a:gridCol>
                <a:gridCol w="3195484">
                  <a:extLst>
                    <a:ext uri="{9D8B030D-6E8A-4147-A177-3AD203B41FA5}">
                      <a16:colId xmlns:a16="http://schemas.microsoft.com/office/drawing/2014/main" val="3752423845"/>
                    </a:ext>
                  </a:extLst>
                </a:gridCol>
                <a:gridCol w="3195484">
                  <a:extLst>
                    <a:ext uri="{9D8B030D-6E8A-4147-A177-3AD203B41FA5}">
                      <a16:colId xmlns:a16="http://schemas.microsoft.com/office/drawing/2014/main" val="1294926343"/>
                    </a:ext>
                  </a:extLst>
                </a:gridCol>
                <a:gridCol w="3195484">
                  <a:extLst>
                    <a:ext uri="{9D8B030D-6E8A-4147-A177-3AD203B41FA5}">
                      <a16:colId xmlns:a16="http://schemas.microsoft.com/office/drawing/2014/main" val="13286897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Вероятность \ Влияние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Низкое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Среднее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Высокое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437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6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  <a:endParaRPr lang="ru-RU" sz="26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Принять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Снижать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Избегать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124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6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Средняя</a:t>
                      </a:r>
                      <a:endParaRPr lang="ru-RU" sz="26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Принять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Снижать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Передавать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558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6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Низкая</a:t>
                      </a:r>
                      <a:endParaRPr lang="ru-RU" sz="26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Принять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Принять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Мониторить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144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1328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60532-B2EB-4358-9F60-9F7DB836E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3B707EC-3061-9C6F-1A6B-90C29ABB0090}"/>
              </a:ext>
            </a:extLst>
          </p:cNvPr>
          <p:cNvSpPr txBox="1"/>
          <p:nvPr/>
        </p:nvSpPr>
        <p:spPr>
          <a:xfrm>
            <a:off x="-1656" y="0"/>
            <a:ext cx="6097656" cy="4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рисков в </a:t>
            </a:r>
            <a:r>
              <a:rPr lang="en-US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IT-</a:t>
            </a:r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проектах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93BF35A6-A779-211A-79E3-54B0032F7D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40519"/>
              </p:ext>
            </p:extLst>
          </p:nvPr>
        </p:nvGraphicFramePr>
        <p:xfrm>
          <a:off x="-1656" y="409728"/>
          <a:ext cx="12192000" cy="6294120"/>
        </p:xfrm>
        <a:graphic>
          <a:graphicData uri="http://schemas.openxmlformats.org/drawingml/2006/table">
            <a:tbl>
              <a:tblPr/>
              <a:tblGrid>
                <a:gridCol w="2605548">
                  <a:extLst>
                    <a:ext uri="{9D8B030D-6E8A-4147-A177-3AD203B41FA5}">
                      <a16:colId xmlns:a16="http://schemas.microsoft.com/office/drawing/2014/main" val="3714311149"/>
                    </a:ext>
                  </a:extLst>
                </a:gridCol>
                <a:gridCol w="3195484">
                  <a:extLst>
                    <a:ext uri="{9D8B030D-6E8A-4147-A177-3AD203B41FA5}">
                      <a16:colId xmlns:a16="http://schemas.microsoft.com/office/drawing/2014/main" val="931765391"/>
                    </a:ext>
                  </a:extLst>
                </a:gridCol>
                <a:gridCol w="3195484">
                  <a:extLst>
                    <a:ext uri="{9D8B030D-6E8A-4147-A177-3AD203B41FA5}">
                      <a16:colId xmlns:a16="http://schemas.microsoft.com/office/drawing/2014/main" val="1624139154"/>
                    </a:ext>
                  </a:extLst>
                </a:gridCol>
                <a:gridCol w="3195484">
                  <a:extLst>
                    <a:ext uri="{9D8B030D-6E8A-4147-A177-3AD203B41FA5}">
                      <a16:colId xmlns:a16="http://schemas.microsoft.com/office/drawing/2014/main" val="32438141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ru-RU" sz="2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Риск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ru-RU" sz="2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Вероятность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ru-RU" sz="2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Влияние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ru-RU" sz="2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Стратегия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289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Уход ключевого разработчика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Средняя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Высокое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Кросс-функциональность, документация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682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Изменение требований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Среднее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Agile, </a:t>
                      </a:r>
                      <a:r>
                        <a:rPr lang="ru-RU" sz="2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итеративная разработка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467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Проблемы с интеграцией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Средняя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Высокое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Интеграционные тесты, </a:t>
                      </a:r>
                      <a:r>
                        <a:rPr lang="en-US" sz="2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CI/CD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252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Падение продакшена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Низкая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Критическое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Резервное копирование, мониторинг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6095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Нехватка бюджета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Средняя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Высокое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MVP, </a:t>
                      </a:r>
                      <a:r>
                        <a:rPr lang="ru-RU" sz="2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приоритизация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0018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105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90EFE-B5F8-818A-E89F-C7725C40F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07B03D-DCE1-887B-DA7B-1AF838472AEE}"/>
              </a:ext>
            </a:extLst>
          </p:cNvPr>
          <p:cNvSpPr txBox="1"/>
          <p:nvPr/>
        </p:nvSpPr>
        <p:spPr>
          <a:xfrm>
            <a:off x="0" y="0"/>
            <a:ext cx="12192000" cy="675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400"/>
              </a:spcBef>
              <a:buNone/>
            </a:pPr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Роли в команде</a:t>
            </a:r>
          </a:p>
          <a:p>
            <a:pPr algn="l">
              <a:spcBef>
                <a:spcPts val="1200"/>
              </a:spcBef>
              <a:buNone/>
            </a:pPr>
            <a:r>
              <a:rPr lang="ru-RU" sz="28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Scrum</a:t>
            </a: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-команда: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 </a:t>
            </a:r>
            <a:r>
              <a:rPr lang="ru-RU" sz="28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Owner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отвечает за "что делать" (требования, бэклог, приоритеты)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8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Scrum</a:t>
            </a: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Master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отвечает за "как делать" (процесс, фасилитация, устранение помех)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Команда разработки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3-9 человек (разработчики, тестировщики, аналитики)</a:t>
            </a:r>
          </a:p>
          <a:p>
            <a:pPr algn="l">
              <a:spcBef>
                <a:spcPts val="1200"/>
              </a:spcBef>
              <a:buNone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Другие роли: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 </a:t>
            </a:r>
            <a:r>
              <a:rPr lang="ru-RU" sz="28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Lead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технический лидер, архитектор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Manager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управление сроками, бюджетом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 </a:t>
            </a:r>
            <a:r>
              <a:rPr lang="ru-RU" sz="28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Analyst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анализ требований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QA </a:t>
            </a:r>
            <a:r>
              <a:rPr lang="ru-RU" sz="28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Engineer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тестирование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8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инфраструктура, CI/CD</a:t>
            </a:r>
          </a:p>
        </p:txBody>
      </p:sp>
    </p:spTree>
    <p:extLst>
      <p:ext uri="{BB962C8B-B14F-4D97-AF65-F5344CB8AC3E}">
        <p14:creationId xmlns:p14="http://schemas.microsoft.com/office/powerpoint/2010/main" val="3151131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2EA03-7B29-5043-50A0-68761DBEE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71E44A7-7425-3F3B-354C-477B38411460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Командная работа — стадии развития (</a:t>
            </a:r>
            <a:r>
              <a:rPr lang="ru-RU" sz="32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Tuckman</a:t>
            </a:r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977D9C-8164-8FB1-D90C-7E5BD8FE17A1}"/>
              </a:ext>
            </a:extLst>
          </p:cNvPr>
          <p:cNvSpPr txBox="1"/>
          <p:nvPr/>
        </p:nvSpPr>
        <p:spPr>
          <a:xfrm>
            <a:off x="1540564" y="948690"/>
            <a:ext cx="904460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 </a:t>
            </a:r>
            <a:r>
              <a:rPr lang="en-US" dirty="0"/>
              <a:t>       </a:t>
            </a:r>
            <a:r>
              <a:rPr lang="ru-RU" dirty="0"/>
              <a:t>┌──────────────┐</a:t>
            </a:r>
          </a:p>
          <a:p>
            <a:r>
              <a:rPr lang="ru-RU" dirty="0"/>
              <a:t>        │ Формирование │  (</a:t>
            </a:r>
            <a:r>
              <a:rPr lang="ru-RU" dirty="0" err="1"/>
              <a:t>Forming</a:t>
            </a:r>
            <a:r>
              <a:rPr lang="ru-RU" dirty="0"/>
              <a:t>) — знакомство, вежливость</a:t>
            </a:r>
          </a:p>
          <a:p>
            <a:r>
              <a:rPr lang="ru-RU" dirty="0"/>
              <a:t>        └──────┬──────┘</a:t>
            </a:r>
          </a:p>
          <a:p>
            <a:r>
              <a:rPr lang="ru-RU" dirty="0"/>
              <a:t>               ▼</a:t>
            </a:r>
          </a:p>
          <a:p>
            <a:r>
              <a:rPr lang="ru-RU" dirty="0"/>
              <a:t>        ┌──────────────┐</a:t>
            </a:r>
          </a:p>
          <a:p>
            <a:r>
              <a:rPr lang="ru-RU" dirty="0"/>
              <a:t>        │  Шторм   </a:t>
            </a:r>
            <a:r>
              <a:rPr lang="en-US" dirty="0"/>
              <a:t>            </a:t>
            </a:r>
            <a:r>
              <a:rPr lang="ru-RU" dirty="0"/>
              <a:t>│  (</a:t>
            </a:r>
            <a:r>
              <a:rPr lang="ru-RU" dirty="0" err="1"/>
              <a:t>Storming</a:t>
            </a:r>
            <a:r>
              <a:rPr lang="ru-RU" dirty="0"/>
              <a:t>) — конфликты, борьба за </a:t>
            </a:r>
            <a:r>
              <a:rPr lang="en-US" dirty="0"/>
              <a:t>           			</a:t>
            </a:r>
            <a:r>
              <a:rPr lang="ru-RU" dirty="0"/>
              <a:t>влияние</a:t>
            </a:r>
          </a:p>
          <a:p>
            <a:r>
              <a:rPr lang="ru-RU" dirty="0"/>
              <a:t>        └──────┬──────┘</a:t>
            </a:r>
          </a:p>
          <a:p>
            <a:r>
              <a:rPr lang="ru-RU" dirty="0"/>
              <a:t>               ▼</a:t>
            </a:r>
          </a:p>
          <a:p>
            <a:r>
              <a:rPr lang="ru-RU" dirty="0"/>
              <a:t>        ┌──────────────┐</a:t>
            </a:r>
          </a:p>
          <a:p>
            <a:r>
              <a:rPr lang="ru-RU" dirty="0"/>
              <a:t>        │ Нормирование │ (</a:t>
            </a:r>
            <a:r>
              <a:rPr lang="ru-RU" dirty="0" err="1"/>
              <a:t>Norming</a:t>
            </a:r>
            <a:r>
              <a:rPr lang="ru-RU" dirty="0"/>
              <a:t>) — правила, соглашения</a:t>
            </a:r>
          </a:p>
          <a:p>
            <a:r>
              <a:rPr lang="ru-RU" dirty="0"/>
              <a:t>        └──────┬──────┘</a:t>
            </a:r>
          </a:p>
          <a:p>
            <a:r>
              <a:rPr lang="ru-RU" dirty="0"/>
              <a:t>               ▼</a:t>
            </a:r>
          </a:p>
          <a:p>
            <a:r>
              <a:rPr lang="ru-RU" dirty="0"/>
              <a:t>        ┌──────────────┐</a:t>
            </a:r>
          </a:p>
          <a:p>
            <a:r>
              <a:rPr lang="ru-RU" dirty="0"/>
              <a:t>        │ Работа   </a:t>
            </a:r>
            <a:r>
              <a:rPr lang="en-US" dirty="0"/>
              <a:t>              </a:t>
            </a:r>
            <a:r>
              <a:rPr lang="ru-RU" dirty="0"/>
              <a:t>│  (</a:t>
            </a:r>
            <a:r>
              <a:rPr lang="ru-RU" dirty="0" err="1"/>
              <a:t>Performing</a:t>
            </a:r>
            <a:r>
              <a:rPr lang="ru-RU" dirty="0"/>
              <a:t>) — эффективная работа</a:t>
            </a:r>
          </a:p>
          <a:p>
            <a:r>
              <a:rPr lang="ru-RU" dirty="0"/>
              <a:t>        └──────┬──────┘</a:t>
            </a:r>
          </a:p>
          <a:p>
            <a:r>
              <a:rPr lang="ru-RU" dirty="0"/>
              <a:t>               ▼</a:t>
            </a:r>
          </a:p>
          <a:p>
            <a:r>
              <a:rPr lang="ru-RU" dirty="0"/>
              <a:t>        ┌─────────────────┐</a:t>
            </a:r>
          </a:p>
          <a:p>
            <a:r>
              <a:rPr lang="ru-RU" dirty="0"/>
              <a:t>        │ Расформирование</a:t>
            </a:r>
            <a:r>
              <a:rPr lang="en-US" dirty="0"/>
              <a:t>  </a:t>
            </a:r>
            <a:r>
              <a:rPr lang="ru-RU" dirty="0"/>
              <a:t>│ (</a:t>
            </a:r>
            <a:r>
              <a:rPr lang="ru-RU" dirty="0" err="1"/>
              <a:t>Adjourning</a:t>
            </a:r>
            <a:r>
              <a:rPr lang="ru-RU" dirty="0"/>
              <a:t>) — завершение проекта</a:t>
            </a:r>
          </a:p>
          <a:p>
            <a:r>
              <a:rPr lang="ru-RU" dirty="0"/>
              <a:t>        └─────────────────┘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2109795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1CE95-EA7C-309B-64A4-33683A91F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4CB9FA-8413-EF2A-9324-8C5BFFFC77E6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Софт-скиллы для разработчика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38B0AD-DFC8-86BE-DBD4-1EA1DF343291}"/>
              </a:ext>
            </a:extLst>
          </p:cNvPr>
          <p:cNvSpPr txBox="1"/>
          <p:nvPr/>
        </p:nvSpPr>
        <p:spPr>
          <a:xfrm>
            <a:off x="0" y="584775"/>
            <a:ext cx="12192000" cy="6237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buNone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Технические навыки (Hard </a:t>
            </a:r>
            <a:r>
              <a:rPr lang="ru-RU" sz="28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Skills</a:t>
            </a: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Языки программирования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Фреймворки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Базы данных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CI/CD</a:t>
            </a:r>
          </a:p>
          <a:p>
            <a:pPr algn="l">
              <a:spcBef>
                <a:spcPts val="1200"/>
              </a:spcBef>
              <a:buNone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Софт-скиллы (Soft </a:t>
            </a:r>
            <a:r>
              <a:rPr lang="ru-RU" sz="28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Skills</a:t>
            </a: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Коммуникация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понятно объяснять сложные вещи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Эмпатия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понимать коллегу и заказчика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Умение слушать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слышать, что говорят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Конфликтология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решать споры конструктивно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Тайм-менеджмент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управлять своим временем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Обратная связь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давать и принимать</a:t>
            </a:r>
          </a:p>
        </p:txBody>
      </p:sp>
    </p:spTree>
    <p:extLst>
      <p:ext uri="{BB962C8B-B14F-4D97-AF65-F5344CB8AC3E}">
        <p14:creationId xmlns:p14="http://schemas.microsoft.com/office/powerpoint/2010/main" val="41108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B54AF-EAFC-0F16-C6EF-5D5C6843B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98CC0F-6B66-91A7-FB33-37AF5D76B88B}"/>
              </a:ext>
            </a:extLst>
          </p:cNvPr>
          <p:cNvSpPr txBox="1"/>
          <p:nvPr/>
        </p:nvSpPr>
        <p:spPr>
          <a:xfrm>
            <a:off x="-1656" y="0"/>
            <a:ext cx="12193656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 Review как практика обучения</a:t>
            </a:r>
          </a:p>
          <a:p>
            <a:pPr algn="l">
              <a:spcBef>
                <a:spcPts val="1200"/>
              </a:spcBef>
              <a:buNone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"Code Review — это не проверка. Это обучение."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Правила хорошего Code Review: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 про личность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обсуждаем код, а не человека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Будь конструктивен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не "это плохо", а "давай вынесем в отдельный метод"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Хвали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"отличное решение, я не подумал"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 тяни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делай ревью быстро (в течение часа)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 больше 400 строк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за раз сложно воспринимать больше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Автоматизируй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линтеры, 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форматтеры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не нужно проверять руками</a:t>
            </a:r>
          </a:p>
        </p:txBody>
      </p:sp>
    </p:spTree>
    <p:extLst>
      <p:ext uri="{BB962C8B-B14F-4D97-AF65-F5344CB8AC3E}">
        <p14:creationId xmlns:p14="http://schemas.microsoft.com/office/powerpoint/2010/main" val="528999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2B543-164F-78ED-984F-88C1D96B1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8BDA8D-7FE0-9C61-271A-17E78441FE18}"/>
              </a:ext>
            </a:extLst>
          </p:cNvPr>
          <p:cNvSpPr txBox="1"/>
          <p:nvPr/>
        </p:nvSpPr>
        <p:spPr>
          <a:xfrm>
            <a:off x="0" y="0"/>
            <a:ext cx="12192000" cy="5677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Шаблон для комментария в Code Review</a:t>
            </a:r>
          </a:p>
          <a:p>
            <a:pPr algn="l">
              <a:lnSpc>
                <a:spcPct val="150000"/>
              </a:lnSpc>
              <a:buNone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Хорошо: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"В методе 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calculateDiscount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есть дублирование логики с методом 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applyPromo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Давай вынесем общую часть в отдельный приватный метод. Что думаешь?"</a:t>
            </a:r>
          </a:p>
          <a:p>
            <a:pPr algn="l">
              <a:lnSpc>
                <a:spcPct val="150000"/>
              </a:lnSpc>
              <a:buNone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Плохо: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"Ты что, дублирование не видишь? Переделай."</a:t>
            </a:r>
          </a:p>
          <a:p>
            <a:pPr algn="l">
              <a:lnSpc>
                <a:spcPct val="150000"/>
              </a:lnSpc>
              <a:buNone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Хорошо: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"Отличное решение с паттерном Strategy! Я бы только переименовал 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в 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для ясности."</a:t>
            </a:r>
          </a:p>
        </p:txBody>
      </p:sp>
    </p:spTree>
    <p:extLst>
      <p:ext uri="{BB962C8B-B14F-4D97-AF65-F5344CB8AC3E}">
        <p14:creationId xmlns:p14="http://schemas.microsoft.com/office/powerpoint/2010/main" val="3632151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FF9ED-F6BA-2038-0483-CB9009135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E2AA98-B9BB-7F99-8B55-13C200267AC5}"/>
              </a:ext>
            </a:extLst>
          </p:cNvPr>
          <p:cNvSpPr txBox="1"/>
          <p:nvPr/>
        </p:nvSpPr>
        <p:spPr>
          <a:xfrm>
            <a:off x="-1656" y="0"/>
            <a:ext cx="60976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Карьерный рост в </a:t>
            </a:r>
            <a:r>
              <a:rPr lang="en-US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816FD3-941F-8564-470C-ABA2239C7705}"/>
              </a:ext>
            </a:extLst>
          </p:cNvPr>
          <p:cNvSpPr txBox="1"/>
          <p:nvPr/>
        </p:nvSpPr>
        <p:spPr>
          <a:xfrm>
            <a:off x="0" y="865427"/>
            <a:ext cx="617716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Junior (0-2 года)</a:t>
            </a:r>
          </a:p>
          <a:p>
            <a:r>
              <a:rPr lang="ru-RU" dirty="0"/>
              <a:t>    │</a:t>
            </a:r>
          </a:p>
          <a:p>
            <a:r>
              <a:rPr lang="ru-RU" dirty="0"/>
              <a:t>    ▼</a:t>
            </a:r>
          </a:p>
          <a:p>
            <a:r>
              <a:rPr lang="ru-RU" dirty="0"/>
              <a:t>Middle (2-5 лет)</a:t>
            </a:r>
          </a:p>
          <a:p>
            <a:r>
              <a:rPr lang="ru-RU" dirty="0"/>
              <a:t>    │</a:t>
            </a:r>
          </a:p>
          <a:p>
            <a:r>
              <a:rPr lang="ru-RU" dirty="0"/>
              <a:t>    ├─────────────────────┐</a:t>
            </a:r>
          </a:p>
          <a:p>
            <a:r>
              <a:rPr lang="ru-RU" dirty="0"/>
              <a:t>    ▼                     </a:t>
            </a:r>
            <a:r>
              <a:rPr lang="en-US" dirty="0"/>
              <a:t>                        </a:t>
            </a:r>
            <a:r>
              <a:rPr lang="ru-RU" dirty="0"/>
              <a:t>▼</a:t>
            </a:r>
          </a:p>
          <a:p>
            <a:r>
              <a:rPr lang="ru-RU" dirty="0" err="1"/>
              <a:t>Senior</a:t>
            </a:r>
            <a:r>
              <a:rPr lang="ru-RU" dirty="0"/>
              <a:t> (5-10 лет)    Team </a:t>
            </a:r>
            <a:r>
              <a:rPr lang="ru-RU" dirty="0" err="1"/>
              <a:t>Lead</a:t>
            </a:r>
            <a:r>
              <a:rPr lang="ru-RU" dirty="0"/>
              <a:t> / </a:t>
            </a:r>
            <a:r>
              <a:rPr lang="ru-RU" dirty="0" err="1"/>
              <a:t>Architect</a:t>
            </a:r>
            <a:endParaRPr lang="ru-RU" dirty="0"/>
          </a:p>
          <a:p>
            <a:r>
              <a:rPr lang="ru-RU" dirty="0"/>
              <a:t>    │                     </a:t>
            </a:r>
            <a:r>
              <a:rPr lang="en-US" dirty="0"/>
              <a:t>                           </a:t>
            </a:r>
            <a:r>
              <a:rPr lang="ru-RU" dirty="0"/>
              <a:t>│</a:t>
            </a:r>
          </a:p>
          <a:p>
            <a:r>
              <a:rPr lang="ru-RU" dirty="0"/>
              <a:t>    ▼                     </a:t>
            </a:r>
            <a:r>
              <a:rPr lang="en-US" dirty="0"/>
              <a:t>                        </a:t>
            </a:r>
            <a:r>
              <a:rPr lang="ru-RU" dirty="0"/>
              <a:t>▼</a:t>
            </a:r>
          </a:p>
          <a:p>
            <a:r>
              <a:rPr lang="ru-RU" dirty="0" err="1"/>
              <a:t>Principal</a:t>
            </a:r>
            <a:r>
              <a:rPr lang="ru-RU" dirty="0"/>
              <a:t> / </a:t>
            </a:r>
            <a:r>
              <a:rPr lang="ru-RU" dirty="0" err="1"/>
              <a:t>Staff</a:t>
            </a:r>
            <a:r>
              <a:rPr lang="ru-RU" dirty="0"/>
              <a:t>    Engineering Manager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033399-C31A-6EFA-84AC-0C18D6940037}"/>
              </a:ext>
            </a:extLst>
          </p:cNvPr>
          <p:cNvSpPr txBox="1"/>
          <p:nvPr/>
        </p:nvSpPr>
        <p:spPr>
          <a:xfrm>
            <a:off x="4311098" y="414021"/>
            <a:ext cx="7880902" cy="60119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Что требуется для роста: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Junior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базовый синтаксис, 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понимание алгоритмов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Middle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самостоятельность, архитектурные решения, наставничество джунов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Senior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системное мышление, менторство, сложные технические решения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Team </a:t>
            </a:r>
            <a:r>
              <a:rPr lang="ru-RU" sz="28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Lead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управление людьми, процессы, коммуникация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Architect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высокоуровневые решения, технологии, стандарты</a:t>
            </a:r>
          </a:p>
        </p:txBody>
      </p:sp>
    </p:spTree>
    <p:extLst>
      <p:ext uri="{BB962C8B-B14F-4D97-AF65-F5344CB8AC3E}">
        <p14:creationId xmlns:p14="http://schemas.microsoft.com/office/powerpoint/2010/main" val="3722331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95FCB-6E59-E1C0-7574-3CCBCE5F4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32C6DB5-DC42-8C02-0B14-86A901F1F067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Как пройти собеседование?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688445-1BF2-1924-C5C7-AA9158CEA928}"/>
              </a:ext>
            </a:extLst>
          </p:cNvPr>
          <p:cNvSpPr txBox="1"/>
          <p:nvPr/>
        </p:nvSpPr>
        <p:spPr>
          <a:xfrm>
            <a:off x="0" y="455568"/>
            <a:ext cx="12192000" cy="6417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buNone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Техническая часть: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Алгоритмы и структуры данных (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LeetCode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Системный дизайн (как спроектировать Twitter?)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Язык и фреймворки (глубокое знание)</a:t>
            </a:r>
          </a:p>
          <a:p>
            <a:pPr algn="l">
              <a:spcBef>
                <a:spcPts val="1200"/>
              </a:spcBef>
              <a:buNone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Пов Поведенческая часть: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Расскажи о сложном проекте (STAR: 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Situation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Task, Action, 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Как решал конфликт?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Почему уходишь с текущего места?</a:t>
            </a:r>
          </a:p>
          <a:p>
            <a:pPr algn="l">
              <a:spcBef>
                <a:spcPts val="1200"/>
              </a:spcBef>
              <a:buNone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Что спрашивать у работодателя: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Как устроен процесс разработки?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Есть ли 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CI/CD?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Как выглядит карьерный рост?</a:t>
            </a:r>
          </a:p>
        </p:txBody>
      </p:sp>
    </p:spTree>
    <p:extLst>
      <p:ext uri="{BB962C8B-B14F-4D97-AF65-F5344CB8AC3E}">
        <p14:creationId xmlns:p14="http://schemas.microsoft.com/office/powerpoint/2010/main" val="3007775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1A6DC-D1BD-836D-0494-F2817D31D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793E57-139A-200B-C0B8-62AEA7E6DB15}"/>
              </a:ext>
            </a:extLst>
          </p:cNvPr>
          <p:cNvSpPr txBox="1"/>
          <p:nvPr/>
        </p:nvSpPr>
        <p:spPr>
          <a:xfrm>
            <a:off x="0" y="0"/>
            <a:ext cx="12192000" cy="6160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Что мы изучили за курс?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32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</a:t>
            </a:r>
            <a:r>
              <a:rPr lang="ru-RU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</a:t>
            </a:r>
            <a:r>
              <a:rPr lang="en-US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Stories, MVP, </a:t>
            </a:r>
            <a:r>
              <a:rPr lang="en-US" sz="32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MoSCoW</a:t>
            </a:r>
            <a:endParaRPr lang="en-US" sz="32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32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Принципы</a:t>
            </a:r>
            <a:r>
              <a:rPr lang="ru-RU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</a:t>
            </a:r>
            <a:r>
              <a:rPr lang="en-US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SOLID, GRASP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32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Паттерны</a:t>
            </a:r>
            <a:r>
              <a:rPr lang="ru-RU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порождающие, структурные, поведенческие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32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</a:t>
            </a:r>
            <a:r>
              <a:rPr lang="ru-RU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многослойная, микросервисы, </a:t>
            </a:r>
            <a:r>
              <a:rPr lang="en-US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32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Качество кода</a:t>
            </a:r>
            <a:r>
              <a:rPr lang="ru-RU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</a:t>
            </a:r>
            <a:r>
              <a:rPr lang="en-US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Technical Debt, Code Smells, </a:t>
            </a:r>
            <a:r>
              <a:rPr lang="ru-RU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рефакторинг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32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</a:t>
            </a:r>
            <a:r>
              <a:rPr lang="ru-RU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юнит, интеграционные, </a:t>
            </a:r>
            <a:r>
              <a:rPr lang="en-US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E2E, TDD, BDD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32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CI/CD</a:t>
            </a:r>
            <a:r>
              <a:rPr lang="en-US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GitHub Actions, Docker, </a:t>
            </a:r>
            <a:r>
              <a:rPr lang="ru-RU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автоматизация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32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</a:t>
            </a:r>
            <a:r>
              <a:rPr lang="ru-RU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оценки, риски, команда, софт-скиллы</a:t>
            </a:r>
          </a:p>
        </p:txBody>
      </p:sp>
    </p:spTree>
    <p:extLst>
      <p:ext uri="{BB962C8B-B14F-4D97-AF65-F5344CB8AC3E}">
        <p14:creationId xmlns:p14="http://schemas.microsoft.com/office/powerpoint/2010/main" val="14716038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1825F-B1CA-6B8D-4A18-1AE737B29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A8B40C-3AC3-F32B-FF57-32DCFCF9DE13}"/>
              </a:ext>
            </a:extLst>
          </p:cNvPr>
          <p:cNvSpPr txBox="1"/>
          <p:nvPr/>
        </p:nvSpPr>
        <p:spPr>
          <a:xfrm>
            <a:off x="0" y="0"/>
            <a:ext cx="12192000" cy="6324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400"/>
              </a:spcBef>
              <a:buNone/>
            </a:pPr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Как пройти собеседование?</a:t>
            </a:r>
          </a:p>
          <a:p>
            <a:pPr algn="l">
              <a:spcBef>
                <a:spcPts val="1200"/>
              </a:spcBef>
              <a:buNone/>
            </a:pPr>
            <a:r>
              <a:rPr lang="ru-RU" sz="24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Техническая часть:</a:t>
            </a:r>
            <a:endParaRPr lang="ru-RU" sz="2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Алгоритмы и структуры данных (</a:t>
            </a:r>
            <a:r>
              <a:rPr lang="ru-RU" sz="24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LeetCode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Системный дизайн (как спроектировать Twitter?)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Язык и фреймворки (глубокое знание)</a:t>
            </a:r>
          </a:p>
          <a:p>
            <a:pPr algn="l">
              <a:spcBef>
                <a:spcPts val="1200"/>
              </a:spcBef>
              <a:buNone/>
            </a:pPr>
            <a:r>
              <a:rPr lang="ru-RU" sz="24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Пов Поведенческая часть:</a:t>
            </a:r>
            <a:endParaRPr lang="ru-RU" sz="2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Расскажи о сложном проекте (STAR: </a:t>
            </a:r>
            <a:r>
              <a:rPr lang="ru-RU" sz="24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Situation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Task, Action, </a:t>
            </a:r>
            <a:r>
              <a:rPr lang="ru-RU" sz="24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Как решал конфликт?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Почему уходишь с текущего места?</a:t>
            </a:r>
          </a:p>
          <a:p>
            <a:pPr algn="l">
              <a:spcBef>
                <a:spcPts val="1200"/>
              </a:spcBef>
              <a:buNone/>
            </a:pPr>
            <a:r>
              <a:rPr lang="ru-RU" sz="24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Что спрашивать у работодателя:</a:t>
            </a:r>
            <a:endParaRPr lang="ru-RU" sz="2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Как устроен процесс разработки?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Есть ли </a:t>
            </a:r>
            <a:r>
              <a:rPr lang="ru-RU" sz="24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CI/CD?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Как выглядит карьерный рост?</a:t>
            </a:r>
          </a:p>
        </p:txBody>
      </p:sp>
    </p:spTree>
    <p:extLst>
      <p:ext uri="{BB962C8B-B14F-4D97-AF65-F5344CB8AC3E}">
        <p14:creationId xmlns:p14="http://schemas.microsoft.com/office/powerpoint/2010/main" val="40208156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3FDE5-7BB9-40BD-2365-3DDC398C5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F6E89A-BE66-257A-7D34-BA625D5C3DD7}"/>
              </a:ext>
            </a:extLst>
          </p:cNvPr>
          <p:cNvSpPr txBox="1"/>
          <p:nvPr/>
        </p:nvSpPr>
        <p:spPr>
          <a:xfrm>
            <a:off x="-1656" y="0"/>
            <a:ext cx="12193656" cy="6160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Что мы изучили за курс?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32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</a:t>
            </a:r>
            <a:r>
              <a:rPr lang="ru-RU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</a:t>
            </a:r>
            <a:r>
              <a:rPr lang="en-US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Stories, MVP, </a:t>
            </a:r>
            <a:r>
              <a:rPr lang="en-US" sz="32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MoSCoW</a:t>
            </a:r>
            <a:endParaRPr lang="en-US" sz="32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32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Принципы</a:t>
            </a:r>
            <a:r>
              <a:rPr lang="ru-RU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</a:t>
            </a:r>
            <a:r>
              <a:rPr lang="en-US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SOLID, GRASP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32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Паттерны</a:t>
            </a:r>
            <a:r>
              <a:rPr lang="ru-RU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порождающие, структурные, поведенческие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32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</a:t>
            </a:r>
            <a:r>
              <a:rPr lang="ru-RU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многослойная, микросервисы, </a:t>
            </a:r>
            <a:r>
              <a:rPr lang="en-US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32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Качество кода</a:t>
            </a:r>
            <a:r>
              <a:rPr lang="ru-RU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</a:t>
            </a:r>
            <a:r>
              <a:rPr lang="en-US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Technical Debt, Code Smells, </a:t>
            </a:r>
            <a:r>
              <a:rPr lang="ru-RU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рефакторинг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32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</a:t>
            </a:r>
            <a:r>
              <a:rPr lang="ru-RU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юнит, интеграционные, </a:t>
            </a:r>
            <a:r>
              <a:rPr lang="en-US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E2E, TDD, BDD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32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CI/CD</a:t>
            </a:r>
            <a:r>
              <a:rPr lang="en-US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GitHub Actions, Docker, </a:t>
            </a:r>
            <a:r>
              <a:rPr lang="ru-RU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автоматизация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32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</a:t>
            </a:r>
            <a:r>
              <a:rPr lang="ru-RU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оценки, риски, команда, софт-скиллы</a:t>
            </a:r>
          </a:p>
        </p:txBody>
      </p:sp>
    </p:spTree>
    <p:extLst>
      <p:ext uri="{BB962C8B-B14F-4D97-AF65-F5344CB8AC3E}">
        <p14:creationId xmlns:p14="http://schemas.microsoft.com/office/powerpoint/2010/main" val="9943991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3B384-0C01-2EDC-CFC8-2F0C29CB9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EBF4DEF-120E-F173-E728-13395D7B3888}"/>
              </a:ext>
            </a:extLst>
          </p:cNvPr>
          <p:cNvSpPr txBox="1"/>
          <p:nvPr/>
        </p:nvSpPr>
        <p:spPr>
          <a:xfrm>
            <a:off x="0" y="2104"/>
            <a:ext cx="12192000" cy="6509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400"/>
              </a:spcBef>
              <a:buNone/>
            </a:pPr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Что дальше?</a:t>
            </a:r>
          </a:p>
          <a:p>
            <a:pPr algn="l">
              <a:spcBef>
                <a:spcPts val="1200"/>
              </a:spcBef>
              <a:buNone/>
            </a:pPr>
            <a:r>
              <a:rPr lang="ru-RU" sz="32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углубления:</a:t>
            </a:r>
            <a:endParaRPr lang="ru-RU" sz="32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32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Системный дизайн</a:t>
            </a:r>
            <a:r>
              <a:rPr lang="ru-RU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"</a:t>
            </a:r>
            <a:r>
              <a:rPr lang="en-US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Designing Data-Intensive Applications"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32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</a:t>
            </a:r>
            <a:r>
              <a:rPr lang="ru-RU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"</a:t>
            </a:r>
            <a:r>
              <a:rPr lang="en-US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 Architecture" (</a:t>
            </a:r>
            <a:r>
              <a:rPr lang="ru-RU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Роберт Мартин)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32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</a:t>
            </a:r>
            <a:r>
              <a:rPr lang="ru-RU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"</a:t>
            </a:r>
            <a:r>
              <a:rPr lang="en-US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Mythical Man-Month" (</a:t>
            </a:r>
            <a:r>
              <a:rPr lang="ru-RU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Фредерик Брукс)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32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Команда</a:t>
            </a:r>
            <a:r>
              <a:rPr lang="ru-RU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"</a:t>
            </a:r>
            <a:r>
              <a:rPr lang="en-US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Five Dysfunctions of a Team" (</a:t>
            </a:r>
            <a:r>
              <a:rPr lang="ru-RU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Патрик </a:t>
            </a:r>
            <a:r>
              <a:rPr lang="ru-RU" sz="32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Ленсиони</a:t>
            </a:r>
            <a:r>
              <a:rPr lang="ru-RU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>
              <a:spcBef>
                <a:spcPts val="1200"/>
              </a:spcBef>
              <a:buNone/>
            </a:pPr>
            <a:r>
              <a:rPr lang="ru-RU" sz="32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практики:</a:t>
            </a:r>
            <a:endParaRPr lang="ru-RU" sz="32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Внедрите </a:t>
            </a:r>
            <a:r>
              <a:rPr lang="en-US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CI/CD </a:t>
            </a:r>
            <a:r>
              <a:rPr lang="ru-RU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свой проект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Проведите </a:t>
            </a:r>
            <a:r>
              <a:rPr lang="en-US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 review </a:t>
            </a:r>
            <a:r>
              <a:rPr lang="ru-RU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команде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Оцените технический долг через </a:t>
            </a:r>
            <a:r>
              <a:rPr lang="en-US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SonarQube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Напишите тесты для </a:t>
            </a:r>
            <a:r>
              <a:rPr lang="en-US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legacy-</a:t>
            </a:r>
            <a:r>
              <a:rPr lang="ru-RU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кода</a:t>
            </a:r>
          </a:p>
        </p:txBody>
      </p:sp>
    </p:spTree>
    <p:extLst>
      <p:ext uri="{BB962C8B-B14F-4D97-AF65-F5344CB8AC3E}">
        <p14:creationId xmlns:p14="http://schemas.microsoft.com/office/powerpoint/2010/main" val="27460062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B72BE-6B6B-79EA-8ACA-97B68EF42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53635C-4E13-C2E8-E5E7-ED40B2DE24AB}"/>
              </a:ext>
            </a:extLst>
          </p:cNvPr>
          <p:cNvSpPr txBox="1"/>
          <p:nvPr/>
        </p:nvSpPr>
        <p:spPr>
          <a:xfrm>
            <a:off x="-1656" y="0"/>
            <a:ext cx="12193656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Задание 1: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Напишите эссе на тему "Что я понял о программной инженерии за этот курс". Объём: 300-500 слов. Ответьте на вопросы: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Что было самым полезным?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Что было самым сложным?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Как изменилось ваше отношение к разработке?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Что вы примените в своих проектах?</a:t>
            </a:r>
          </a:p>
          <a:p>
            <a:pPr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Задание 2: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Оцените свой уровень по каждой теме курса (от 1 до 5):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Требования и User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Stories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SOLID и GRASP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Паттерны проектирования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Архитектурные стили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Качество кода и технический долг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Тестирование и TDD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CI/CD и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DevOps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Управление проектами</a:t>
            </a:r>
          </a:p>
          <a:p>
            <a:pPr>
              <a:buNone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Для каждой темы напишите одно действие, которое поможет улучшить уровень.</a:t>
            </a:r>
          </a:p>
          <a:p>
            <a:pPr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Задание 3: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Проведите ретроспективу своего учебного проекта: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Что получилось хорошо?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Что пошло не так?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Что можно улучшить в следующем проекте?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Какой технический долг накопился?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Как бы вы изменили процесс, если бы начинали заново?</a:t>
            </a:r>
          </a:p>
          <a:p>
            <a:pPr>
              <a:buNone/>
            </a:pP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08478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B03BF-C472-BEEC-EFB6-0C4985C82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93CBE75-088C-4D76-627E-20F99B6D47AB}"/>
              </a:ext>
            </a:extLst>
          </p:cNvPr>
          <p:cNvSpPr txBox="1"/>
          <p:nvPr/>
        </p:nvSpPr>
        <p:spPr>
          <a:xfrm>
            <a:off x="3514725" y="226037"/>
            <a:ext cx="6396037" cy="352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80"/>
              </a:lnSpc>
              <a:buNone/>
            </a:pPr>
            <a:r>
              <a:rPr lang="ru-RU" sz="3200" b="1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ДОМАШНЕЕ ЗАДАНИЕ</a:t>
            </a:r>
            <a:endParaRPr lang="ru-RU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1C58D6-AFC2-E770-B77D-347CE734978A}"/>
              </a:ext>
            </a:extLst>
          </p:cNvPr>
          <p:cNvSpPr txBox="1"/>
          <p:nvPr/>
        </p:nvSpPr>
        <p:spPr>
          <a:xfrm>
            <a:off x="0" y="498544"/>
            <a:ext cx="121920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6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1:</a:t>
            </a:r>
            <a:br>
              <a:rPr lang="ru-RU" sz="16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Напишите эссе на тему "Что я понял о программной инженерии за этот курс". Объём: 300-500 слов. Ответьте на вопросы: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Что было самым полезным?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Что было самым сложным?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Как изменилось ваше отношение к разработке?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Что вы примените в своих проектах?</a:t>
            </a:r>
          </a:p>
          <a:p>
            <a:pPr>
              <a:buNone/>
            </a:pPr>
            <a:r>
              <a:rPr lang="ru-RU" sz="16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2:</a:t>
            </a:r>
            <a:br>
              <a:rPr lang="ru-RU" sz="16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Оцените свой уровень по каждой теме курса (от 1 до 5):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 и User </a:t>
            </a:r>
            <a:r>
              <a:rPr lang="ru-RU" sz="1600" dirty="0" err="1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Stories</a:t>
            </a:r>
            <a:endParaRPr lang="ru-RU" sz="1600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SOLID и GRASP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Паттерны проектирования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Архитектурные стили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Качество кода и технический долг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и TDD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CI/CD и </a:t>
            </a:r>
            <a:r>
              <a:rPr lang="ru-RU" sz="1600" dirty="0" err="1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endParaRPr lang="ru-RU" sz="1600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проектами</a:t>
            </a:r>
          </a:p>
          <a:p>
            <a:pPr>
              <a:buNone/>
            </a:pPr>
            <a:r>
              <a:rPr lang="ru-RU" sz="16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каждой темы напишите одно действие, которое поможет улучшить уровень.</a:t>
            </a:r>
          </a:p>
          <a:p>
            <a:pPr>
              <a:buNone/>
            </a:pPr>
            <a:r>
              <a:rPr lang="ru-RU" sz="16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3:</a:t>
            </a:r>
            <a:br>
              <a:rPr lang="ru-RU" sz="16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Проведите ретроспективу своего учебного проекта: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Что получилось хорошо?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Что пошло не так?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Что можно улучшить в следующем проекте?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Какой технический долг накопился?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Как бы вы изменили процесс, если бы начинали заново?</a:t>
            </a:r>
          </a:p>
        </p:txBody>
      </p:sp>
    </p:spTree>
    <p:extLst>
      <p:ext uri="{BB962C8B-B14F-4D97-AF65-F5344CB8AC3E}">
        <p14:creationId xmlns:p14="http://schemas.microsoft.com/office/powerpoint/2010/main" val="32400059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DEF72-F8A0-1FFC-6085-6CA2E66D6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B1E0FBD-FB4F-7841-D093-81A1F308ABDF}"/>
              </a:ext>
            </a:extLst>
          </p:cNvPr>
          <p:cNvSpPr txBox="1"/>
          <p:nvPr/>
        </p:nvSpPr>
        <p:spPr>
          <a:xfrm>
            <a:off x="0" y="146524"/>
            <a:ext cx="12191999" cy="352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ДОПОЛНИТЕЛЬНЫЕ МАТЕРИАЛЫ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40A4DF-F83C-EC78-AD02-9A9B1B914CCA}"/>
              </a:ext>
            </a:extLst>
          </p:cNvPr>
          <p:cNvSpPr txBox="1"/>
          <p:nvPr/>
        </p:nvSpPr>
        <p:spPr>
          <a:xfrm>
            <a:off x="2" y="498543"/>
            <a:ext cx="12191998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Классика: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Фредерик Брукс — "Мифический человеко-месяц"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Роберт Мартин — "Чистый код"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Роберт Мартин — "Чистая архитектура"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Мартин Фаулер — "Рефакторинг"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Стив Макконнелл — "Совершенный код"</a:t>
            </a: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Джим Ким — "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DevOps Handbook"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Патрик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Ленсиони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"Пять пороков команды"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Дэвид Андерсон — "Канбан для команд"</a:t>
            </a: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Карьера: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Гейл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Лакман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Макдауэлл — "Карьера программиста"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Адельвальд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"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Skills for Software Developers"</a:t>
            </a: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Бесплатно онлайн: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SRE Book — 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sre.google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Martin Fowler Blog —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martinfowler.com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Joel on Software —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joelonsoftware.com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27101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6474</TotalTime>
  <Words>1793</Words>
  <Application>Microsoft Office PowerPoint</Application>
  <PresentationFormat>Широкоэкранный</PresentationFormat>
  <Paragraphs>305</Paragraphs>
  <Slides>22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quote-cjk-patch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Арсентий Абдалов</dc:creator>
  <cp:lastModifiedBy>Элеонора Баранова</cp:lastModifiedBy>
  <cp:revision>27</cp:revision>
  <dcterms:created xsi:type="dcterms:W3CDTF">2025-09-19T18:20:34Z</dcterms:created>
  <dcterms:modified xsi:type="dcterms:W3CDTF">2026-04-04T15:50:31Z</dcterms:modified>
</cp:coreProperties>
</file>