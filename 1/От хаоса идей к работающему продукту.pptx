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7" r:id="rId2"/>
    <p:sldId id="278" r:id="rId3"/>
    <p:sldId id="270" r:id="rId4"/>
    <p:sldId id="271" r:id="rId5"/>
    <p:sldId id="272" r:id="rId6"/>
    <p:sldId id="273" r:id="rId7"/>
    <p:sldId id="274" r:id="rId8"/>
    <p:sldId id="277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BC342A6-ADBF-4A93-959C-905264E2A055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DDEE919-4DED-44C0-987E-F2281147C091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007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2A6-ADBF-4A93-959C-905264E2A055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E919-4DED-44C0-987E-F2281147C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3180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2A6-ADBF-4A93-959C-905264E2A055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E919-4DED-44C0-987E-F2281147C091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198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2A6-ADBF-4A93-959C-905264E2A055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E919-4DED-44C0-987E-F2281147C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071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2A6-ADBF-4A93-959C-905264E2A055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E919-4DED-44C0-987E-F2281147C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027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2A6-ADBF-4A93-959C-905264E2A055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E919-4DED-44C0-987E-F2281147C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979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2A6-ADBF-4A93-959C-905264E2A055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E919-4DED-44C0-987E-F2281147C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495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2A6-ADBF-4A93-959C-905264E2A055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E919-4DED-44C0-987E-F2281147C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888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2A6-ADBF-4A93-959C-905264E2A055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E919-4DED-44C0-987E-F2281147C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1753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2A6-ADBF-4A93-959C-905264E2A055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E919-4DED-44C0-987E-F2281147C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9455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2A6-ADBF-4A93-959C-905264E2A055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E919-4DED-44C0-987E-F2281147C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446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2A6-ADBF-4A93-959C-905264E2A055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E919-4DED-44C0-987E-F2281147C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6734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2BC342A6-ADBF-4A93-959C-905264E2A055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DDEE919-4DED-44C0-987E-F2281147C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52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Picture backgroun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3" t="6083" r="5439" b="7056"/>
          <a:stretch/>
        </p:blipFill>
        <p:spPr bwMode="auto">
          <a:xfrm>
            <a:off x="1190624" y="2319844"/>
            <a:ext cx="7523070" cy="39207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448300" y="326722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Наша дорожная карта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Выполнили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Базин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В.А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Лаврушин Я.С.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Баранова Э.С.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Калашникова Е.А.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Калашников П.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3487271" y="712319"/>
            <a:ext cx="10544324" cy="1356360"/>
          </a:xfrm>
        </p:spPr>
        <p:txBody>
          <a:bodyPr>
            <a:normAutofit/>
          </a:bodyPr>
          <a:lstStyle/>
          <a:p>
            <a:r>
              <a:rPr lang="ru-RU" sz="6000" dirty="0" smtClean="0"/>
              <a:t>«</a:t>
            </a:r>
            <a:r>
              <a:rPr lang="ru-RU" sz="6000" dirty="0" err="1" smtClean="0">
                <a:solidFill>
                  <a:schemeClr val="accent1">
                    <a:lumMod val="75000"/>
                  </a:schemeClr>
                </a:solidFill>
              </a:rPr>
              <a:t>ДоедуЛиЯ</a:t>
            </a:r>
            <a:r>
              <a:rPr lang="ru-RU" sz="6000" dirty="0" smtClean="0"/>
              <a:t>»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109362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b="1" dirty="0" smtClean="0">
                <a:solidFill>
                  <a:srgbClr val="2D37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Сложный спор в команде</a:t>
            </a:r>
            <a:endParaRPr lang="ru-RU" sz="3200" b="1" dirty="0">
              <a:solidFill>
                <a:srgbClr val="2D37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199" y="1456656"/>
            <a:ext cx="10846777" cy="500569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2000" kern="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2000" kern="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Разногласия относительно того, что входит в MVP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2000" kern="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Как расставлять приоритеты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2000" kern="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Риск «раздувания» первой версии (</a:t>
            </a:r>
            <a:r>
              <a:rPr lang="ru-RU" sz="2000" kern="3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ru-RU" sz="2000" kern="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kern="3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Creep</a:t>
            </a:r>
            <a:r>
              <a:rPr lang="ru-RU" sz="2000" kern="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2000" kern="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Отсрочка выхода на рынок и увеличение бюджета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2000" kern="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2000" kern="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Утвердить единое видение MVP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2000" kern="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Зафиксировать приоритеты по методу </a:t>
            </a:r>
            <a:r>
              <a:rPr lang="ru-RU" sz="2000" kern="3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MoSCoW</a:t>
            </a:r>
            <a:endParaRPr lang="ru-RU" sz="2000" kern="3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2000" kern="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Запустить разработку</a:t>
            </a:r>
            <a:endParaRPr lang="ru-RU" sz="2000" kern="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255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222389"/>
              </p:ext>
            </p:extLst>
          </p:nvPr>
        </p:nvGraphicFramePr>
        <p:xfrm>
          <a:off x="645694" y="1840329"/>
          <a:ext cx="10876548" cy="37378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66547">
                  <a:extLst>
                    <a:ext uri="{9D8B030D-6E8A-4147-A177-3AD203B41FA5}">
                      <a16:colId xmlns:a16="http://schemas.microsoft.com/office/drawing/2014/main" val="2360406411"/>
                    </a:ext>
                  </a:extLst>
                </a:gridCol>
                <a:gridCol w="3271727">
                  <a:extLst>
                    <a:ext uri="{9D8B030D-6E8A-4147-A177-3AD203B41FA5}">
                      <a16:colId xmlns:a16="http://schemas.microsoft.com/office/drawing/2014/main" val="505160049"/>
                    </a:ext>
                  </a:extLst>
                </a:gridCol>
                <a:gridCol w="2719137">
                  <a:extLst>
                    <a:ext uri="{9D8B030D-6E8A-4147-A177-3AD203B41FA5}">
                      <a16:colId xmlns:a16="http://schemas.microsoft.com/office/drawing/2014/main" val="1051135037"/>
                    </a:ext>
                  </a:extLst>
                </a:gridCol>
                <a:gridCol w="2719137">
                  <a:extLst>
                    <a:ext uri="{9D8B030D-6E8A-4147-A177-3AD203B41FA5}">
                      <a16:colId xmlns:a16="http://schemas.microsoft.com/office/drawing/2014/main" val="4244644769"/>
                    </a:ext>
                  </a:extLst>
                </a:gridCol>
              </a:tblGrid>
              <a:tr h="48364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</a:rPr>
                        <a:t>Критерий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MVP (Критическое)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Важное / Улучшения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Косметика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8029214"/>
                  </a:ext>
                </a:extLst>
              </a:tr>
              <a:tr h="98962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Влияние на бизнес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</a:rPr>
                        <a:t>Выживание. Без этого нет сервиса.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Рост. Увеличивает конверсию/удержание.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Вау-эффект. Эмоции, брендинг.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8568668"/>
                  </a:ext>
                </a:extLst>
              </a:tr>
              <a:tr h="106754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</a:rPr>
                        <a:t>Риск отсутствия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Критический. Штрафы, травмы, 0 выручки.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Средний. Недовольство части пользователей.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Низкий. Пользователи не заметят.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6985297"/>
                  </a:ext>
                </a:extLst>
              </a:tr>
              <a:tr h="119699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Сложность реализации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Высокая (ядро системы), но обязательная.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Средняя/Высокая (требует доп. интеграций).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</a:rPr>
                        <a:t>Низкая, но отвлекает ресурсы.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876845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3995578" y="388839"/>
            <a:ext cx="32624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Приоритизация</a:t>
            </a:r>
            <a:r>
              <a:rPr lang="ru-RU" sz="32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786532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Picture background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826" y="805763"/>
            <a:ext cx="4467948" cy="5570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89811" y="1251285"/>
            <a:ext cx="8454189" cy="4469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ru-RU" sz="2400" u="sng" dirty="0" err="1">
                <a:latin typeface="Times New Roman" panose="02020603050405020304" pitchFamily="18" charset="0"/>
                <a:ea typeface="Calibri" panose="020F0502020204030204" pitchFamily="34" charset="0"/>
                <a:cs typeface="Segoe UI Symbol" panose="020B0502040204020203" pitchFamily="34" charset="0"/>
              </a:rPr>
              <a:t>Must</a:t>
            </a:r>
            <a:r>
              <a:rPr lang="ru-RU" sz="2400" u="sng" dirty="0">
                <a:latin typeface="Times New Roman" panose="02020603050405020304" pitchFamily="18" charset="0"/>
                <a:ea typeface="Calibri" panose="020F0502020204030204" pitchFamily="34" charset="0"/>
                <a:cs typeface="Segoe UI Symbol" panose="020B0502040204020203" pitchFamily="34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ea typeface="Calibri" panose="020F0502020204030204" pitchFamily="34" charset="0"/>
                <a:cs typeface="Segoe UI Symbol" panose="020B0502040204020203" pitchFamily="34" charset="0"/>
              </a:rPr>
              <a:t>Have</a:t>
            </a:r>
            <a:r>
              <a:rPr lang="ru-RU" sz="2400" u="sng" dirty="0">
                <a:latin typeface="Times New Roman" panose="02020603050405020304" pitchFamily="18" charset="0"/>
                <a:ea typeface="Calibri" panose="020F0502020204030204" pitchFamily="34" charset="0"/>
                <a:cs typeface="Segoe UI Symbol" panose="020B0502040204020203" pitchFamily="34" charset="0"/>
              </a:rPr>
              <a:t> (Должно быть) — Релиз 1.0</a:t>
            </a:r>
            <a:endParaRPr lang="ru-RU" sz="2400" u="sng" dirty="0">
              <a:latin typeface="Calibri" panose="020F0502020204030204" pitchFamily="34" charset="0"/>
              <a:ea typeface="Calibri" panose="020F0502020204030204" pitchFamily="34" charset="0"/>
              <a:cs typeface="Segoe UI Symbol" panose="020B0502040204020203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Это наш MVP. Без этого не выходим на рынок.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Карта: Самокаты в реальном времени + заряд.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Фильтр: Только заряд &gt;30%.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Онбординг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QR ≤10 сек (мин. регистрация).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Безопасность: Экстренная остановка (гироскоп).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Парковка: Чёткие зоны на карте.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Биллинг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Прозрачный расчёт (₽/мин + ₽/км).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Поддержка: Сообщение о неисправности (1 тап).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310035" y="372797"/>
            <a:ext cx="38120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MoSCoW</a:t>
            </a:r>
            <a:r>
              <a:rPr lang="ru-RU" sz="3200" b="1" dirty="0">
                <a:latin typeface="Times New Roman" panose="02020603050405020304" pitchFamily="18" charset="0"/>
                <a:ea typeface="Calibri" panose="020F0502020204030204" pitchFamily="34" charset="0"/>
              </a:rPr>
              <a:t> Матрица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15521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866274" y="1187117"/>
            <a:ext cx="9849852" cy="4469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ru-RU" sz="2400" u="sng" dirty="0" err="1">
                <a:latin typeface="Times New Roman" panose="02020603050405020304" pitchFamily="18" charset="0"/>
                <a:ea typeface="Calibri" panose="020F0502020204030204" pitchFamily="34" charset="0"/>
                <a:cs typeface="Segoe UI Symbol" panose="020B0502040204020203" pitchFamily="34" charset="0"/>
              </a:rPr>
              <a:t>Should</a:t>
            </a:r>
            <a:r>
              <a:rPr lang="ru-RU" sz="2400" u="sng" dirty="0">
                <a:latin typeface="Times New Roman" panose="02020603050405020304" pitchFamily="18" charset="0"/>
                <a:ea typeface="Calibri" panose="020F0502020204030204" pitchFamily="34" charset="0"/>
                <a:cs typeface="Segoe UI Symbol" panose="020B0502040204020203" pitchFamily="34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ea typeface="Calibri" panose="020F0502020204030204" pitchFamily="34" charset="0"/>
                <a:cs typeface="Segoe UI Symbol" panose="020B0502040204020203" pitchFamily="34" charset="0"/>
              </a:rPr>
              <a:t>Have</a:t>
            </a:r>
            <a:r>
              <a:rPr lang="ru-RU" sz="2400" u="sng" dirty="0">
                <a:latin typeface="Times New Roman" panose="02020603050405020304" pitchFamily="18" charset="0"/>
                <a:ea typeface="Calibri" panose="020F0502020204030204" pitchFamily="34" charset="0"/>
                <a:cs typeface="Segoe UI Symbol" panose="020B0502040204020203" pitchFamily="34" charset="0"/>
              </a:rPr>
              <a:t> (Следует иметь) — Релиз 1.5 (1-2 месяца)</a:t>
            </a:r>
            <a:endParaRPr lang="ru-RU" sz="2400" u="sng" dirty="0">
              <a:latin typeface="Calibri" panose="020F0502020204030204" pitchFamily="34" charset="0"/>
              <a:ea typeface="Calibri" panose="020F0502020204030204" pitchFamily="34" charset="0"/>
              <a:cs typeface="Segoe UI Symbol" panose="020B0502040204020203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Важно для конкурентоспособности, но можно запустить без этого.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Навигация: Прогноз времени с учётом пробок.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Бронь: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Предзаказ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на 2 часа.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Технологии: NFC для туристов.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Безопасность: Адаптивная скорость на спусках.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Контроль: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Валидация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парковки через фото.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Биллинг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Пауза поездки (до 5 мин).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Профиль: Лимит скорости (родительский контроль).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310035" y="372797"/>
            <a:ext cx="38120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MoSCoW</a:t>
            </a:r>
            <a:r>
              <a:rPr lang="ru-RU" sz="3200" b="1" dirty="0">
                <a:latin typeface="Times New Roman" panose="02020603050405020304" pitchFamily="18" charset="0"/>
                <a:ea typeface="Calibri" panose="020F0502020204030204" pitchFamily="34" charset="0"/>
              </a:rPr>
              <a:t> Матрица </a:t>
            </a:r>
            <a:endParaRPr lang="ru-RU" sz="3200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141" y="2102205"/>
            <a:ext cx="2838059" cy="3784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18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250" y="2949575"/>
            <a:ext cx="5187950" cy="259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962525" y="1299411"/>
            <a:ext cx="10507579" cy="4469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ru-RU" sz="2400" u="sng" dirty="0" err="1">
                <a:latin typeface="Times New Roman" panose="02020603050405020304" pitchFamily="18" charset="0"/>
                <a:ea typeface="Calibri" panose="020F0502020204030204" pitchFamily="34" charset="0"/>
                <a:cs typeface="Segoe UI Symbol" panose="020B0502040204020203" pitchFamily="34" charset="0"/>
              </a:rPr>
              <a:t>Could</a:t>
            </a:r>
            <a:r>
              <a:rPr lang="ru-RU" sz="2400" u="sng" dirty="0">
                <a:latin typeface="Times New Roman" panose="02020603050405020304" pitchFamily="18" charset="0"/>
                <a:ea typeface="Calibri" panose="020F0502020204030204" pitchFamily="34" charset="0"/>
                <a:cs typeface="Segoe UI Symbol" panose="020B0502040204020203" pitchFamily="34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ea typeface="Calibri" panose="020F0502020204030204" pitchFamily="34" charset="0"/>
                <a:cs typeface="Segoe UI Symbol" panose="020B0502040204020203" pitchFamily="34" charset="0"/>
              </a:rPr>
              <a:t>Have</a:t>
            </a:r>
            <a:r>
              <a:rPr lang="ru-RU" sz="2400" u="sng" dirty="0">
                <a:latin typeface="Times New Roman" panose="02020603050405020304" pitchFamily="18" charset="0"/>
                <a:ea typeface="Calibri" panose="020F0502020204030204" pitchFamily="34" charset="0"/>
                <a:cs typeface="Segoe UI Symbol" panose="020B0502040204020203" pitchFamily="34" charset="0"/>
              </a:rPr>
              <a:t> (Могло бы быть) — Релиз 2.0 (3-6 месяцев)</a:t>
            </a:r>
            <a:endParaRPr lang="ru-RU" sz="2400" u="sng" dirty="0">
              <a:latin typeface="Calibri" panose="020F0502020204030204" pitchFamily="34" charset="0"/>
              <a:ea typeface="Calibri" panose="020F0502020204030204" pitchFamily="34" charset="0"/>
              <a:cs typeface="Segoe UI Symbol" panose="020B0502040204020203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Улучшения для удержания (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Retention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и маркетинга.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Пуши: Уведомления у метро.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Погода: Фильтр самокатов с подкрылками.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UX: Голосовое управление.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Геймификация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Эко-баллы за велодорожки.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Тех: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Автозавершение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при потере связи.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История: Карта маршрутов с фото.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Баг-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баунти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Бонус 30 ₽ за критический баг.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310035" y="372797"/>
            <a:ext cx="38120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MoSCoW</a:t>
            </a:r>
            <a:r>
              <a:rPr lang="ru-RU" sz="3200" b="1" dirty="0">
                <a:latin typeface="Times New Roman" panose="02020603050405020304" pitchFamily="18" charset="0"/>
                <a:ea typeface="Calibri" panose="020F0502020204030204" pitchFamily="34" charset="0"/>
              </a:rPr>
              <a:t> Матрица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0147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21894" y="1253821"/>
            <a:ext cx="10218821" cy="4443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ru-RU" sz="2400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Won't</a:t>
            </a:r>
            <a:r>
              <a:rPr lang="ru-RU" sz="24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ru-RU" sz="24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(Не сейчас) — </a:t>
            </a:r>
            <a:r>
              <a:rPr lang="ru-RU" sz="2400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Бэклог</a:t>
            </a:r>
            <a:r>
              <a:rPr lang="ru-RU" sz="24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 Косметика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Откладываем до стабилизации основных процессов.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Анимация «Самокат летит».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Игровой элемент «Найди 3 самоката».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Звуковой тембр разблокировки.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Режим «Ведомый» (обучение).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3D-анимация парковки с конфетти.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Магазин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мерча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за баллы.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«День рождения самоката».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0035" y="372797"/>
            <a:ext cx="38120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MoSCoW</a:t>
            </a:r>
            <a:r>
              <a:rPr lang="ru-RU" sz="3200" b="1" dirty="0">
                <a:latin typeface="Times New Roman" panose="02020603050405020304" pitchFamily="18" charset="0"/>
                <a:ea typeface="Calibri" panose="020F0502020204030204" pitchFamily="34" charset="0"/>
              </a:rPr>
              <a:t> Матрица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270832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4782" y="324383"/>
            <a:ext cx="6177882" cy="6228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097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Базис">
  <a:themeElements>
    <a:clrScheme name="Базис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Базис</Template>
  <TotalTime>20</TotalTime>
  <Words>448</Words>
  <Application>Microsoft Office PowerPoint</Application>
  <PresentationFormat>Широкоэкранный</PresentationFormat>
  <Paragraphs>76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Corbel</vt:lpstr>
      <vt:lpstr>Segoe UI Symbol</vt:lpstr>
      <vt:lpstr>Times New Roman</vt:lpstr>
      <vt:lpstr>Базис</vt:lpstr>
      <vt:lpstr>«ДоедуЛиЯ»</vt:lpstr>
      <vt:lpstr>Сложный спор в команде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 хаоса идей к работающему продукту</dc:title>
  <dc:creator>User</dc:creator>
  <cp:lastModifiedBy>User</cp:lastModifiedBy>
  <cp:revision>13</cp:revision>
  <dcterms:created xsi:type="dcterms:W3CDTF">2026-02-28T07:34:14Z</dcterms:created>
  <dcterms:modified xsi:type="dcterms:W3CDTF">2026-02-28T07:58:16Z</dcterms:modified>
</cp:coreProperties>
</file>