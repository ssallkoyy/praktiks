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59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7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60" d="100"/>
          <a:sy n="60" d="100"/>
        </p:scale>
        <p:origin x="78" y="876"/>
      </p:cViewPr>
      <p:guideLst>
        <p:guide orient="horz" pos="197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06F939B-D03E-D30C-A810-EEBDA71382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9D796D6E-ADE2-CD1C-C647-8F50E69FF1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8254BB7D-7194-4C9C-A117-D81E37A6B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07.03.2026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41B689A0-1B10-B447-8DF5-B76FB086E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2D72CFA4-E6B4-684D-9E2A-C1B96748D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3290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B3E55A4-6149-A983-0363-BFE7D04E4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71FAB9FE-B873-3E72-E18C-39A157123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4BEC2870-7F6E-109B-8041-25E74D47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07.03.2026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0813C32C-236A-F54D-E292-41D0CA490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664F8EDF-1B27-7091-7D47-5775A543A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837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50AFCB83-D2FC-83AB-039E-72B248473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21E649E9-8EA1-1378-239D-EFC635AF16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05EE3025-46A2-5F31-ED73-E78860B35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07.03.2026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9D806FFF-C6C0-5DE1-F22F-F4C6828D0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BD8F3275-CFFB-FB65-9D5C-14A3FAF5B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4049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956727-548A-3309-C384-2C15A8C9F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6D70AFF7-FE6C-8D72-91DE-19FECB3BBF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F80A1665-FAD8-2AA9-4057-198007F3F6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E89E6712-3ED8-DABB-C8FC-43C31B7AB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07.03.2026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FB20F49A-8F5E-A113-1FFC-C2501B616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7B6FB815-92B1-1F33-286B-8343A8E90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8956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28C89510-A44E-03DE-C188-5FEEA9641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B529430F-EA7F-1C72-879C-4BBC4175BE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366FDB1E-510D-4A5F-8A3F-9B1F5D08D2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454DC8E5-52AA-7753-3566-A382C6CE5F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xmlns="" id="{A7779F90-47D7-2460-83A8-B62CAEB878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xmlns="" id="{850C7755-3347-4D90-6EF8-2DD306C3F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07.03.2026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xmlns="" id="{EBDDCA8A-A2AF-401A-C284-5EA347E38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xmlns="" id="{601B781E-BB26-1167-2ACB-AD005A8FB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6309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7F3A3E7-F129-6CD9-9D39-C0C4BD52E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B4DBD420-4980-6586-AF75-9993055C4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07.03.2026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EAA0E24F-43AF-7E00-5BDC-D271F6C8C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79ED13AB-62D2-A8C2-247B-6C990616B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2463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xmlns="" id="{9830C6C5-A9A9-A031-9835-3E445316D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07.03.2026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xmlns="" id="{8D157B3B-236F-59DB-B6BD-126655F86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818F42D4-D553-08AE-0D3F-1AE23CB37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7519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7AC2B731-F2CF-CED1-E595-603B6F460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686A1EE9-BB36-302B-9B21-7BC53E358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CF993FB8-D340-AA88-8A83-9F640F14BA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3CE24426-0AF0-F702-3E6F-EB5E7FD50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07.03.2026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CF127403-AFF5-A1F1-C38B-EAE576746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ADD87016-7C3B-8820-5FFA-E1F41226C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7180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70083BC2-5D8C-6DCC-9DB4-22045EA48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xmlns="" id="{B43429BF-C80C-6FB7-B257-57CBDC1FDD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57AF6F03-3F54-0FBC-2041-1417E6AF34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797682CD-F275-E00C-9E86-EC98EA0FF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07.03.2026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69F279DD-417B-2C4B-28BA-0A5350BBA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1514FC7C-95BE-CB51-FA62-273D7A50E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7616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5950BA6A-9AE9-7C7A-3926-887923A35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B89E3E1A-29AD-799B-AF38-5D6203AD2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09281B96-8B5E-3649-E736-48828CE42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07.03.2026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E2B8976D-6341-2F02-209A-1BABFE625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9576A6FD-5AF5-7F33-A734-7DD6D253A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4221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xmlns="" id="{DCB62C44-C171-CB5F-5F56-26B88D1D7A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2B4AD2F9-ED0C-7417-1C1D-386663A0E2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E38FE3A7-8B80-C7F0-DB9F-7B2D2E1B4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07.03.2026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0D74A1F5-D0C0-746C-9FDA-EAFD1369D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C4B8AE5F-419C-3412-B52D-B3C77E65A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4399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10A8ACE-89FD-86A8-11E5-2DE20E721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A973113E-A006-24C6-0730-C1738BF2D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39570BD6-0B00-7DFA-125A-629E83DD7C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A62E36-7B94-44FF-8913-FF4B90064E98}" type="datetimeFigureOut">
              <a:rPr lang="ru-RU" smtClean="0"/>
              <a:t>07.03.2026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0CC25892-923C-BAE0-48E6-F7061E8AD4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B7C92736-5165-6F55-7961-EA2F0F9565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9764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xmlns="" id="{68A2FC49-0F3D-10F3-3C58-C150ADDDA79A}"/>
              </a:ext>
            </a:extLst>
          </p:cNvPr>
          <p:cNvSpPr>
            <a:spLocks noGrp="1"/>
          </p:cNvSpPr>
          <p:nvPr/>
        </p:nvSpPr>
        <p:spPr>
          <a:xfrm>
            <a:off x="767408" y="637906"/>
            <a:ext cx="10009112" cy="115212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Программная инженерия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xmlns="" id="{4CF9474D-52CF-A0C1-82BD-88882A3B6B89}"/>
              </a:ext>
            </a:extLst>
          </p:cNvPr>
          <p:cNvSpPr/>
          <p:nvPr/>
        </p:nvSpPr>
        <p:spPr>
          <a:xfrm>
            <a:off x="2328709" y="5850762"/>
            <a:ext cx="7357848" cy="36933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ru-RU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СРЕДНЕРУССКИЙ ИНСТИТУТ УПРАВЛЕНИЯ - РАНХиГС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xmlns="" id="{6D372B26-2A09-4EED-6486-A25A87BA09D9}"/>
              </a:ext>
            </a:extLst>
          </p:cNvPr>
          <p:cNvSpPr/>
          <p:nvPr/>
        </p:nvSpPr>
        <p:spPr>
          <a:xfrm>
            <a:off x="1991544" y="5073564"/>
            <a:ext cx="7560840" cy="6463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Доцент кафедры «Математики и информационных технологий», кандидат технических наук Абдалов Арсентий Владимирович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xmlns="" id="{C8FFEF4D-BCEA-CBA4-F2AB-011E6A9000B2}"/>
              </a:ext>
            </a:extLst>
          </p:cNvPr>
          <p:cNvSpPr txBox="1"/>
          <p:nvPr/>
        </p:nvSpPr>
        <p:spPr>
          <a:xfrm>
            <a:off x="0" y="2698876"/>
            <a:ext cx="1219199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Практическое занятие №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Поведенческие паттерны и проектирование архитектуры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12189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1581224-752A-DFD2-CFBE-6223E6F32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6B05BA81-1097-457A-493F-2E5B52C3C659}"/>
              </a:ext>
            </a:extLst>
          </p:cNvPr>
          <p:cNvSpPr txBox="1"/>
          <p:nvPr/>
        </p:nvSpPr>
        <p:spPr>
          <a:xfrm>
            <a:off x="0" y="216817"/>
            <a:ext cx="121920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Этап 1 — Проектирование архитектуры</a:t>
            </a:r>
          </a:p>
          <a:p>
            <a:pPr latinLnBrk="1"/>
            <a:endParaRPr lang="en-US" dirty="0"/>
          </a:p>
          <a:p>
            <a:pPr latinLnBrk="1"/>
            <a:r>
              <a:rPr lang="ru-RU" dirty="0"/>
              <a:t>Интернет-магазин "</a:t>
            </a:r>
            <a:r>
              <a:rPr lang="ru-RU" dirty="0" err="1"/>
              <a:t>TechStore</a:t>
            </a:r>
            <a:r>
              <a:rPr lang="ru-RU" dirty="0"/>
              <a:t>"</a:t>
            </a:r>
          </a:p>
          <a:p>
            <a:pPr latinLnBrk="1"/>
            <a:endParaRPr lang="ru-RU" dirty="0"/>
          </a:p>
          <a:p>
            <a:pPr latinLnBrk="1"/>
            <a:r>
              <a:rPr lang="ru-RU" dirty="0"/>
              <a:t>Требования:</a:t>
            </a:r>
          </a:p>
          <a:p>
            <a:pPr latinLnBrk="1"/>
            <a:r>
              <a:rPr lang="ru-RU" dirty="0"/>
              <a:t>1. Пользователи могут просматривать каталог товаров.</a:t>
            </a:r>
          </a:p>
          <a:p>
            <a:pPr latinLnBrk="1"/>
            <a:r>
              <a:rPr lang="ru-RU" dirty="0"/>
              <a:t>2. Пользователи могут добавлять товары в корзину и оформлять заказы.</a:t>
            </a:r>
          </a:p>
          <a:p>
            <a:pPr latinLnBrk="1"/>
            <a:r>
              <a:rPr lang="ru-RU" dirty="0"/>
              <a:t>3. Заказ проходит через статусы: НОВЫЙ -&gt; ОПЛАЧЕН -&gt; ОТПРАВЛЕН -&gt; ДОСТАВЛЕН.</a:t>
            </a:r>
          </a:p>
          <a:p>
            <a:pPr latinLnBrk="1"/>
            <a:r>
              <a:rPr lang="ru-RU" dirty="0"/>
              <a:t>4. При изменении статуса заказа нужно уведомлять пользователя:</a:t>
            </a:r>
          </a:p>
          <a:p>
            <a:pPr latinLnBrk="1"/>
            <a:r>
              <a:rPr lang="ru-RU" dirty="0"/>
              <a:t>   - </a:t>
            </a:r>
            <a:r>
              <a:rPr lang="ru-RU" dirty="0" err="1"/>
              <a:t>Email</a:t>
            </a:r>
            <a:endParaRPr lang="ru-RU" dirty="0"/>
          </a:p>
          <a:p>
            <a:pPr latinLnBrk="1"/>
            <a:r>
              <a:rPr lang="ru-RU" dirty="0"/>
              <a:t>   - SMS (если указан телефон)</a:t>
            </a:r>
          </a:p>
          <a:p>
            <a:pPr latinLnBrk="1"/>
            <a:r>
              <a:rPr lang="ru-RU" dirty="0"/>
              <a:t>   - </a:t>
            </a:r>
            <a:r>
              <a:rPr lang="ru-RU" dirty="0" err="1"/>
              <a:t>Push</a:t>
            </a:r>
            <a:r>
              <a:rPr lang="ru-RU" dirty="0"/>
              <a:t>-уведомления в мобильном приложении</a:t>
            </a:r>
          </a:p>
          <a:p>
            <a:pPr latinLnBrk="1"/>
            <a:r>
              <a:rPr lang="ru-RU" dirty="0"/>
              <a:t>5. Администратор может применять разные стратегии скидок:</a:t>
            </a:r>
          </a:p>
          <a:p>
            <a:pPr latinLnBrk="1"/>
            <a:r>
              <a:rPr lang="ru-RU" dirty="0"/>
              <a:t>   - Обычная скидка (5% при заказе от 5000 </a:t>
            </a:r>
            <a:r>
              <a:rPr lang="ru-RU" dirty="0" err="1"/>
              <a:t>руб</a:t>
            </a:r>
            <a:r>
              <a:rPr lang="ru-RU" dirty="0"/>
              <a:t>)</a:t>
            </a:r>
          </a:p>
          <a:p>
            <a:pPr latinLnBrk="1"/>
            <a:r>
              <a:rPr lang="ru-RU" dirty="0"/>
              <a:t>   - VIP-скидка (10% для постоянных клиентов)</a:t>
            </a:r>
          </a:p>
          <a:p>
            <a:pPr latinLnBrk="1"/>
            <a:r>
              <a:rPr lang="ru-RU" dirty="0"/>
              <a:t>   - Сезонная скидка (15% на определенные товары)</a:t>
            </a:r>
          </a:p>
          <a:p>
            <a:pPr latinLnBrk="1"/>
            <a:r>
              <a:rPr lang="ru-RU" dirty="0"/>
              <a:t>6. Нужна возможность отмены действий (</a:t>
            </a:r>
            <a:r>
              <a:rPr lang="ru-RU" dirty="0" err="1"/>
              <a:t>undo</a:t>
            </a:r>
            <a:r>
              <a:rPr lang="ru-RU" dirty="0"/>
              <a:t>) для корзины:</a:t>
            </a:r>
          </a:p>
          <a:p>
            <a:pPr latinLnBrk="1"/>
            <a:r>
              <a:rPr lang="ru-RU" dirty="0"/>
              <a:t>   - Отмена добавления товара</a:t>
            </a:r>
          </a:p>
          <a:p>
            <a:pPr latinLnBrk="1"/>
            <a:r>
              <a:rPr lang="ru-RU" dirty="0"/>
              <a:t>   - Отмена удаления товара</a:t>
            </a:r>
          </a:p>
          <a:p>
            <a:pPr latinLnBrk="1"/>
            <a:r>
              <a:rPr lang="ru-RU" dirty="0"/>
              <a:t>7. Система должна масштабироваться (возможность добавления новых способов уведомлений и новых типов скидок без изменения существующего кода).</a:t>
            </a:r>
          </a:p>
        </p:txBody>
      </p:sp>
    </p:spTree>
    <p:extLst>
      <p:ext uri="{BB962C8B-B14F-4D97-AF65-F5344CB8AC3E}">
        <p14:creationId xmlns:p14="http://schemas.microsoft.com/office/powerpoint/2010/main" val="2994999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8BEA589-B760-70EA-46E7-F404A9AD4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56BA04A1-4B40-A9B2-A3DA-347A6D143896}"/>
              </a:ext>
            </a:extLst>
          </p:cNvPr>
          <p:cNvSpPr txBox="1"/>
          <p:nvPr/>
        </p:nvSpPr>
        <p:spPr>
          <a:xfrm>
            <a:off x="1572" y="0"/>
            <a:ext cx="1219042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Выберите архитектурный стиль для системы (многослойный, микросервисы,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event-driven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Обоснуйте выбор.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Нарисуйте архитектурную схему (компоненты и их взаимодействие).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Определите, какие поведенческие паттерны где применить: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статусов заказа? (State)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уведомлений? (Observer)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скидок? (Strategy)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отмены действий? (Command)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Подготовьте краткую презентацию (3 минуты) своего архитектурного решения.</a:t>
            </a:r>
          </a:p>
        </p:txBody>
      </p:sp>
    </p:spTree>
    <p:extLst>
      <p:ext uri="{BB962C8B-B14F-4D97-AF65-F5344CB8AC3E}">
        <p14:creationId xmlns:p14="http://schemas.microsoft.com/office/powerpoint/2010/main" val="2955320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11B1F85-E3EA-34F8-323E-59D8BFC74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053F08E9-2ABC-4D06-7C31-BA9CDFF5A1D0}"/>
              </a:ext>
            </a:extLst>
          </p:cNvPr>
          <p:cNvSpPr txBox="1"/>
          <p:nvPr/>
        </p:nvSpPr>
        <p:spPr>
          <a:xfrm>
            <a:off x="1572" y="0"/>
            <a:ext cx="12190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Этап 2 — Реализация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719686A2-97BB-DE53-FE80-E3795F59FB5D}"/>
              </a:ext>
            </a:extLst>
          </p:cNvPr>
          <p:cNvSpPr txBox="1"/>
          <p:nvPr/>
        </p:nvSpPr>
        <p:spPr>
          <a:xfrm>
            <a:off x="0" y="510435"/>
            <a:ext cx="12190428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Распределение задач в команде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Каждая команда делит роли: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Архитектор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отвечает за общую схему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Разработчик 1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реализует State для заказа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Разработчик 2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реализует Observer для уведомлений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Разработчик 3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реализует Strategy для скидок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Разработчик 4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реализует Command для корзины</a:t>
            </a:r>
          </a:p>
          <a:p>
            <a:pPr algn="l">
              <a:buNone/>
            </a:pPr>
            <a:r>
              <a:rPr lang="ru-RU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Кодирование</a:t>
            </a:r>
            <a:endParaRPr lang="ru-RU" sz="20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ru-RU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Задача 1: State для заказа</a:t>
            </a:r>
            <a:endParaRPr lang="en-US" sz="2000" b="1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 2: Observer для уведомлений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 3: Strategy для скидок 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 4: Command для корзины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Интеграция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Команды собирают все части вместе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Проверяют, как компоненты взаимодействуют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Исправляют ошибки</a:t>
            </a:r>
          </a:p>
        </p:txBody>
      </p:sp>
    </p:spTree>
    <p:extLst>
      <p:ext uri="{BB962C8B-B14F-4D97-AF65-F5344CB8AC3E}">
        <p14:creationId xmlns:p14="http://schemas.microsoft.com/office/powerpoint/2010/main" val="49135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7A21FC0-0808-5250-58F3-14FD1B550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722C761B-87FE-FAAF-76DB-42910F9AD3FE}"/>
              </a:ext>
            </a:extLst>
          </p:cNvPr>
          <p:cNvSpPr txBox="1"/>
          <p:nvPr/>
        </p:nvSpPr>
        <p:spPr>
          <a:xfrm>
            <a:off x="1572" y="0"/>
            <a:ext cx="12190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Этап 3 — Презентация результатов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7F9A7F5A-F461-A4D2-B946-09CA151DDFB0}"/>
              </a:ext>
            </a:extLst>
          </p:cNvPr>
          <p:cNvSpPr txBox="1"/>
          <p:nvPr/>
        </p:nvSpPr>
        <p:spPr>
          <a:xfrm>
            <a:off x="0" y="510435"/>
            <a:ext cx="1219042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Демонстрация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Команды показывают своё решение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Демонстрируют работу всех паттернов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Объясняют архитектурные решения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1A875A10-CA7F-298F-6E72-04125DC7F15A}"/>
              </a:ext>
            </a:extLst>
          </p:cNvPr>
          <p:cNvSpPr txBox="1"/>
          <p:nvPr/>
        </p:nvSpPr>
        <p:spPr>
          <a:xfrm>
            <a:off x="0" y="2059152"/>
            <a:ext cx="12190428" cy="25930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Обсуждение</a:t>
            </a:r>
            <a:endParaRPr lang="ru-RU" sz="20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Какие паттерны оказались самыми полезными?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Какие сложности возникли при интеграции?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Как тестировать такую систему?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Что изменилось бы, если выбрать микросервисную архитектуру?</a:t>
            </a:r>
          </a:p>
        </p:txBody>
      </p:sp>
    </p:spTree>
    <p:extLst>
      <p:ext uri="{BB962C8B-B14F-4D97-AF65-F5344CB8AC3E}">
        <p14:creationId xmlns:p14="http://schemas.microsoft.com/office/powerpoint/2010/main" val="4247493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CB13AE6-DB2D-CF0D-B1D8-2D2EFA2EA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DC7218D4-09D8-5AB1-83EE-B2B8AD5F04E1}"/>
              </a:ext>
            </a:extLst>
          </p:cNvPr>
          <p:cNvSpPr txBox="1"/>
          <p:nvPr/>
        </p:nvSpPr>
        <p:spPr>
          <a:xfrm>
            <a:off x="1572" y="0"/>
            <a:ext cx="12190428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Домашнее задание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1: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Доработайте систему интернет-магазина: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State: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Добавьте новое состояние "ВОЗВРАТ"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ReturnedState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Какие действия допустимы в этом состоянии?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Observer: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Добавьте новый тип уведомлений —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TelegramNotifier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Strategy: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Добавьте стратегию "Подарочный сертификат"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GiftCertificateDiscount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которая применяет фиксированную скидку 1000 руб.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Command: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Добавьте команду "Очистить корзину"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ClearCartCommand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с возможностью отмены.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2: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Представьте, что интернет-магазин вырос, и теперь у вас есть отдельные команды для: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Каталога товаров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Заказов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Пользователей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Уведомлений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Аналитики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Какую архитектуру вы выберете теперь? Нарисуйте схему взаимодействия микросервисов. Как изменятся паттерны при переходе на микросервисы?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3: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Исследуйте фреймворк Spring Boot. Какие паттерны из изученных вы там видите?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Где используется Observer? (События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ApplicationEvent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Где используется Command? (В некоторых компонентах)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Где используется Strategy? (Разные реализации интерфейсов)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Напишите краткий отчет.</a:t>
            </a:r>
          </a:p>
        </p:txBody>
      </p:sp>
    </p:spTree>
    <p:extLst>
      <p:ext uri="{BB962C8B-B14F-4D97-AF65-F5344CB8AC3E}">
        <p14:creationId xmlns:p14="http://schemas.microsoft.com/office/powerpoint/2010/main" val="36109341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6060</TotalTime>
  <Words>316</Words>
  <Application>Microsoft Office PowerPoint</Application>
  <PresentationFormat>Широкоэкранный</PresentationFormat>
  <Paragraphs>75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Арсентий Абдалов</dc:creator>
  <cp:lastModifiedBy>user</cp:lastModifiedBy>
  <cp:revision>24</cp:revision>
  <dcterms:created xsi:type="dcterms:W3CDTF">2025-09-19T18:20:34Z</dcterms:created>
  <dcterms:modified xsi:type="dcterms:W3CDTF">2026-03-07T06:58:54Z</dcterms:modified>
</cp:coreProperties>
</file>