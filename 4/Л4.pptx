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68" r:id="rId5"/>
    <p:sldId id="295" r:id="rId6"/>
    <p:sldId id="274" r:id="rId7"/>
    <p:sldId id="296" r:id="rId8"/>
    <p:sldId id="297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98" r:id="rId17"/>
    <p:sldId id="299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300" r:id="rId28"/>
    <p:sldId id="301" r:id="rId29"/>
    <p:sldId id="291" r:id="rId30"/>
    <p:sldId id="292" r:id="rId31"/>
    <p:sldId id="293" r:id="rId32"/>
    <p:sldId id="294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448" autoAdjust="0"/>
  </p:normalViewPr>
  <p:slideViewPr>
    <p:cSldViewPr snapToGrid="0" showGuides="1">
      <p:cViewPr varScale="1">
        <p:scale>
          <a:sx n="100" d="100"/>
          <a:sy n="100" d="100"/>
        </p:scale>
        <p:origin x="912" y="96"/>
      </p:cViewPr>
      <p:guideLst>
        <p:guide orient="horz" pos="200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86FC9-3976-4731-B236-7A8F403A5F36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C78DD-17D4-487C-B810-22055114B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6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C78DD-17D4-487C-B810-22055114B95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958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C78DD-17D4-487C-B810-22055114B959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740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xmlns="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xmlns="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№4: Паттерны поведения и архитектурные стили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B05BA81-1097-457A-493F-2E5B52C3C659}"/>
              </a:ext>
            </a:extLst>
          </p:cNvPr>
          <p:cNvSpPr txBox="1"/>
          <p:nvPr/>
        </p:nvSpPr>
        <p:spPr>
          <a:xfrm>
            <a:off x="0" y="216817"/>
            <a:ext cx="12192000" cy="5308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поведенческие паттерны?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Поведенческие паттерны (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отвечают за эффективное взаимодействие между объектами.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делают: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Распределяют обязанности между объектами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Описывают способы коммуникации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Инкапсулируют поведение в объектах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BEA589-B760-70EA-46E7-F404A9AD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6BA04A1-4B40-A9B2-A3DA-347A6D143896}"/>
              </a:ext>
            </a:extLst>
          </p:cNvPr>
          <p:cNvSpPr txBox="1"/>
          <p:nvPr/>
        </p:nvSpPr>
        <p:spPr>
          <a:xfrm>
            <a:off x="1572" y="0"/>
            <a:ext cx="12190428" cy="6108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(Стратегия)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"Определяет семейство алгоритмов, инкапсулирует каждый из них и делает их взаимозаменяемыми."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Разные способы расчёта стоимости (обычная цена, скидка, VIP)</a:t>
            </a:r>
          </a:p>
          <a:p>
            <a:pPr marL="457200" lvl="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Разные алгоритмы сортировки</a:t>
            </a:r>
          </a:p>
          <a:p>
            <a:pPr marL="457200" lvl="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Разные способы валидации данных</a:t>
            </a: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Разные стратегии логирования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95532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661111-D426-9DB6-3D11-DA2D7047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19CD68D-B332-D434-045D-108354DE56AE}"/>
              </a:ext>
            </a:extLst>
          </p:cNvPr>
          <p:cNvSpPr txBox="1"/>
          <p:nvPr/>
        </p:nvSpPr>
        <p:spPr>
          <a:xfrm>
            <a:off x="0" y="0"/>
            <a:ext cx="609765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кода (проблема без паттерна):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algn="l" latinLnBrk="1">
              <a:buNone/>
            </a:pP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Плохо: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if-else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лесенка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OrderService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calculatePrice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customerType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customerType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"REGULAR"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 скидки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customerType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"VIP"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0.9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10%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скидка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customerType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"EMPLOYEE"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20%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скидка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8ABE202-48CE-3412-F17C-638EC7D72336}"/>
              </a:ext>
            </a:extLst>
          </p:cNvPr>
          <p:cNvSpPr txBox="1"/>
          <p:nvPr/>
        </p:nvSpPr>
        <p:spPr>
          <a:xfrm>
            <a:off x="6096000" y="0"/>
            <a:ext cx="610759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кода (с паттерном):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algn="l" latinLnBrk="1">
              <a:buNone/>
            </a:pP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стратегии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DiscountStrategy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Конкретные стратегии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RegularDiscount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DiscountStrategy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 скидки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VIPDiscount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DiscountStrategy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0.9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10%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скидка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EmployeeDiscount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DiscountStrategy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20%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скидка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Новая стратегия добавляется без изменения существующего кода!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BlackFridayDiscount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DiscountStrategy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50%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скидка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88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037145-F67E-A59E-0807-F7A07BFD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6B6C219-16F6-0F07-6284-584874D8BB36}"/>
              </a:ext>
            </a:extLst>
          </p:cNvPr>
          <p:cNvSpPr txBox="1"/>
          <p:nvPr/>
        </p:nvSpPr>
        <p:spPr>
          <a:xfrm>
            <a:off x="3048828" y="5050"/>
            <a:ext cx="6097656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Контекст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OrderService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DiscountStrategy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strategy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OrderService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DiscountStrategy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strategy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strategy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Стратегию можно установить через конструктор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setStrategy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DiscountStrategy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strategy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Или через сеттер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strategy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calculatePrice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OrderService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service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OrderService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RegularDiscount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calculatePrice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1000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setStrategy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VIPDiscount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calculatePrice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900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setStrategy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BlackFridayDiscount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calculatePrice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500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79745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B92DDB6-EFE5-A6D1-9EC1-DD6C6EE7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AFEDF9B-00F9-B5AD-0ED9-A09F3D81E397}"/>
              </a:ext>
            </a:extLst>
          </p:cNvPr>
          <p:cNvSpPr txBox="1"/>
          <p:nvPr/>
        </p:nvSpPr>
        <p:spPr>
          <a:xfrm>
            <a:off x="0" y="0"/>
            <a:ext cx="6096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Observer (Наблюдатель)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"Создаёт механизм подписки, позволяющий одним объектам следить за изменениями других объектов."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listeners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UI (кнопка — наблюдатель ждёт клика)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Уведомления (подписка на новости)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мониторинга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Рассылка обновлений (паттерн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Subscriber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94BE7AC-13D1-D04A-1940-890CE4C7EB70}"/>
              </a:ext>
            </a:extLst>
          </p:cNvPr>
          <p:cNvSpPr txBox="1"/>
          <p:nvPr/>
        </p:nvSpPr>
        <p:spPr>
          <a:xfrm>
            <a:off x="6096000" y="1570382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кода: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i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наблюдателя (подписчик)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message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издателя (субъект)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observer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подписаться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detach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observer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отписаться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notifyObservers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уведомить всех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i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48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3D7AB6-C6CB-AECF-F4E6-E928B25D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EB6DE62-5242-F53B-F5D9-D64FBD314F4C}"/>
              </a:ext>
            </a:extLst>
          </p:cNvPr>
          <p:cNvSpPr txBox="1"/>
          <p:nvPr/>
        </p:nvSpPr>
        <p:spPr>
          <a:xfrm>
            <a:off x="0" y="695740"/>
            <a:ext cx="6097656" cy="5748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Конкретный издатель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NewsChannel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observers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&lt;&gt;();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latestNews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observer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observers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detach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observer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observers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notifyObservers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observers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latestNews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Бизнес-метод: выпуск новостей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publishNews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news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latestNews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news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📰 Опубликована новость: "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notifyObservers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Уведомляем всех подписчиков!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0684B87-F13D-51E8-FD06-7585F62CC1B4}"/>
              </a:ext>
            </a:extLst>
          </p:cNvPr>
          <p:cNvSpPr txBox="1"/>
          <p:nvPr/>
        </p:nvSpPr>
        <p:spPr>
          <a:xfrm>
            <a:off x="6096000" y="695740"/>
            <a:ext cx="6107594" cy="55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Конкретные наблюдатели (подписчики)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EmailSubscriber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email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EmailSubscriber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email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email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message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📧 Отправка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"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message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SMSSubscriber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phoneNumber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SMSSubscriber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phoneNumber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phoneNumber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phoneNumber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message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📱 Отправка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SMS 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"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phoneNumber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message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32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660532-B2EB-4358-9F60-9F7DB836E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98DD1E8-0DF8-CBBA-CEDA-B2E2EE53283B}"/>
              </a:ext>
            </a:extLst>
          </p:cNvPr>
          <p:cNvSpPr txBox="1"/>
          <p:nvPr/>
        </p:nvSpPr>
        <p:spPr>
          <a:xfrm>
            <a:off x="0" y="1584560"/>
            <a:ext cx="6097656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TelegramSubscriber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username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TelegramSubscriber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username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username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message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"✈️ 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Отправка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Telegram @"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username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message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3A54E60-51E0-5103-179E-E51F027EA59B}"/>
              </a:ext>
            </a:extLst>
          </p:cNvPr>
          <p:cNvSpPr txBox="1"/>
          <p:nvPr/>
        </p:nvSpPr>
        <p:spPr>
          <a:xfrm>
            <a:off x="6096000" y="545518"/>
            <a:ext cx="6107594" cy="55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Использование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NewsChannel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Подписчики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user1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EmailSubscriber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"user@mail.com"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user2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SMSSubscriber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"+79123456789"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user3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TelegramSubscriber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0" dirty="0" err="1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john_doe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Подписка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user1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user2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user3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Публикация новости — все подписчики получат уведомление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publishNews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"Java 21 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вышел!"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Можно отписаться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detach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user2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Ещё новость — только оставшиеся получат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publishNews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Новая версия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Boot!"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05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B090EFE-B5F8-818A-E89F-C7725C40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47D0CFB-3E4A-83E7-F9BC-C95C091886D3}"/>
              </a:ext>
            </a:extLst>
          </p:cNvPr>
          <p:cNvSpPr txBox="1"/>
          <p:nvPr/>
        </p:nvSpPr>
        <p:spPr>
          <a:xfrm>
            <a:off x="-1656" y="0"/>
            <a:ext cx="12193656" cy="6060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 (Команда)</a:t>
            </a:r>
          </a:p>
          <a:p>
            <a:pPr algn="just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"Превращает запросы в объекты, позволяя передавать их как аргументы, ставить в очередь,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логировать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отменять.“</a:t>
            </a:r>
            <a:endParaRPr lang="en-US" sz="2800" b="1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Отмена операций (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Undo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Очереди задач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Макросы (последовательности команд)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Транзакции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315113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4A2EA03-7B29-5043-50A0-68761DBE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A9DE39D-82FE-7CAD-1155-FE6CFC3168E1}"/>
              </a:ext>
            </a:extLst>
          </p:cNvPr>
          <p:cNvSpPr txBox="1"/>
          <p:nvPr/>
        </p:nvSpPr>
        <p:spPr>
          <a:xfrm>
            <a:off x="0" y="327510"/>
            <a:ext cx="609765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Интерфейс команды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undo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отмены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Получатель (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Receiver) —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устройство, над которым выполняются команды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on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📺 Телевизор включен"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just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turnOff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on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📺 Телевизор выключен"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just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📺 Канал переключен на "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buNone/>
            </a:pP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DAA92A-DCC5-C828-A924-A184CC72B34F}"/>
              </a:ext>
            </a:extLst>
          </p:cNvPr>
          <p:cNvSpPr txBox="1"/>
          <p:nvPr/>
        </p:nvSpPr>
        <p:spPr>
          <a:xfrm>
            <a:off x="6096000" y="327510"/>
            <a:ext cx="6107594" cy="5748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Интерфейс команды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undo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отмены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Получатель (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Receiver) —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устройство, над которым выполняются команды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on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📺 Телевизор включен"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turnOff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on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📺 Телевизор выключен"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📺 Канал переключен на "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79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F1CE95-EA7C-309B-64A4-33683A91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4B09690-44CD-7B94-73CE-16748D39E679}"/>
              </a:ext>
            </a:extLst>
          </p:cNvPr>
          <p:cNvSpPr txBox="1"/>
          <p:nvPr/>
        </p:nvSpPr>
        <p:spPr>
          <a:xfrm>
            <a:off x="0" y="1090539"/>
            <a:ext cx="6097656" cy="4222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ChangeChannelCommand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previousChannel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undo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ChangeChannelCommand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tv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previousChannel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запоминаем предыдущий канал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undo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previousChannel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возвращаем предыдущий канал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D381D3A-18CB-D0E4-3149-94596990B848}"/>
              </a:ext>
            </a:extLst>
          </p:cNvPr>
          <p:cNvSpPr txBox="1"/>
          <p:nvPr/>
        </p:nvSpPr>
        <p:spPr>
          <a:xfrm>
            <a:off x="6084406" y="753914"/>
            <a:ext cx="6107594" cy="5548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 err="1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Вызыватель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Invoker) —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пульт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RemoteControl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buttons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history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&lt;&gt;();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команд для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Undo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slot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buttons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pressButton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slot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buttons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сохраняем в историю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pressUndo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lastCommand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lastCommand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undo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A4B54AF-EAFC-0F16-C6EF-5D5C6843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B59A005-BA42-B3EA-6FBE-D5558C30F3FD}"/>
              </a:ext>
            </a:extLst>
          </p:cNvPr>
          <p:cNvSpPr txBox="1"/>
          <p:nvPr/>
        </p:nvSpPr>
        <p:spPr>
          <a:xfrm>
            <a:off x="3047172" y="357654"/>
            <a:ext cx="6097656" cy="596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Использование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Создаем команды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turnOn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TurnOnCommand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turnOff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TurnOffCommand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channel1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ChangeChannelCommand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channel2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ChangeChannelCommand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Настраиваем пульт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RemoteControl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remote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RemoteControl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turnOff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channel1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setCommand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channel2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 пульт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pressButton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включить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pressButton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канал 1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pressButton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канал 2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pressUndo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отмена последней команды (вернулись на канал 1)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pressButton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выключить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99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182B543-164F-78ED-984F-88C1D96B1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CC98581-2D45-CC80-EB87-ADCB32E1FF57}"/>
              </a:ext>
            </a:extLst>
          </p:cNvPr>
          <p:cNvSpPr txBox="1"/>
          <p:nvPr/>
        </p:nvSpPr>
        <p:spPr>
          <a:xfrm>
            <a:off x="0" y="0"/>
            <a:ext cx="12192000" cy="5565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(Состояние)</a:t>
            </a:r>
          </a:p>
          <a:p>
            <a:pPr algn="just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"Позволяет объекту изменять своё поведение при изменении внутреннего состояния. Создаётся впечатление, что объект меняет свой класс."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None/>
            </a:pPr>
            <a:endParaRPr lang="en-US" sz="2800" b="1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Заказ (новый, оплачен, отправлен, доставлен)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 (черновик, на модерации, опубликован)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Игровой персонаж (нормальный, ускоренный, неуязвимый)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Проигрыватель (воспроизведение, пауза, стоп)</a:t>
            </a:r>
          </a:p>
        </p:txBody>
      </p:sp>
    </p:spTree>
    <p:extLst>
      <p:ext uri="{BB962C8B-B14F-4D97-AF65-F5344CB8AC3E}">
        <p14:creationId xmlns:p14="http://schemas.microsoft.com/office/powerpoint/2010/main" val="363215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BFF9ED-F6BA-2038-0483-CB9009135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7CBC5A-E649-3F73-7E9B-96ADFDF6962A}"/>
              </a:ext>
            </a:extLst>
          </p:cNvPr>
          <p:cNvSpPr txBox="1"/>
          <p:nvPr/>
        </p:nvSpPr>
        <p:spPr>
          <a:xfrm>
            <a:off x="-1656" y="0"/>
            <a:ext cx="6097656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Интерфейс состояния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getStatus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начальное состояние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Заказ "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перешел в состояние: "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getStatus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Делегируем поведение текущему состоянию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getStatus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getStatus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5F94D82-62F7-75BB-0548-FA03DAF49031}"/>
              </a:ext>
            </a:extLst>
          </p:cNvPr>
          <p:cNvSpPr txBox="1"/>
          <p:nvPr/>
        </p:nvSpPr>
        <p:spPr>
          <a:xfrm>
            <a:off x="6096000" y="0"/>
            <a:ext cx="6107594" cy="4876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Конкретные состояния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Заказ оплачен"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PaidState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Нельзя отправить неоплаченный заказ"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Нельзя доставить неоплаченный заказ"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Заказ отменен"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CancelledState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getStatus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НОВЫЙ"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33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5A95FCB-6E59-E1C0-7574-3CCBCE5F4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1957A9C-3BF4-075F-6917-58CEB936FB4B}"/>
              </a:ext>
            </a:extLst>
          </p:cNvPr>
          <p:cNvSpPr txBox="1"/>
          <p:nvPr/>
        </p:nvSpPr>
        <p:spPr>
          <a:xfrm>
            <a:off x="0" y="1279707"/>
            <a:ext cx="6097656" cy="4658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PaidState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Заказ уже оплачен"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Заказ отправлен"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ShippedState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Заказ еще не отправлен"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Заказ отменен, деньги возвращены"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CancelledState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getStatus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ОПЛАЧЕН"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247AA32-0C2E-3081-BEE5-1859081EBA01}"/>
              </a:ext>
            </a:extLst>
          </p:cNvPr>
          <p:cNvSpPr txBox="1"/>
          <p:nvPr/>
        </p:nvSpPr>
        <p:spPr>
          <a:xfrm>
            <a:off x="6096000" y="1279707"/>
            <a:ext cx="6107594" cy="4440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ShippedState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Заказ уже оплачен"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Заказ уже отправлен"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Заказ доставлен"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DeliveredState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Нельзя отменить отправленный заказ"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getStatus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ОТПРАВЛЕН"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77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BE1A6DC-D1BD-836D-0494-F2817D31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57C0DB-8728-E85C-9A2C-E7BE4F147FD5}"/>
              </a:ext>
            </a:extLst>
          </p:cNvPr>
          <p:cNvSpPr txBox="1"/>
          <p:nvPr/>
        </p:nvSpPr>
        <p:spPr>
          <a:xfrm>
            <a:off x="0" y="1282148"/>
            <a:ext cx="6097656" cy="4222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DeliveredState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Заказ уже доставлен"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Заказ уже доставлен"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Заказ уже доставлен"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Нельзя отменить доставленный заказ"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getStatus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ДОСТАВЛЕН"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FE5F6E7-B4D1-50DD-2F75-CF08871AAEDD}"/>
              </a:ext>
            </a:extLst>
          </p:cNvPr>
          <p:cNvSpPr txBox="1"/>
          <p:nvPr/>
        </p:nvSpPr>
        <p:spPr>
          <a:xfrm>
            <a:off x="6096000" y="1282148"/>
            <a:ext cx="6122504" cy="4222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CancelledState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OrderState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Заказ отменен, оплата невозможна"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Заказ отменен"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Заказ отменен"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Заказ уже отменен"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latinLnBrk="1"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getStatus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ОТМЕНЕН"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60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F1825F-B1CA-6B8D-4A18-1AE737B2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95A7412-B624-78A1-1439-C9274D29E7D3}"/>
              </a:ext>
            </a:extLst>
          </p:cNvPr>
          <p:cNvSpPr txBox="1"/>
          <p:nvPr/>
        </p:nvSpPr>
        <p:spPr>
          <a:xfrm>
            <a:off x="3048828" y="1417552"/>
            <a:ext cx="6097656" cy="3568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Использование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"ORD-123"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Текущий статус: "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getStatus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НОВЫЙ -&gt; ОПЛАЧЕН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ОПЛАЧЕН -&gt; ОТПРАВЛЕН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ОТПРАВЛЕН -&gt; ДОСТАВЛЕН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b="0" i="1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Нельзя отменить доставленный заказ</a:t>
            </a:r>
            <a:endParaRPr lang="ru-RU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b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Финальный статус: "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400" b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getStatus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b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81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D3FDE5-7BB9-40BD-2365-3DDC398C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CC65650-10A8-C384-7E5F-01E9C9D961F4}"/>
              </a:ext>
            </a:extLst>
          </p:cNvPr>
          <p:cNvSpPr txBox="1"/>
          <p:nvPr/>
        </p:nvSpPr>
        <p:spPr>
          <a:xfrm>
            <a:off x="1828800" y="0"/>
            <a:ext cx="73160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поведенческих паттернов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xmlns="" id="{09983888-81EF-B55B-02E5-1E02FD047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581176"/>
              </p:ext>
            </p:extLst>
          </p:nvPr>
        </p:nvGraphicFramePr>
        <p:xfrm>
          <a:off x="0" y="1504950"/>
          <a:ext cx="12192000" cy="3124200"/>
        </p:xfrm>
        <a:graphic>
          <a:graphicData uri="http://schemas.openxmlformats.org/drawingml/2006/table">
            <a:tbl>
              <a:tblPr/>
              <a:tblGrid>
                <a:gridCol w="4064000">
                  <a:extLst>
                    <a:ext uri="{9D8B030D-6E8A-4147-A177-3AD203B41FA5}">
                      <a16:colId xmlns:a16="http://schemas.microsoft.com/office/drawing/2014/main" xmlns="" val="9542097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xmlns="" val="424008978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xmlns="" val="343397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Паттерн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Суть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Когда использовать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4228759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Strategy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Семейство алгоритмов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Нужно переключать алгоритмы на лету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1675706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Observer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Подписка на события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Один объект должен оповещать многих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11248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Command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Запрос как объект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Нужна история, очередь, отмена операций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156244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State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Поведение зависит от состояния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Объект меняет поведение в зависимости от статуса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1427580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39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773B384-0C01-2EDC-CFC8-2F0C29CB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E1C22C7-A0BE-4A66-D4BC-6AD935D84CEE}"/>
              </a:ext>
            </a:extLst>
          </p:cNvPr>
          <p:cNvSpPr txBox="1"/>
          <p:nvPr/>
        </p:nvSpPr>
        <p:spPr>
          <a:xfrm>
            <a:off x="0" y="0"/>
            <a:ext cx="12192000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архитектурный стиль?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Архитектурный стиль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общее решение организации системы, семейство архитектур с общими характеристиками.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Отличие от паттерна: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Паттерн решает локальную задачу (внутри одного приложения), архитектурный стиль — глобальную (организация всей системы).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Вопросы: 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общаются компоненты? Как распределены обязанности? Где хранятся данные?</a:t>
            </a:r>
          </a:p>
        </p:txBody>
      </p:sp>
    </p:spTree>
    <p:extLst>
      <p:ext uri="{BB962C8B-B14F-4D97-AF65-F5344CB8AC3E}">
        <p14:creationId xmlns:p14="http://schemas.microsoft.com/office/powerpoint/2010/main" val="274600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3505084-7FA1-EEE4-8A71-EBAF4993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FE30C7D-B353-C55D-5465-35A43E8A9ADE}"/>
              </a:ext>
            </a:extLst>
          </p:cNvPr>
          <p:cNvSpPr txBox="1"/>
          <p:nvPr/>
        </p:nvSpPr>
        <p:spPr>
          <a:xfrm>
            <a:off x="0" y="0"/>
            <a:ext cx="12192000" cy="5565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Многослойная архитектура (</a:t>
            </a:r>
            <a:r>
              <a:rPr lang="en-US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Architecture)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"Разделение системы на горизонтальные слои, где каждый слой выполняет определенную функцию."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Типичные слои: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(UI) —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пользователя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Layer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(Domain) —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бизнес-логика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Access Layer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(Persistence) —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БД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СУБД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Правило: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Слой может обращаться только к соседнему нижнему слою.</a:t>
            </a:r>
          </a:p>
        </p:txBody>
      </p:sp>
    </p:spTree>
    <p:extLst>
      <p:ext uri="{BB962C8B-B14F-4D97-AF65-F5344CB8AC3E}">
        <p14:creationId xmlns:p14="http://schemas.microsoft.com/office/powerpoint/2010/main" val="48594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F4B72BE-6B6B-79EA-8ACA-97B68EF4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D4E7B99-2355-DAAD-2A16-477491AFA7F4}"/>
              </a:ext>
            </a:extLst>
          </p:cNvPr>
          <p:cNvSpPr txBox="1"/>
          <p:nvPr/>
        </p:nvSpPr>
        <p:spPr>
          <a:xfrm>
            <a:off x="3307245" y="0"/>
            <a:ext cx="342154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Схема (описательно):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519A3C7-61BB-E688-F09A-EA454D8A2B30}"/>
              </a:ext>
            </a:extLst>
          </p:cNvPr>
          <p:cNvSpPr txBox="1"/>
          <p:nvPr/>
        </p:nvSpPr>
        <p:spPr>
          <a:xfrm>
            <a:off x="375202" y="1851938"/>
            <a:ext cx="6097656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┌─────────────────┐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│  Presentation               │  ← 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Контроллеры, 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UI, API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├─────────────────┤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│ Business Logic              │  ← 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Сервисы, 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Use Cases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├─────────────────┤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│  Data Access                  │  ← 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Репозитории, 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DAO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├─────────────────┤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│    Database                    │  ← PostgreSQL, MySQL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└─────────────────┘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00812E4-687E-5D68-65A8-8C9FA00BE28A}"/>
              </a:ext>
            </a:extLst>
          </p:cNvPr>
          <p:cNvSpPr txBox="1"/>
          <p:nvPr/>
        </p:nvSpPr>
        <p:spPr>
          <a:xfrm>
            <a:off x="5175801" y="667544"/>
            <a:ext cx="6097656" cy="5765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Плюсы: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Простота, понятность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ответственности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Можно тестировать слои независимо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Минусы: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Монолит (все в одном процессе)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Сложно масштабировать отдельные части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Жесткая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418084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EDF5C04-C617-E54B-DC77-2844B020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F874531-6DAF-CD2A-98EC-AB6BFDA843BA}"/>
              </a:ext>
            </a:extLst>
          </p:cNvPr>
          <p:cNvSpPr txBox="1"/>
          <p:nvPr/>
        </p:nvSpPr>
        <p:spPr>
          <a:xfrm>
            <a:off x="-1" y="0"/>
            <a:ext cx="12192001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Клиент-серверная архитектура</a:t>
            </a:r>
          </a:p>
          <a:p>
            <a:pPr algn="just">
              <a:spcBef>
                <a:spcPts val="1200"/>
              </a:spcBef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"Разделение системы на поставщиков услуг (серверы) и потребителей (клиенты)."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Виды: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Тонкий клиент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вся логика на сервере (веб-приложения)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Толстый клиент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часть логики на клиенте (мобильные приложения)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D4AEBFB-2180-DAEE-45C6-0756C366B273}"/>
              </a:ext>
            </a:extLst>
          </p:cNvPr>
          <p:cNvSpPr txBox="1"/>
          <p:nvPr/>
        </p:nvSpPr>
        <p:spPr>
          <a:xfrm>
            <a:off x="4075043" y="3816052"/>
            <a:ext cx="62218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┌─────────┐     HTTP     </a:t>
            </a:r>
            <a:r>
              <a:rPr lang="en-US" dirty="0"/>
              <a:t>           </a:t>
            </a:r>
            <a:r>
              <a:rPr lang="ru-RU" dirty="0"/>
              <a:t>┌─────────┐</a:t>
            </a:r>
          </a:p>
          <a:p>
            <a:r>
              <a:rPr lang="ru-RU" dirty="0"/>
              <a:t>│ </a:t>
            </a:r>
            <a:r>
              <a:rPr lang="ru-RU" dirty="0" err="1"/>
              <a:t>Browser</a:t>
            </a:r>
            <a:r>
              <a:rPr lang="ru-RU" dirty="0"/>
              <a:t> </a:t>
            </a:r>
            <a:r>
              <a:rPr lang="en-US" dirty="0"/>
              <a:t>   </a:t>
            </a:r>
            <a:r>
              <a:rPr lang="ru-RU" dirty="0"/>
              <a:t>│ ───────────► │  Web    </a:t>
            </a:r>
            <a:r>
              <a:rPr lang="en-US" dirty="0"/>
              <a:t>      </a:t>
            </a:r>
            <a:r>
              <a:rPr lang="ru-RU" dirty="0"/>
              <a:t>│</a:t>
            </a:r>
          </a:p>
          <a:p>
            <a:r>
              <a:rPr lang="ru-RU" dirty="0"/>
              <a:t>│ (Client)</a:t>
            </a:r>
            <a:r>
              <a:rPr lang="en-US" dirty="0"/>
              <a:t>      </a:t>
            </a:r>
            <a:r>
              <a:rPr lang="ru-RU" dirty="0"/>
              <a:t>│ ◄─────────── │ Server  </a:t>
            </a:r>
            <a:r>
              <a:rPr lang="en-US" dirty="0"/>
              <a:t>      </a:t>
            </a:r>
            <a:r>
              <a:rPr lang="ru-RU" dirty="0"/>
              <a:t>│</a:t>
            </a:r>
          </a:p>
          <a:p>
            <a:r>
              <a:rPr lang="ru-RU" dirty="0"/>
              <a:t>└─────────┘    Response </a:t>
            </a:r>
            <a:r>
              <a:rPr lang="en-US" dirty="0"/>
              <a:t>     </a:t>
            </a:r>
            <a:r>
              <a:rPr lang="ru-RU" dirty="0"/>
              <a:t> </a:t>
            </a:r>
            <a:r>
              <a:rPr lang="en-US" dirty="0"/>
              <a:t>   </a:t>
            </a:r>
            <a:r>
              <a:rPr lang="ru-RU" dirty="0"/>
              <a:t>└─────────┘</a:t>
            </a:r>
          </a:p>
          <a:p>
            <a:r>
              <a:rPr lang="ru-RU" dirty="0"/>
              <a:t>                               </a:t>
            </a:r>
            <a:r>
              <a:rPr lang="en-US" dirty="0"/>
              <a:t> </a:t>
            </a:r>
            <a:r>
              <a:rPr lang="ru-RU" dirty="0"/>
              <a:t>│</a:t>
            </a:r>
          </a:p>
          <a:p>
            <a:r>
              <a:rPr lang="ru-RU" dirty="0"/>
              <a:t>                               ▼</a:t>
            </a:r>
          </a:p>
          <a:p>
            <a:r>
              <a:rPr lang="ru-RU" dirty="0"/>
              <a:t>                          ┌─────────┐</a:t>
            </a:r>
          </a:p>
          <a:p>
            <a:r>
              <a:rPr lang="ru-RU" dirty="0"/>
              <a:t>                          │   DB    </a:t>
            </a:r>
            <a:r>
              <a:rPr lang="en-US" dirty="0"/>
              <a:t>       </a:t>
            </a:r>
            <a:r>
              <a:rPr lang="ru-RU" dirty="0"/>
              <a:t>│</a:t>
            </a:r>
          </a:p>
          <a:p>
            <a:r>
              <a:rPr lang="ru-RU" dirty="0"/>
              <a:t>                          └─────────┘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73248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CD0E7C-816B-0F87-1EAD-5E4BE21A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553C9E5-8D46-0783-B0A7-41DA776433F6}"/>
              </a:ext>
            </a:extLst>
          </p:cNvPr>
          <p:cNvSpPr txBox="1"/>
          <p:nvPr/>
        </p:nvSpPr>
        <p:spPr>
          <a:xfrm>
            <a:off x="0" y="-7982"/>
            <a:ext cx="12192000" cy="629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2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(</a:t>
            </a:r>
            <a:r>
              <a:rPr lang="ru-RU" sz="2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Representational</a:t>
            </a:r>
            <a:r>
              <a:rPr lang="ru-RU" sz="2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State Transfer)</a:t>
            </a:r>
          </a:p>
          <a:p>
            <a:pPr algn="just">
              <a:lnSpc>
                <a:spcPct val="150000"/>
              </a:lnSpc>
              <a:buNone/>
            </a:pPr>
            <a:r>
              <a:rPr lang="ru-RU" sz="2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"Архитектурный стиль для построения распределенных систем, основанный на ресурсах и HTTP-методах."</a:t>
            </a:r>
            <a:endParaRPr lang="ru-RU" sz="22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ru-RU" sz="2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принципы REST:</a:t>
            </a:r>
            <a:endParaRPr lang="ru-RU" sz="22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  <a:tabLst>
                <a:tab pos="984250" algn="l"/>
              </a:tabLst>
            </a:pPr>
            <a:r>
              <a:rPr lang="ru-RU" sz="2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Ресурсы</a:t>
            </a:r>
            <a:r>
              <a:rPr lang="ru-RU" sz="2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всё есть ресурс (User, </a:t>
            </a:r>
            <a:r>
              <a:rPr lang="ru-RU" sz="22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ru-RU" sz="2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Product)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Идентификация через URI</a:t>
            </a:r>
            <a:r>
              <a:rPr lang="ru-RU" sz="2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/</a:t>
            </a:r>
            <a:r>
              <a:rPr lang="ru-RU" sz="22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ru-RU" sz="2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/123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HTTP-методы как действия:</a:t>
            </a:r>
            <a:endParaRPr lang="ru-RU" sz="22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ru-RU" sz="2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— получить ресурс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sz="2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— создать новый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sz="2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PUT — обновить полностью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sz="2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PATCH — частично обновить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sz="2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— удалить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2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Stateless</a:t>
            </a:r>
            <a:r>
              <a:rPr lang="ru-RU" sz="2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сервер не хранит состояние клиента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Кэширование</a:t>
            </a:r>
            <a:r>
              <a:rPr lang="ru-RU" sz="2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ответы можно кэшировать</a:t>
            </a:r>
          </a:p>
        </p:txBody>
      </p:sp>
    </p:spTree>
    <p:extLst>
      <p:ext uri="{BB962C8B-B14F-4D97-AF65-F5344CB8AC3E}">
        <p14:creationId xmlns:p14="http://schemas.microsoft.com/office/powerpoint/2010/main" val="3091220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DEC8F11-1D17-9508-DC05-0549B6AB3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CFCB6A3-225F-D82E-345A-831E563D8B37}"/>
              </a:ext>
            </a:extLst>
          </p:cNvPr>
          <p:cNvSpPr txBox="1"/>
          <p:nvPr/>
        </p:nvSpPr>
        <p:spPr>
          <a:xfrm>
            <a:off x="0" y="0"/>
            <a:ext cx="12192000" cy="3964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</a:t>
            </a:r>
            <a:r>
              <a:rPr lang="en-US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API:</a:t>
            </a:r>
            <a:endParaRPr lang="en-US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   /users          →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пользователей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   /users/123      →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с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id=123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  /users          →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нового пользователя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PUT    /users/123      →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обновить пользователя 123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PATCH  /users/123      →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частично обновить пользователя 123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/users/123      →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удалить пользователя 123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8F13990-6BAF-7579-91D2-7DA17E34A696}"/>
              </a:ext>
            </a:extLst>
          </p:cNvPr>
          <p:cNvSpPr txBox="1"/>
          <p:nvPr/>
        </p:nvSpPr>
        <p:spPr>
          <a:xfrm>
            <a:off x="3101009" y="4271805"/>
            <a:ext cx="6162260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Плюсы: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Простота, понятность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Кэширование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Независимость клиента и сервера</a:t>
            </a:r>
          </a:p>
        </p:txBody>
      </p:sp>
    </p:spTree>
    <p:extLst>
      <p:ext uri="{BB962C8B-B14F-4D97-AF65-F5344CB8AC3E}">
        <p14:creationId xmlns:p14="http://schemas.microsoft.com/office/powerpoint/2010/main" val="77071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0CF1137-C716-0C19-4A19-A136C60FB9FB}"/>
              </a:ext>
            </a:extLst>
          </p:cNvPr>
          <p:cNvSpPr txBox="1"/>
          <p:nvPr/>
        </p:nvSpPr>
        <p:spPr>
          <a:xfrm>
            <a:off x="0" y="0"/>
            <a:ext cx="12192000" cy="449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 (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ru-RU" sz="2000" b="1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000" b="1" i="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"Архитектурный стиль, при котором приложение строится как набор небольших независимых сервисов, каждый из которых реализует определенную бизнес-функцию."</a:t>
            </a:r>
            <a:endParaRPr lang="ru-RU" sz="2000" b="0" i="0" dirty="0" smtClean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 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микросервисов: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Независимое развертывание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каждый сервис можно деплоить отдельно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Своя база данных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у каждого сервиса своя БД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Коммуникация по сети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HTTP/REST,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сообщения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Разные технологии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можно писать на разных языках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Маленькие команды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"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7919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8C01520-18EE-3274-DFC7-81D1C77E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2EC4CC6-126B-9CFA-D76E-C83AED536C61}"/>
              </a:ext>
            </a:extLst>
          </p:cNvPr>
          <p:cNvSpPr txBox="1"/>
          <p:nvPr/>
        </p:nvSpPr>
        <p:spPr>
          <a:xfrm>
            <a:off x="365263" y="751344"/>
            <a:ext cx="60976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┌─────────────────────────────────────┐</a:t>
            </a:r>
          </a:p>
          <a:p>
            <a:r>
              <a:rPr lang="ru-RU" dirty="0"/>
              <a:t>│         API Gateway                  </a:t>
            </a:r>
            <a:r>
              <a:rPr lang="en-US" dirty="0"/>
              <a:t>                                </a:t>
            </a:r>
            <a:r>
              <a:rPr lang="ru-RU" dirty="0"/>
              <a:t>│</a:t>
            </a:r>
          </a:p>
          <a:p>
            <a:r>
              <a:rPr lang="ru-RU" dirty="0"/>
              <a:t>└─────────┬─────────────┬───────────┘</a:t>
            </a:r>
          </a:p>
          <a:p>
            <a:r>
              <a:rPr lang="ru-RU" dirty="0"/>
              <a:t>        </a:t>
            </a:r>
            <a:r>
              <a:rPr lang="en-US" dirty="0"/>
              <a:t>	    </a:t>
            </a:r>
            <a:r>
              <a:rPr lang="ru-RU" dirty="0"/>
              <a:t>  │              </a:t>
            </a:r>
            <a:r>
              <a:rPr lang="en-US" dirty="0"/>
              <a:t>                </a:t>
            </a:r>
            <a:r>
              <a:rPr lang="ru-RU" dirty="0"/>
              <a:t>│</a:t>
            </a:r>
          </a:p>
          <a:p>
            <a:r>
              <a:rPr lang="ru-RU" dirty="0"/>
              <a:t>         </a:t>
            </a:r>
            <a:r>
              <a:rPr lang="en-US" dirty="0"/>
              <a:t>             </a:t>
            </a:r>
            <a:r>
              <a:rPr lang="ru-RU" dirty="0"/>
              <a:t> ▼              </a:t>
            </a:r>
            <a:r>
              <a:rPr lang="en-US" dirty="0"/>
              <a:t>             </a:t>
            </a:r>
            <a:r>
              <a:rPr lang="ru-RU" dirty="0"/>
              <a:t>▼</a:t>
            </a:r>
          </a:p>
          <a:p>
            <a:r>
              <a:rPr lang="ru-RU" dirty="0"/>
              <a:t>┌─────────────────┐ ┌─────────────────┐</a:t>
            </a:r>
          </a:p>
          <a:p>
            <a:r>
              <a:rPr lang="ru-RU" dirty="0"/>
              <a:t>│  User Service   </a:t>
            </a:r>
            <a:r>
              <a:rPr lang="en-US" dirty="0"/>
              <a:t>          </a:t>
            </a:r>
            <a:r>
              <a:rPr lang="ru-RU" dirty="0"/>
              <a:t>│ │  </a:t>
            </a:r>
            <a:r>
              <a:rPr lang="ru-RU" dirty="0" err="1"/>
              <a:t>Order</a:t>
            </a:r>
            <a:r>
              <a:rPr lang="ru-RU" dirty="0"/>
              <a:t> Service  </a:t>
            </a:r>
            <a:r>
              <a:rPr lang="en-US" dirty="0"/>
              <a:t>         </a:t>
            </a:r>
            <a:r>
              <a:rPr lang="ru-RU" dirty="0"/>
              <a:t>│</a:t>
            </a:r>
          </a:p>
          <a:p>
            <a:r>
              <a:rPr lang="ru-RU" dirty="0"/>
              <a:t>│   ┌─────────┐   </a:t>
            </a:r>
            <a:r>
              <a:rPr lang="en-US" dirty="0"/>
              <a:t>       </a:t>
            </a:r>
            <a:r>
              <a:rPr lang="ru-RU" dirty="0"/>
              <a:t>│ │   ┌─────────┐   </a:t>
            </a:r>
            <a:r>
              <a:rPr lang="en-US" dirty="0"/>
              <a:t>       </a:t>
            </a:r>
            <a:r>
              <a:rPr lang="ru-RU" dirty="0"/>
              <a:t>│</a:t>
            </a:r>
          </a:p>
          <a:p>
            <a:r>
              <a:rPr lang="ru-RU" dirty="0"/>
              <a:t>│   │</a:t>
            </a:r>
            <a:r>
              <a:rPr lang="ru-RU" dirty="0" err="1"/>
              <a:t>Postgres</a:t>
            </a:r>
            <a:r>
              <a:rPr lang="en-US" dirty="0"/>
              <a:t>  </a:t>
            </a:r>
            <a:r>
              <a:rPr lang="ru-RU" dirty="0"/>
              <a:t>   │</a:t>
            </a:r>
            <a:r>
              <a:rPr lang="en-US" dirty="0"/>
              <a:t>	   </a:t>
            </a:r>
            <a:r>
              <a:rPr lang="ru-RU" dirty="0"/>
              <a:t> │</a:t>
            </a:r>
            <a:r>
              <a:rPr lang="en-US" dirty="0"/>
              <a:t>  </a:t>
            </a:r>
            <a:r>
              <a:rPr lang="ru-RU" dirty="0"/>
              <a:t>│   │ </a:t>
            </a:r>
            <a:r>
              <a:rPr lang="ru-RU" dirty="0" err="1"/>
              <a:t>MongoDB</a:t>
            </a:r>
            <a:r>
              <a:rPr lang="ru-RU" dirty="0"/>
              <a:t> │   </a:t>
            </a:r>
            <a:r>
              <a:rPr lang="en-US" dirty="0"/>
              <a:t>      </a:t>
            </a:r>
            <a:r>
              <a:rPr lang="ru-RU" dirty="0"/>
              <a:t>│</a:t>
            </a:r>
          </a:p>
          <a:p>
            <a:r>
              <a:rPr lang="ru-RU" dirty="0"/>
              <a:t>│   └─────────┘  </a:t>
            </a:r>
            <a:r>
              <a:rPr lang="en-US" dirty="0"/>
              <a:t>       </a:t>
            </a:r>
            <a:r>
              <a:rPr lang="ru-RU" dirty="0"/>
              <a:t> │ │   └─────────┘   </a:t>
            </a:r>
            <a:r>
              <a:rPr lang="en-US" dirty="0"/>
              <a:t>       </a:t>
            </a:r>
            <a:r>
              <a:rPr lang="ru-RU" dirty="0"/>
              <a:t>│</a:t>
            </a:r>
          </a:p>
          <a:p>
            <a:r>
              <a:rPr lang="ru-RU" dirty="0"/>
              <a:t>└─────────────────┘ └─────────────────┘</a:t>
            </a:r>
          </a:p>
          <a:p>
            <a:r>
              <a:rPr lang="ru-RU" dirty="0"/>
              <a:t>          </a:t>
            </a:r>
            <a:r>
              <a:rPr lang="en-US" dirty="0"/>
              <a:t>            </a:t>
            </a:r>
            <a:r>
              <a:rPr lang="ru-RU" dirty="0"/>
              <a:t>│              </a:t>
            </a:r>
            <a:r>
              <a:rPr lang="en-US" dirty="0"/>
              <a:t>                  </a:t>
            </a:r>
            <a:r>
              <a:rPr lang="ru-RU" dirty="0"/>
              <a:t>│</a:t>
            </a:r>
          </a:p>
          <a:p>
            <a:r>
              <a:rPr lang="ru-RU" dirty="0"/>
              <a:t>          </a:t>
            </a:r>
            <a:r>
              <a:rPr lang="en-US" dirty="0"/>
              <a:t>           </a:t>
            </a:r>
            <a:r>
              <a:rPr lang="ru-RU" dirty="0"/>
              <a:t>▼              </a:t>
            </a:r>
            <a:r>
              <a:rPr lang="en-US" dirty="0"/>
              <a:t>                </a:t>
            </a:r>
            <a:r>
              <a:rPr lang="ru-RU" dirty="0"/>
              <a:t>▼</a:t>
            </a:r>
          </a:p>
          <a:p>
            <a:r>
              <a:rPr lang="ru-RU" dirty="0"/>
              <a:t>┌─────────────────┐ ┌─────────────────┐</a:t>
            </a:r>
          </a:p>
          <a:p>
            <a:r>
              <a:rPr lang="ru-RU" dirty="0"/>
              <a:t>│</a:t>
            </a:r>
            <a:r>
              <a:rPr lang="ru-RU" dirty="0" err="1"/>
              <a:t>Payment</a:t>
            </a:r>
            <a:r>
              <a:rPr lang="ru-RU" dirty="0"/>
              <a:t> Service  </a:t>
            </a:r>
            <a:r>
              <a:rPr lang="en-US" dirty="0"/>
              <a:t>	    </a:t>
            </a:r>
            <a:r>
              <a:rPr lang="ru-RU" dirty="0"/>
              <a:t>│ │</a:t>
            </a:r>
            <a:r>
              <a:rPr lang="ru-RU" dirty="0" err="1"/>
              <a:t>Notification</a:t>
            </a:r>
            <a:r>
              <a:rPr lang="ru-RU" dirty="0"/>
              <a:t> </a:t>
            </a:r>
            <a:r>
              <a:rPr lang="ru-RU" dirty="0" err="1"/>
              <a:t>Svc</a:t>
            </a:r>
            <a:r>
              <a:rPr lang="ru-RU" dirty="0"/>
              <a:t> </a:t>
            </a:r>
            <a:r>
              <a:rPr lang="en-US" dirty="0"/>
              <a:t>         </a:t>
            </a:r>
            <a:r>
              <a:rPr lang="ru-RU" dirty="0"/>
              <a:t>│</a:t>
            </a:r>
          </a:p>
          <a:p>
            <a:r>
              <a:rPr lang="ru-RU" dirty="0"/>
              <a:t>│   ┌─────────┐   </a:t>
            </a:r>
            <a:r>
              <a:rPr lang="en-US" dirty="0"/>
              <a:t>       </a:t>
            </a:r>
            <a:r>
              <a:rPr lang="ru-RU" dirty="0"/>
              <a:t>│ │   ┌─────────┐   </a:t>
            </a:r>
            <a:r>
              <a:rPr lang="en-US" dirty="0"/>
              <a:t>       </a:t>
            </a:r>
            <a:r>
              <a:rPr lang="ru-RU" dirty="0"/>
              <a:t>│</a:t>
            </a:r>
          </a:p>
          <a:p>
            <a:r>
              <a:rPr lang="ru-RU" dirty="0"/>
              <a:t>│   │  MySQL  </a:t>
            </a:r>
            <a:r>
              <a:rPr lang="en-US" dirty="0"/>
              <a:t>   </a:t>
            </a:r>
            <a:r>
              <a:rPr lang="ru-RU" dirty="0"/>
              <a:t>│   </a:t>
            </a:r>
            <a:r>
              <a:rPr lang="en-US" dirty="0"/>
              <a:t>       </a:t>
            </a:r>
            <a:r>
              <a:rPr lang="ru-RU" dirty="0"/>
              <a:t>│ │   │  </a:t>
            </a:r>
            <a:r>
              <a:rPr lang="ru-RU" dirty="0" err="1"/>
              <a:t>Redis</a:t>
            </a:r>
            <a:r>
              <a:rPr lang="ru-RU" dirty="0"/>
              <a:t>  </a:t>
            </a:r>
            <a:r>
              <a:rPr lang="en-US" dirty="0"/>
              <a:t>      </a:t>
            </a:r>
            <a:r>
              <a:rPr lang="ru-RU" dirty="0"/>
              <a:t>│   </a:t>
            </a:r>
            <a:r>
              <a:rPr lang="en-US" dirty="0"/>
              <a:t>       </a:t>
            </a:r>
            <a:r>
              <a:rPr lang="ru-RU" dirty="0"/>
              <a:t>│</a:t>
            </a:r>
          </a:p>
          <a:p>
            <a:r>
              <a:rPr lang="ru-RU" dirty="0"/>
              <a:t>│   └─────────┘   </a:t>
            </a:r>
            <a:r>
              <a:rPr lang="en-US" dirty="0"/>
              <a:t>       </a:t>
            </a:r>
            <a:r>
              <a:rPr lang="ru-RU" dirty="0"/>
              <a:t>│ │   └─────────┘   </a:t>
            </a:r>
            <a:r>
              <a:rPr lang="en-US" dirty="0"/>
              <a:t>       </a:t>
            </a:r>
            <a:r>
              <a:rPr lang="ru-RU" dirty="0"/>
              <a:t>│</a:t>
            </a:r>
          </a:p>
          <a:p>
            <a:r>
              <a:rPr lang="ru-RU" dirty="0"/>
              <a:t>└─────────────────┘ └─────────────────┘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D7C27F1-B47C-AB21-51B7-48388FB9E9BD}"/>
              </a:ext>
            </a:extLst>
          </p:cNvPr>
          <p:cNvSpPr txBox="1"/>
          <p:nvPr/>
        </p:nvSpPr>
        <p:spPr>
          <a:xfrm>
            <a:off x="6096000" y="990505"/>
            <a:ext cx="6097656" cy="4875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Плюсы: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Масштабирование отдельных частей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Разные технологии под задачу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Независимая разработка команд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Минусы: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распределенных систем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 задержки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Трудность отладки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Согласованность данных</a:t>
            </a:r>
          </a:p>
        </p:txBody>
      </p:sp>
    </p:spTree>
    <p:extLst>
      <p:ext uri="{BB962C8B-B14F-4D97-AF65-F5344CB8AC3E}">
        <p14:creationId xmlns:p14="http://schemas.microsoft.com/office/powerpoint/2010/main" val="233381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445989A-EC0B-505D-49E0-6F662BA9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799ECF2-D733-5CD4-654C-3B22BF4B99C6}"/>
              </a:ext>
            </a:extLst>
          </p:cNvPr>
          <p:cNvSpPr txBox="1"/>
          <p:nvPr/>
        </p:nvSpPr>
        <p:spPr>
          <a:xfrm>
            <a:off x="0" y="0"/>
            <a:ext cx="12192000" cy="4178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Architecture (Событийно-ориентированная)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800" b="1" i="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Компоненты общаются через события. Когда происходит событие, оно рассылается всем заинтересованным подписчикам."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Компоненты: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создает события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Consumer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обрабатывает события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Message </a:t>
            </a: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Broker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доставляет события</a:t>
            </a:r>
          </a:p>
        </p:txBody>
      </p:sp>
    </p:spTree>
    <p:extLst>
      <p:ext uri="{BB962C8B-B14F-4D97-AF65-F5344CB8AC3E}">
        <p14:creationId xmlns:p14="http://schemas.microsoft.com/office/powerpoint/2010/main" val="34935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998E31B-6B75-96F4-EC7F-DF7E598FA4E1}"/>
              </a:ext>
            </a:extLst>
          </p:cNvPr>
          <p:cNvSpPr txBox="1"/>
          <p:nvPr/>
        </p:nvSpPr>
        <p:spPr>
          <a:xfrm>
            <a:off x="116786" y="1353093"/>
            <a:ext cx="60976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┌─────────┐    Событие    </a:t>
            </a:r>
            <a:r>
              <a:rPr lang="en-US" dirty="0"/>
              <a:t>        </a:t>
            </a:r>
            <a:r>
              <a:rPr lang="ru-RU" dirty="0"/>
              <a:t>┌─────────┐</a:t>
            </a:r>
          </a:p>
          <a:p>
            <a:r>
              <a:rPr lang="ru-RU" dirty="0"/>
              <a:t>│ </a:t>
            </a:r>
            <a:r>
              <a:rPr lang="ru-RU" dirty="0" err="1"/>
              <a:t>Order</a:t>
            </a:r>
            <a:r>
              <a:rPr lang="ru-RU" dirty="0"/>
              <a:t>   </a:t>
            </a:r>
            <a:r>
              <a:rPr lang="en-US" dirty="0"/>
              <a:t>	    </a:t>
            </a:r>
            <a:r>
              <a:rPr lang="ru-RU" dirty="0"/>
              <a:t>│ ────────────► │  </a:t>
            </a:r>
            <a:r>
              <a:rPr lang="ru-RU" dirty="0" err="1"/>
              <a:t>Kafka</a:t>
            </a:r>
            <a:r>
              <a:rPr lang="ru-RU" dirty="0"/>
              <a:t>  </a:t>
            </a:r>
            <a:r>
              <a:rPr lang="en-US" dirty="0"/>
              <a:t>      </a:t>
            </a:r>
            <a:r>
              <a:rPr lang="ru-RU" dirty="0"/>
              <a:t>│</a:t>
            </a:r>
          </a:p>
          <a:p>
            <a:r>
              <a:rPr lang="ru-RU" dirty="0"/>
              <a:t>│ Service </a:t>
            </a:r>
            <a:r>
              <a:rPr lang="en-US" dirty="0"/>
              <a:t>     </a:t>
            </a:r>
            <a:r>
              <a:rPr lang="ru-RU" dirty="0"/>
              <a:t>│                </a:t>
            </a:r>
            <a:r>
              <a:rPr lang="en-US" dirty="0"/>
              <a:t>                </a:t>
            </a:r>
            <a:r>
              <a:rPr lang="ru-RU" dirty="0"/>
              <a:t>│   /     </a:t>
            </a:r>
            <a:r>
              <a:rPr lang="en-US" dirty="0"/>
              <a:t>          </a:t>
            </a:r>
            <a:r>
              <a:rPr lang="ru-RU" dirty="0"/>
              <a:t>│</a:t>
            </a:r>
          </a:p>
          <a:p>
            <a:r>
              <a:rPr lang="ru-RU" dirty="0"/>
              <a:t>└─────────┘                </a:t>
            </a:r>
            <a:r>
              <a:rPr lang="en-US" dirty="0"/>
              <a:t>                </a:t>
            </a:r>
            <a:r>
              <a:rPr lang="ru-RU" dirty="0"/>
              <a:t>│</a:t>
            </a:r>
            <a:r>
              <a:rPr lang="ru-RU" dirty="0" err="1"/>
              <a:t>RabbitMQ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│</a:t>
            </a:r>
          </a:p>
          <a:p>
            <a:r>
              <a:rPr lang="ru-RU" dirty="0"/>
              <a:t>                           </a:t>
            </a:r>
            <a:r>
              <a:rPr lang="en-US" dirty="0"/>
              <a:t>                            </a:t>
            </a:r>
            <a:r>
              <a:rPr lang="ru-RU" dirty="0"/>
              <a:t>└────┬────┘</a:t>
            </a:r>
          </a:p>
          <a:p>
            <a:r>
              <a:rPr lang="ru-RU" dirty="0"/>
              <a:t>                                </a:t>
            </a:r>
            <a:r>
              <a:rPr lang="en-US" dirty="0"/>
              <a:t>                                    </a:t>
            </a:r>
            <a:r>
              <a:rPr lang="ru-RU" dirty="0"/>
              <a:t>│</a:t>
            </a:r>
          </a:p>
          <a:p>
            <a:r>
              <a:rPr lang="ru-RU" dirty="0"/>
              <a:t>           </a:t>
            </a:r>
            <a:r>
              <a:rPr lang="en-US" dirty="0"/>
              <a:t>      </a:t>
            </a:r>
            <a:r>
              <a:rPr lang="ru-RU" dirty="0"/>
              <a:t>┌───────────────────┼───────────────────┐</a:t>
            </a:r>
          </a:p>
          <a:p>
            <a:r>
              <a:rPr lang="ru-RU" dirty="0"/>
              <a:t>            </a:t>
            </a:r>
            <a:r>
              <a:rPr lang="en-US" dirty="0"/>
              <a:t>    </a:t>
            </a:r>
            <a:r>
              <a:rPr lang="ru-RU" dirty="0"/>
              <a:t>▼                   </a:t>
            </a:r>
            <a:r>
              <a:rPr lang="en-US" dirty="0"/>
              <a:t>                      </a:t>
            </a:r>
            <a:r>
              <a:rPr lang="ru-RU" dirty="0"/>
              <a:t>▼                   </a:t>
            </a:r>
            <a:r>
              <a:rPr lang="en-US" dirty="0"/>
              <a:t>                     </a:t>
            </a:r>
            <a:r>
              <a:rPr lang="ru-RU" dirty="0"/>
              <a:t>▼</a:t>
            </a:r>
          </a:p>
          <a:p>
            <a:r>
              <a:rPr lang="ru-RU" dirty="0"/>
              <a:t>    ┌─────────────┐     ┌─────────────┐     ┌─────────────┐</a:t>
            </a:r>
          </a:p>
          <a:p>
            <a:r>
              <a:rPr lang="ru-RU" dirty="0"/>
              <a:t>    │  </a:t>
            </a:r>
            <a:r>
              <a:rPr lang="ru-RU" dirty="0" err="1"/>
              <a:t>Email</a:t>
            </a:r>
            <a:r>
              <a:rPr lang="ru-RU" dirty="0"/>
              <a:t>      </a:t>
            </a:r>
            <a:r>
              <a:rPr lang="en-US" dirty="0"/>
              <a:t>           </a:t>
            </a:r>
            <a:r>
              <a:rPr lang="ru-RU" dirty="0"/>
              <a:t>│     │  </a:t>
            </a:r>
            <a:r>
              <a:rPr lang="ru-RU" dirty="0" err="1"/>
              <a:t>Payment</a:t>
            </a:r>
            <a:r>
              <a:rPr lang="ru-RU" dirty="0"/>
              <a:t>    </a:t>
            </a:r>
            <a:r>
              <a:rPr lang="en-US" dirty="0"/>
              <a:t>       </a:t>
            </a:r>
            <a:r>
              <a:rPr lang="ru-RU" dirty="0"/>
              <a:t>│     │  Analytics  </a:t>
            </a:r>
            <a:r>
              <a:rPr lang="en-US" dirty="0"/>
              <a:t>        </a:t>
            </a:r>
            <a:r>
              <a:rPr lang="ru-RU" dirty="0"/>
              <a:t>│</a:t>
            </a:r>
          </a:p>
          <a:p>
            <a:r>
              <a:rPr lang="ru-RU" dirty="0"/>
              <a:t>    │  Service    </a:t>
            </a:r>
            <a:r>
              <a:rPr lang="en-US" dirty="0"/>
              <a:t>          </a:t>
            </a:r>
            <a:r>
              <a:rPr lang="ru-RU" dirty="0"/>
              <a:t>│     │  Service    </a:t>
            </a:r>
            <a:r>
              <a:rPr lang="en-US" dirty="0"/>
              <a:t>          </a:t>
            </a:r>
            <a:r>
              <a:rPr lang="ru-RU" dirty="0"/>
              <a:t>│</a:t>
            </a:r>
            <a:r>
              <a:rPr lang="en-US" dirty="0"/>
              <a:t> </a:t>
            </a:r>
            <a:r>
              <a:rPr lang="ru-RU" dirty="0"/>
              <a:t>    │  Service    </a:t>
            </a:r>
            <a:r>
              <a:rPr lang="en-US" dirty="0"/>
              <a:t>         </a:t>
            </a:r>
            <a:r>
              <a:rPr lang="ru-RU" dirty="0"/>
              <a:t>│</a:t>
            </a:r>
          </a:p>
          <a:p>
            <a:r>
              <a:rPr lang="ru-RU" dirty="0"/>
              <a:t>    └─────────────┘     └─────────────┘     └─────────────┘</a:t>
            </a:r>
            <a:r>
              <a:rPr lang="en-US" dirty="0"/>
              <a:t> 	 	 	 	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19A32D7-77E8-1A03-0CF8-442448B7D693}"/>
              </a:ext>
            </a:extLst>
          </p:cNvPr>
          <p:cNvSpPr txBox="1"/>
          <p:nvPr/>
        </p:nvSpPr>
        <p:spPr>
          <a:xfrm>
            <a:off x="6094344" y="0"/>
            <a:ext cx="6097656" cy="6758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Заказ создан (событие)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-сервис отправляет письмо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-сервис резервирует средства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Analytics-сервис записывает статистику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Плюсы: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Слабая связанность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Асинхронность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Минусы: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отладки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Гарантии доставки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состоянием</a:t>
            </a:r>
          </a:p>
        </p:txBody>
      </p:sp>
    </p:spTree>
    <p:extLst>
      <p:ext uri="{BB962C8B-B14F-4D97-AF65-F5344CB8AC3E}">
        <p14:creationId xmlns:p14="http://schemas.microsoft.com/office/powerpoint/2010/main" val="6442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D29BCC-CC58-2E50-9C92-F8CF95C6D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D867A26-162B-C83D-8215-C2D00AB92EE2}"/>
              </a:ext>
            </a:extLst>
          </p:cNvPr>
          <p:cNvSpPr txBox="1"/>
          <p:nvPr/>
        </p:nvSpPr>
        <p:spPr>
          <a:xfrm>
            <a:off x="2381250" y="0"/>
            <a:ext cx="7200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/>
              <a:t>Сравнение архитектурных стилей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xmlns="" id="{D84C3DD7-1537-8DD6-4139-3FC3CE99F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370543"/>
              </p:ext>
            </p:extLst>
          </p:nvPr>
        </p:nvGraphicFramePr>
        <p:xfrm>
          <a:off x="0" y="1373188"/>
          <a:ext cx="12192000" cy="3606800"/>
        </p:xfrm>
        <a:graphic>
          <a:graphicData uri="http://schemas.openxmlformats.org/drawingml/2006/table">
            <a:tbl>
              <a:tblPr/>
              <a:tblGrid>
                <a:gridCol w="2064460">
                  <a:extLst>
                    <a:ext uri="{9D8B030D-6E8A-4147-A177-3AD203B41FA5}">
                      <a16:colId xmlns:a16="http://schemas.microsoft.com/office/drawing/2014/main" xmlns="" val="4201440542"/>
                    </a:ext>
                  </a:extLst>
                </a:gridCol>
                <a:gridCol w="2531885">
                  <a:extLst>
                    <a:ext uri="{9D8B030D-6E8A-4147-A177-3AD203B41FA5}">
                      <a16:colId xmlns:a16="http://schemas.microsoft.com/office/drawing/2014/main" xmlns="" val="674956129"/>
                    </a:ext>
                  </a:extLst>
                </a:gridCol>
                <a:gridCol w="2531885">
                  <a:extLst>
                    <a:ext uri="{9D8B030D-6E8A-4147-A177-3AD203B41FA5}">
                      <a16:colId xmlns:a16="http://schemas.microsoft.com/office/drawing/2014/main" xmlns="" val="1042326874"/>
                    </a:ext>
                  </a:extLst>
                </a:gridCol>
                <a:gridCol w="2531885">
                  <a:extLst>
                    <a:ext uri="{9D8B030D-6E8A-4147-A177-3AD203B41FA5}">
                      <a16:colId xmlns:a16="http://schemas.microsoft.com/office/drawing/2014/main" xmlns="" val="1083482738"/>
                    </a:ext>
                  </a:extLst>
                </a:gridCol>
                <a:gridCol w="2531885">
                  <a:extLst>
                    <a:ext uri="{9D8B030D-6E8A-4147-A177-3AD203B41FA5}">
                      <a16:colId xmlns:a16="http://schemas.microsoft.com/office/drawing/2014/main" xmlns="" val="1483103860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Стиль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Коммуникация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Масштабирование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Сложность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Когда использовать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320238666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Многослойная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Синхронные вызовы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Вертикальное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Простые приложения, стартапы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190312423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Клиент-сервер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HTTP/</a:t>
                      </a: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Горизонтальное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Веб-приложения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3225959367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Микросервисы</a:t>
                      </a:r>
                      <a:endParaRPr lang="ru-RU" sz="18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Сеть/</a:t>
                      </a: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Независимое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Большие системы, разные команды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16850084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Event-Driven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Асинхронные события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Горизонтальное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Сложные процессы, интеграции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425029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211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D367793-1550-B6E6-2303-C73327174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7778835-BBD0-02AD-D52D-D366A301AB21}"/>
              </a:ext>
            </a:extLst>
          </p:cNvPr>
          <p:cNvSpPr txBox="1"/>
          <p:nvPr/>
        </p:nvSpPr>
        <p:spPr>
          <a:xfrm>
            <a:off x="0" y="-2"/>
            <a:ext cx="12192000" cy="44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Реальные примеры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 +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 (в 2001 перешли с монолита)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 +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Search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монолит (да, поисковик — это монолит!)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смешанная архитектура</a:t>
            </a:r>
          </a:p>
        </p:txBody>
      </p:sp>
    </p:spTree>
    <p:extLst>
      <p:ext uri="{BB962C8B-B14F-4D97-AF65-F5344CB8AC3E}">
        <p14:creationId xmlns:p14="http://schemas.microsoft.com/office/powerpoint/2010/main" val="406606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9FB3B5-A79F-800F-03FE-36C07C72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7F3DE4E-9471-DFB1-511A-915041684F4F}"/>
              </a:ext>
            </a:extLst>
          </p:cNvPr>
          <p:cNvSpPr txBox="1"/>
          <p:nvPr/>
        </p:nvSpPr>
        <p:spPr>
          <a:xfrm>
            <a:off x="0" y="-2"/>
            <a:ext cx="12192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лекции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Поведенческие паттерны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управляют взаимодействием объектов: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— взаимозаменяемые алгоритмы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Observer — подписка на события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— отмена и история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— поведение от состояния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Архитектурные стили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определяют структуру всей системы: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Многослойная — простота и понятность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— стандарт для API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 — независимость и масштабирование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— асинхронность и слабая связанность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зависит от конкретной задачи и контекста.</a:t>
            </a:r>
          </a:p>
        </p:txBody>
      </p:sp>
    </p:spTree>
    <p:extLst>
      <p:ext uri="{BB962C8B-B14F-4D97-AF65-F5344CB8AC3E}">
        <p14:creationId xmlns:p14="http://schemas.microsoft.com/office/powerpoint/2010/main" val="246542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68B03BF-C472-BEEC-EFB6-0C4985C8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93CBE75-088C-4D76-627E-20F99B6D47AB}"/>
              </a:ext>
            </a:extLst>
          </p:cNvPr>
          <p:cNvSpPr txBox="1"/>
          <p:nvPr/>
        </p:nvSpPr>
        <p:spPr>
          <a:xfrm>
            <a:off x="3514725" y="226037"/>
            <a:ext cx="6396037" cy="352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buNone/>
            </a:pPr>
            <a:r>
              <a:rPr lang="ru-RU" sz="32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ДОМАШНЕЕ ЗАДАНИЕ</a:t>
            </a:r>
            <a:endParaRPr lang="ru-RU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B1C58D6-AFC2-E770-B77D-347CE734978A}"/>
              </a:ext>
            </a:extLst>
          </p:cNvPr>
          <p:cNvSpPr txBox="1"/>
          <p:nvPr/>
        </p:nvSpPr>
        <p:spPr>
          <a:xfrm>
            <a:off x="0" y="578056"/>
            <a:ext cx="12192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Определите, какие поведенческие паттерны можно применить в вашем проекте: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Где нужна подписка на события? (Observer)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Где нужна отмена действий? (Command)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Где поведение зависит от статуса? (State)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Где нужно переключать алгоритмы? (Strategy)</a:t>
            </a:r>
          </a:p>
          <a:p>
            <a:pPr algn="l">
              <a:buNone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краткий отчет с примерами.</a:t>
            </a:r>
          </a:p>
          <a:p>
            <a:pPr algn="l"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Спроектируйте систему уведомлений для интернет-магазина: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может подписаться на уведомления (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SMS, Telegram)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изменении статуса заказа (новый, оплачен, отправлен, доставлен) всем подписчикам приходит уведомление</a:t>
            </a:r>
          </a:p>
          <a:p>
            <a:pPr algn="l"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Используйте паттерн Observer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Используйте паттерн State для статусов заказа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Нарисуйте диаграмму классов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код (можно псевдокод)</a:t>
            </a:r>
          </a:p>
          <a:p>
            <a:pPr algn="l"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Проанализируйте архитектуру известного вам приложения (Telegram, YouTube, Instagram — на выбор). Попробуйте определить, какие архитектурные стили там используются. Напишите эссе на 1 страницу.</a:t>
            </a:r>
          </a:p>
        </p:txBody>
      </p:sp>
    </p:spTree>
    <p:extLst>
      <p:ext uri="{BB962C8B-B14F-4D97-AF65-F5344CB8AC3E}">
        <p14:creationId xmlns:p14="http://schemas.microsoft.com/office/powerpoint/2010/main" val="32400059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6265</TotalTime>
  <Words>2735</Words>
  <Application>Microsoft Office PowerPoint</Application>
  <PresentationFormat>Широкоэкранный</PresentationFormat>
  <Paragraphs>699</Paragraphs>
  <Slides>32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Menlo</vt:lpstr>
      <vt:lpstr>quote-cjk-patch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Арсентий Абдалов</dc:creator>
  <cp:lastModifiedBy>user</cp:lastModifiedBy>
  <cp:revision>22</cp:revision>
  <dcterms:created xsi:type="dcterms:W3CDTF">2025-09-19T18:20:34Z</dcterms:created>
  <dcterms:modified xsi:type="dcterms:W3CDTF">2026-03-07T06:23:29Z</dcterms:modified>
</cp:coreProperties>
</file>