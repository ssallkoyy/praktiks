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8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85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2" d="100"/>
          <a:sy n="102" d="100"/>
        </p:scale>
        <p:origin x="870" y="36"/>
      </p:cViewPr>
      <p:guideLst>
        <p:guide orient="horz" pos="1979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6F939B-D03E-D30C-A810-EEBDA7138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D796D6E-ADE2-CD1C-C647-8F50E69FF1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54BB7D-7194-4C9C-A117-D81E37A6B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689A0-1B10-B447-8DF5-B76FB086E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D72CFA4-E6B4-684D-9E2A-C1B96748D9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32909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3E55A4-6149-A983-0363-BFE7D04E4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FAB9FE-B873-3E72-E18C-39A157123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BEC2870-7F6E-109B-8041-25E74D47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13C32C-236A-F54D-E292-41D0CA490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4F8EDF-1B27-7091-7D47-5775A543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6837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AFCB83-D2FC-83AB-039E-72B248473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E649E9-8EA1-1378-239D-EFC635AF1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5EE3025-46A2-5F31-ED73-E78860B35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D806FFF-C6C0-5DE1-F22F-F4C6828D0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F3275-CFFB-FB65-9D5C-14A3FAF5B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049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956727-548A-3309-C384-2C15A8C9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70AFF7-FE6C-8D72-91DE-19FECB3BBF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0A1665-FAD8-2AA9-4057-198007F3F6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89E6712-3ED8-DABB-C8FC-43C31B7AB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B20F49A-8F5E-A113-1FFC-C2501B616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6FB815-92B1-1F33-286B-8343A8E90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956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C89510-A44E-03DE-C188-5FEEA9641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29430F-EA7F-1C72-879C-4BBC4175B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66FDB1E-510D-4A5F-8A3F-9B1F5D08D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54DC8E5-52AA-7753-3566-A382C6CE5F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7779F90-47D7-2460-83A8-B62CAEB878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0C7755-3347-4D90-6EF8-2DD306C3F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EBDDCA8A-A2AF-401A-C284-5EA347E3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01B781E-BB26-1167-2ACB-AD005A8FB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630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7F3A3E7-F129-6CD9-9D39-C0C4BD52E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B4DBD420-4980-6586-AF75-9993055C4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AA0E24F-43AF-7E00-5BDC-D271F6C8C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9ED13AB-62D2-A8C2-247B-6C990616B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4636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830C6C5-A9A9-A031-9835-3E445316D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D157B3B-236F-59DB-B6BD-126655F86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18F42D4-D553-08AE-0D3F-1AE23CB37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3751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C2B731-F2CF-CED1-E595-603B6F460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86A1EE9-BB36-302B-9B21-7BC53E358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CF993FB8-D340-AA88-8A83-9F640F14BA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CE24426-0AF0-F702-3E6F-EB5E7FD50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F127403-AFF5-A1F1-C38B-EAE576746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DD87016-7C3B-8820-5FFA-E1F41226C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80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083BC2-5D8C-6DCC-9DB4-22045EA482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43429BF-C80C-6FB7-B257-57CBDC1FDD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7AF6F03-3F54-0FBC-2041-1417E6AF34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97682CD-F275-E00C-9E86-EC98EA0FF5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9F279DD-417B-2C4B-28BA-0A5350BBA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514FC7C-95BE-CB51-FA62-273D7A50E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761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950BA6A-9AE9-7C7A-3926-887923A35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89E3E1A-29AD-799B-AF38-5D6203AD2A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9281B96-8B5E-3649-E736-48828CE42F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2B8976D-6341-2F02-209A-1BABFE62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576A6FD-5AF5-7F33-A734-7DD6D253A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42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DCB62C44-C171-CB5F-5F56-26B88D1D7A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B4AD2F9-ED0C-7417-1C1D-386663A0E2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38FE3A7-8B80-C7F0-DB9F-7B2D2E1B4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A62E36-7B94-44FF-8913-FF4B90064E9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D74A1F5-D0C0-746C-9FDA-EAFD1369D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B8AE5F-419C-3412-B52D-B3C77E65A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399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10A8ACE-89FD-86A8-11E5-2DE20E721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73113E-A006-24C6-0730-C1738BF2D9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9570BD6-0B00-7DFA-125A-629E83DD7C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A62E36-7B94-44FF-8913-FF4B90064E98}" type="datetimeFigureOut">
              <a:rPr lang="ru-RU" smtClean="0"/>
              <a:t>20.02.2026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C25892-923C-BAE0-48E6-F7061E8AD4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7C92736-5165-6F55-7961-EA2F0F956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5F418-D851-46F7-ABD9-444A8078EF5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9764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68A2FC49-0F3D-10F3-3C58-C150ADDDA79A}"/>
              </a:ext>
            </a:extLst>
          </p:cNvPr>
          <p:cNvSpPr>
            <a:spLocks noGrp="1"/>
          </p:cNvSpPr>
          <p:nvPr/>
        </p:nvSpPr>
        <p:spPr>
          <a:xfrm>
            <a:off x="767408" y="637906"/>
            <a:ext cx="10009112" cy="115212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4000" b="1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Программная инженерия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CF9474D-52CF-A0C1-82BD-88882A3B6B89}"/>
              </a:ext>
            </a:extLst>
          </p:cNvPr>
          <p:cNvSpPr/>
          <p:nvPr/>
        </p:nvSpPr>
        <p:spPr>
          <a:xfrm>
            <a:off x="2328709" y="5850762"/>
            <a:ext cx="7357848" cy="36933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sz="2000" b="1" dirty="0"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СРЕДНЕРУССКИЙ ИНСТИТУТ УПРАВЛЕНИЯ - РАНХиГС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D372B26-2A09-4EED-6486-A25A87BA09D9}"/>
              </a:ext>
            </a:extLst>
          </p:cNvPr>
          <p:cNvSpPr/>
          <p:nvPr/>
        </p:nvSpPr>
        <p:spPr>
          <a:xfrm>
            <a:off x="1991544" y="5073564"/>
            <a:ext cx="7560840" cy="6463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Доцент кафедры «Математики и информационных технологий», кандидат технических наук Абдалов Арсентий Владимирович</a:t>
            </a:r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C8FFEF4D-BCEA-CBA4-F2AB-011E6A9000B2}"/>
              </a:ext>
            </a:extLst>
          </p:cNvPr>
          <p:cNvSpPr txBox="1"/>
          <p:nvPr/>
        </p:nvSpPr>
        <p:spPr>
          <a:xfrm>
            <a:off x="0" y="2698876"/>
            <a:ext cx="1219199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Лекция №2: Объектно-ориентированное проектирование: продвинутый уровень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121899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81224-752A-DFD2-CFBE-6223E6F32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B05BA81-1097-457A-493F-2E5B52C3C659}"/>
              </a:ext>
            </a:extLst>
          </p:cNvPr>
          <p:cNvSpPr txBox="1"/>
          <p:nvPr/>
        </p:nvSpPr>
        <p:spPr>
          <a:xfrm>
            <a:off x="0" y="216817"/>
            <a:ext cx="1219200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Проблема: Почему код умирает?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Код работает, но: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Чтобы добавить одну маленькую фичу, нужно переписать полпроекта.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Баги исправляются, но появляются в трёх других местах.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Новый разработчик плачет и увольняется.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Причина: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Нарушение принципов проектирования.</a:t>
            </a:r>
          </a:p>
          <a:p>
            <a:pPr lvl="0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Цель: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Жить не быстро, а долго (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maintainability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9949991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EA589-B760-70EA-46E7-F404A9AD4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56BA04A1-4B40-A9B2-A3DA-347A6D143896}"/>
              </a:ext>
            </a:extLst>
          </p:cNvPr>
          <p:cNvSpPr txBox="1"/>
          <p:nvPr/>
        </p:nvSpPr>
        <p:spPr>
          <a:xfrm>
            <a:off x="1572" y="0"/>
            <a:ext cx="12190428" cy="4505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ru-RU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Повторение принципов программирования с SOLID</a:t>
            </a:r>
          </a:p>
          <a:p>
            <a:pPr lvl="0" algn="just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ingle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Responsibility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(Принцип единственной ответственности)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pen/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Closed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(Принцип открытости/закрытости)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iskov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(Принцип подстановки Барбары Лисков)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nterface Segregation Principle (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разделения интерфейса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ependency Inversion Principle (</a:t>
            </a:r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Принцип инверсии зависимостей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532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61111-D426-9DB6-3D11-DA2D70478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B2745BC-1393-14D1-6D17-30604B54DBF4}"/>
              </a:ext>
            </a:extLst>
          </p:cNvPr>
          <p:cNvSpPr txBox="1"/>
          <p:nvPr/>
        </p:nvSpPr>
        <p:spPr>
          <a:xfrm>
            <a:off x="0" y="0"/>
            <a:ext cx="12192000" cy="34521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— Single Responsibility Principle (SRP)</a:t>
            </a:r>
            <a:endParaRPr lang="ru-RU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"Должна быть ровно одна причина для изменения класса."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Антипаттерн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God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 (Божественный объект).</a:t>
            </a:r>
          </a:p>
          <a:p>
            <a:pPr marL="457200" indent="-4572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Признак: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Класс "делает всё": читает из файла, считает налоги, рисует отчёт и шлёт письма.</a:t>
            </a:r>
            <a:endParaRPr lang="ru-RU" sz="2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31E54D-79A0-B0EE-E715-F1D7E8CD2AEC}"/>
              </a:ext>
            </a:extLst>
          </p:cNvPr>
          <p:cNvSpPr txBox="1"/>
          <p:nvPr/>
        </p:nvSpPr>
        <p:spPr>
          <a:xfrm>
            <a:off x="0" y="3701118"/>
            <a:ext cx="6096000" cy="27692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b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 нарушения (плохо):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Employee</a:t>
            </a: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public double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calculatePay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{ </a:t>
            </a:r>
            <a:r>
              <a:rPr lang="en-US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/* </a:t>
            </a:r>
            <a:r>
              <a:rPr lang="ru-RU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расчет зарплаты</a:t>
            </a:r>
            <a:r>
              <a:rPr lang="en-US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*/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}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saveToDatabase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{ </a:t>
            </a:r>
            <a:r>
              <a:rPr lang="en-US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/* </a:t>
            </a:r>
            <a:r>
              <a:rPr lang="ru-RU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сохранение в БД</a:t>
            </a:r>
            <a:r>
              <a:rPr lang="en-US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*/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}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</a:t>
            </a: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printReport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() { </a:t>
            </a:r>
            <a:r>
              <a:rPr lang="en-US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/* </a:t>
            </a:r>
            <a:r>
              <a:rPr lang="ru-RU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печать отчета</a:t>
            </a:r>
            <a:r>
              <a:rPr lang="en-US" sz="1800" i="1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*/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}</a:t>
            </a:r>
            <a:endParaRPr lang="ru-RU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A91CB2-2B13-E2CE-A9BC-E5B4646A3425}"/>
              </a:ext>
            </a:extLst>
          </p:cNvPr>
          <p:cNvSpPr txBox="1"/>
          <p:nvPr/>
        </p:nvSpPr>
        <p:spPr>
          <a:xfrm>
            <a:off x="6096000" y="3007233"/>
            <a:ext cx="6026870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800"/>
              </a:spcAft>
              <a:buNone/>
            </a:pPr>
            <a:r>
              <a:rPr lang="ru-RU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Пример исправления (хорошо):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ru-RU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java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ru-RU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</a:t>
            </a:r>
            <a:r>
              <a:rPr lang="ru-RU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Employee</a:t>
            </a:r>
            <a:r>
              <a:rPr lang="ru-RU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{ </a:t>
            </a:r>
            <a:r>
              <a:rPr lang="ru-RU" sz="1400" i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// Только данные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ru-RU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private String name;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private double salary;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PayCalculator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double calculate(Employee emp) { ... 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class </a:t>
            </a:r>
            <a:r>
              <a:rPr lang="en-US" sz="14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EmployeeRepository</a:t>
            </a: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{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en-US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public void save(Employee emp) { ... }</a:t>
            </a:r>
            <a:endParaRPr lang="ru-RU" sz="14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800"/>
              </a:spcAft>
              <a:buNone/>
            </a:pPr>
            <a:r>
              <a:rPr lang="ru-RU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258888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2DDB6-EFE5-A6D1-9EC1-DD6C6EE76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FAFEDF9B-00F9-B5AD-0ED9-A09F3D81E397}"/>
              </a:ext>
            </a:extLst>
          </p:cNvPr>
          <p:cNvSpPr txBox="1"/>
          <p:nvPr/>
        </p:nvSpPr>
        <p:spPr>
          <a:xfrm>
            <a:off x="0" y="0"/>
            <a:ext cx="1219200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— Open/Closed Principle (OCP)</a:t>
            </a:r>
          </a:p>
          <a:p>
            <a:pPr algn="just"/>
            <a:endParaRPr lang="en-US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"Программные сущности должны быть открыты для расширения, но закрыты для изменения."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Мы должны иметь возможность добавить новую функциональность, не переписывая старый код.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Полиморфизм, абстракции, интерфейсы.</a:t>
            </a:r>
            <a:endParaRPr lang="ru-RU" sz="2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47CE9EE-8F17-EF2D-EAE2-3A3D900975B6}"/>
              </a:ext>
            </a:extLst>
          </p:cNvPr>
          <p:cNvSpPr txBox="1"/>
          <p:nvPr/>
        </p:nvSpPr>
        <p:spPr>
          <a:xfrm>
            <a:off x="0" y="3164681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нарушения: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DiscountCalculator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calculate(String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customerType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double amount) {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customerType.equals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("VIP")) return amount * 0.8;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else if 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customerType.equals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("Regular")) return amount * 0.9;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else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amount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Чтобы добавить "</a:t>
            </a:r>
            <a:r>
              <a:rPr lang="ru-RU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", мы лезем и меняем этот метод!</a:t>
            </a:r>
            <a:endParaRPr lang="ru-RU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E598C-90E5-64E9-DF30-7358E9170F99}"/>
              </a:ext>
            </a:extLst>
          </p:cNvPr>
          <p:cNvSpPr txBox="1"/>
          <p:nvPr/>
        </p:nvSpPr>
        <p:spPr>
          <a:xfrm>
            <a:off x="6096000" y="3007233"/>
            <a:ext cx="602687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исправления (через интерфейс):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DiscountStrategy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apply(double amount);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VIPDiscount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DiscountStrategy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apply(double amount) { return amount * 0.8; 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RegularDiscount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DiscountStrategy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apply(double amount) { return amount * 0.9; 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Новый тип добавляется без изменения старого кода!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EmployeeDiscount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DiscountStrategy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apply(double amount) { return amount * 0.7; 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7483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090EFE-B5F8-818A-E89F-C7725C40F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2113E4D4-38DC-89EE-90C0-D20497DC5271}"/>
              </a:ext>
            </a:extLst>
          </p:cNvPr>
          <p:cNvSpPr txBox="1"/>
          <p:nvPr/>
        </p:nvSpPr>
        <p:spPr>
          <a:xfrm>
            <a:off x="0" y="0"/>
            <a:ext cx="1219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 — </a:t>
            </a:r>
            <a:r>
              <a:rPr lang="en-US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Liskov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Substitution Principle (LSP)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"Функции, которые используют базовый тип, должны иметь возможность использовать подтипы, не зная об этом."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Суть: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Наследник не должен ломать поведение родителя.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Классика: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Квадрат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Прямоугольник.</a:t>
            </a:r>
            <a:endParaRPr lang="ru-RU" sz="2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4FB53D-1950-E9EE-6006-362A5950632C}"/>
              </a:ext>
            </a:extLst>
          </p:cNvPr>
          <p:cNvSpPr txBox="1"/>
          <p:nvPr/>
        </p:nvSpPr>
        <p:spPr>
          <a:xfrm>
            <a:off x="0" y="2594789"/>
            <a:ext cx="5656082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нарушения (классика):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private int width, height;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setWidth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w) { width = w; }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setHeight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h) { height = h; }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int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getArea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return width * height; }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8FEDE7-5A38-5C56-0E79-3A5F9E62F494}"/>
              </a:ext>
            </a:extLst>
          </p:cNvPr>
          <p:cNvSpPr txBox="1"/>
          <p:nvPr/>
        </p:nvSpPr>
        <p:spPr>
          <a:xfrm>
            <a:off x="5656082" y="2554545"/>
            <a:ext cx="6535918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Square extends Rectangle {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setWidth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w) {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super.setWidth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(w);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super.setHeight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(w);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Квадрат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 </a:t>
            </a:r>
            <a:r>
              <a:rPr lang="ru-RU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Ширина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ru-RU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Высота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setHeight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 h) {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super.setWidth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(h);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super.setHeight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(h);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ru-RU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то в коде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testArea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(Rectangle r) {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r.setWidth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(5);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r.setHeight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(4);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assert </a:t>
            </a:r>
            <a:r>
              <a:rPr lang="en-US" sz="17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r.getArea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== 20; 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Упадет для</a:t>
            </a:r>
            <a:r>
              <a:rPr lang="en-US" sz="17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Square!</a:t>
            </a:r>
            <a:endParaRPr lang="ru-RU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51131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2EA03-7B29-5043-50A0-68761DBEE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FE009F7-04D4-5820-A4E0-11DB9E590183}"/>
              </a:ext>
            </a:extLst>
          </p:cNvPr>
          <p:cNvSpPr txBox="1"/>
          <p:nvPr/>
        </p:nvSpPr>
        <p:spPr>
          <a:xfrm>
            <a:off x="0" y="0"/>
            <a:ext cx="1219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— Interface Segregation Principle (ISP)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"Много специализированных интерфейсов лучше, чем один универсальный."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Антипаттерн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Толстый интерфейс (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Fat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Interface).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**Клиенты не должны зависеть от методов, которые они не используют.</a:t>
            </a:r>
            <a:endParaRPr lang="ru-RU" sz="2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4E23C5-008A-A7F1-E106-E10EE891AB7E}"/>
              </a:ext>
            </a:extLst>
          </p:cNvPr>
          <p:cNvSpPr txBox="1"/>
          <p:nvPr/>
        </p:nvSpPr>
        <p:spPr>
          <a:xfrm>
            <a:off x="0" y="2594789"/>
            <a:ext cx="5656082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нарушения: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interface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Worker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eat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Не все работники едят в офисе (роботы?)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Human implements Worker {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work() { ... 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eat() { ... 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Robot implements Worker {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work() { ... 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eat() { throw new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UnsupportedOperationException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}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Плохо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1E5C07-0B28-11B2-FCB6-4F9EA93A2A1F}"/>
              </a:ext>
            </a:extLst>
          </p:cNvPr>
          <p:cNvSpPr txBox="1"/>
          <p:nvPr/>
        </p:nvSpPr>
        <p:spPr>
          <a:xfrm>
            <a:off x="5656082" y="2702511"/>
            <a:ext cx="653591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/>
              <a:t>Пример исправления</a:t>
            </a:r>
            <a:r>
              <a:rPr lang="en-US" sz="1600" b="1" dirty="0"/>
              <a:t>:</a:t>
            </a:r>
            <a:endParaRPr lang="ru-RU" sz="1600" dirty="0"/>
          </a:p>
          <a:p>
            <a:r>
              <a:rPr lang="en-US" sz="1600" dirty="0"/>
              <a:t>java</a:t>
            </a:r>
            <a:endParaRPr lang="ru-RU" sz="1600" dirty="0"/>
          </a:p>
          <a:p>
            <a:r>
              <a:rPr lang="en-US" sz="1600" dirty="0"/>
              <a:t>interface Workable { void work(); }</a:t>
            </a:r>
            <a:endParaRPr lang="ru-RU" sz="1600" dirty="0"/>
          </a:p>
          <a:p>
            <a:r>
              <a:rPr lang="en-US" sz="1600" dirty="0"/>
              <a:t>interface Eatable { void eat(); }</a:t>
            </a:r>
            <a:endParaRPr lang="ru-RU" sz="1600" dirty="0"/>
          </a:p>
          <a:p>
            <a:r>
              <a:rPr lang="en-US" sz="1600" dirty="0"/>
              <a:t> </a:t>
            </a:r>
            <a:endParaRPr lang="ru-RU" sz="1600" dirty="0"/>
          </a:p>
          <a:p>
            <a:r>
              <a:rPr lang="en-US" sz="1600" dirty="0"/>
              <a:t>class Human implements Workable, Eatable { ... }</a:t>
            </a:r>
            <a:endParaRPr lang="ru-RU" sz="1600" dirty="0"/>
          </a:p>
          <a:p>
            <a:r>
              <a:rPr lang="ru-RU" sz="1600" dirty="0" err="1"/>
              <a:t>class</a:t>
            </a:r>
            <a:r>
              <a:rPr lang="ru-RU" sz="1600" dirty="0"/>
              <a:t> </a:t>
            </a:r>
            <a:r>
              <a:rPr lang="ru-RU" sz="1600" dirty="0" err="1"/>
              <a:t>Robot</a:t>
            </a:r>
            <a:r>
              <a:rPr lang="ru-RU" sz="1600" dirty="0"/>
              <a:t> </a:t>
            </a:r>
            <a:r>
              <a:rPr lang="ru-RU" sz="1600" dirty="0" err="1"/>
              <a:t>implements</a:t>
            </a:r>
            <a:r>
              <a:rPr lang="ru-RU" sz="1600" dirty="0"/>
              <a:t> </a:t>
            </a:r>
            <a:r>
              <a:rPr lang="ru-RU" sz="1600" dirty="0" err="1"/>
              <a:t>Workable</a:t>
            </a:r>
            <a:r>
              <a:rPr lang="ru-RU" sz="1600" dirty="0"/>
              <a:t> { ... 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97954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1CE95-EA7C-309B-64A4-33683A91F2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CD4D9FB-DBE1-1838-AFB5-17DF0E30166A}"/>
              </a:ext>
            </a:extLst>
          </p:cNvPr>
          <p:cNvSpPr txBox="1"/>
          <p:nvPr/>
        </p:nvSpPr>
        <p:spPr>
          <a:xfrm>
            <a:off x="0" y="0"/>
            <a:ext cx="1219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 — Dependency Inversion Principle (DIP)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"Модули верхних уровней не должны зависеть от модулей нижних уровней. Оба типа должны зависеть от абстракций."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 путать с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Dependency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Injection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(это про внедрение).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Код не должен знать детали. Он должен знать контракты (интерфейсы).</a:t>
            </a:r>
            <a:endParaRPr lang="ru-RU" sz="26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8FC2D4-3035-D4E2-522E-DCFE7D44989F}"/>
              </a:ext>
            </a:extLst>
          </p:cNvPr>
          <p:cNvSpPr txBox="1"/>
          <p:nvPr/>
        </p:nvSpPr>
        <p:spPr>
          <a:xfrm>
            <a:off x="0" y="2594789"/>
            <a:ext cx="565608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нарушения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EmailService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SmtpServer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= new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SmtpServer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Прямая зависимость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send(String msg) { ... 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4AABF0-B22A-5BBD-4A26-9108B402C4B8}"/>
              </a:ext>
            </a:extLst>
          </p:cNvPr>
          <p:cNvSpPr txBox="1"/>
          <p:nvPr/>
        </p:nvSpPr>
        <p:spPr>
          <a:xfrm>
            <a:off x="5656082" y="2702511"/>
            <a:ext cx="6535918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 исправления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инверсия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interface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MessageSender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void send(String msg);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SmtpServer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MessageSender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... 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TelegramBot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implements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MessageSender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 ... 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EmailService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{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MessageSender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sender;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 от абстракции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EmailService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MessageSender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sender) { 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Внедряем зависимость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this.sender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sender;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void send(String msg) {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sender.send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(msg); }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108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B54AF-EAFC-0F16-C6EF-5D5C6843B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8DD93CD-A522-8ADB-A55F-CB9092767470}"/>
              </a:ext>
            </a:extLst>
          </p:cNvPr>
          <p:cNvSpPr txBox="1"/>
          <p:nvPr/>
        </p:nvSpPr>
        <p:spPr>
          <a:xfrm>
            <a:off x="0" y="0"/>
            <a:ext cx="1219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GRASP — Введение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GRASP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(General Responsibility Assignment Software Patterns).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Автор: Крэг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Ларман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("Применение UML и шаблонов проектирования").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Это 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паттерны распределения ответственности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Отвечают на вопрос: "Какой класс должен делать эту работу?"</a:t>
            </a:r>
          </a:p>
        </p:txBody>
      </p:sp>
    </p:spTree>
    <p:extLst>
      <p:ext uri="{BB962C8B-B14F-4D97-AF65-F5344CB8AC3E}">
        <p14:creationId xmlns:p14="http://schemas.microsoft.com/office/powerpoint/2010/main" val="528999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2B543-164F-78ED-984F-88C1D96B1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2FC513E-50EB-65C0-D23B-BE8CB15436EE}"/>
              </a:ext>
            </a:extLst>
          </p:cNvPr>
          <p:cNvSpPr txBox="1"/>
          <p:nvPr/>
        </p:nvSpPr>
        <p:spPr>
          <a:xfrm>
            <a:off x="0" y="0"/>
            <a:ext cx="121920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GRASP — Information Expert</a:t>
            </a: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"Ответственность должна быть у того, у кого есть вся информация для её выполнения."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Идея: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Не создавайте лишних "менеджеров", которые дёргают данные из других классов. Пусть класс сам отвечает за операции со своими данными.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D9C509-4AD0-A63C-8A80-67EA5679452F}"/>
              </a:ext>
            </a:extLst>
          </p:cNvPr>
          <p:cNvSpPr txBox="1"/>
          <p:nvPr/>
        </p:nvSpPr>
        <p:spPr>
          <a:xfrm>
            <a:off x="0" y="2594789"/>
            <a:ext cx="565608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Order {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private List&lt;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items;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public double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getTotal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{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 Expert: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Order </a:t>
            </a:r>
            <a:r>
              <a:rPr lang="ru-RU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есть данные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return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items.stream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mapToDouble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OrderItem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::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getPrice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).sum();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32151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FF9ED-F6BA-2038-0483-CB90091353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A68EC5ED-4006-1E00-F01F-F811B35F76AE}"/>
              </a:ext>
            </a:extLst>
          </p:cNvPr>
          <p:cNvSpPr txBox="1"/>
          <p:nvPr/>
        </p:nvSpPr>
        <p:spPr>
          <a:xfrm>
            <a:off x="0" y="0"/>
            <a:ext cx="121920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GRASP —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Creator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"Кто создаёт объект? Тот, кто содержит или агрегирует его, или использует его."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Варианты: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Создаёт класс А, если он: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Содержит (композиция) объекты В.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Записывает (агрегирует) объекты В.</a:t>
            </a:r>
          </a:p>
          <a:p>
            <a:pPr marL="914400" lvl="1" indent="-457200" algn="just">
              <a:buFont typeface="Wingdings" panose="05000000000000000000" pitchFamily="2" charset="2"/>
              <a:buChar char="§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Интенсивно использует объекты В.</a:t>
            </a:r>
          </a:p>
        </p:txBody>
      </p:sp>
    </p:spTree>
    <p:extLst>
      <p:ext uri="{BB962C8B-B14F-4D97-AF65-F5344CB8AC3E}">
        <p14:creationId xmlns:p14="http://schemas.microsoft.com/office/powerpoint/2010/main" val="37223319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95FCB-6E59-E1C0-7574-3CCBCE5F4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D5A1487-406B-159C-065A-20051072105A}"/>
              </a:ext>
            </a:extLst>
          </p:cNvPr>
          <p:cNvSpPr txBox="1"/>
          <p:nvPr/>
        </p:nvSpPr>
        <p:spPr>
          <a:xfrm>
            <a:off x="0" y="0"/>
            <a:ext cx="121920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Диагностика плохой архитектуры (Code </a:t>
            </a:r>
            <a:r>
              <a:rPr lang="ru-RU" sz="2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Smells</a:t>
            </a:r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Жесткость (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Rigidity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Система сложна для изменений.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Хрупкость (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Fragility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Изменение в одном месте ломает другие.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Неподвижность (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Immobility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Часть кода нельзя использовать в другом проекте.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Вязкость (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Viscosity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Легко сделать неправильно, трудно — правильно.</a:t>
            </a:r>
          </a:p>
          <a:p>
            <a:pPr marL="457200" lvl="0" indent="-457200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Сложность (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Needless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Complexity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Код "на вырост", который не нужен.</a:t>
            </a:r>
          </a:p>
        </p:txBody>
      </p:sp>
    </p:spTree>
    <p:extLst>
      <p:ext uri="{BB962C8B-B14F-4D97-AF65-F5344CB8AC3E}">
        <p14:creationId xmlns:p14="http://schemas.microsoft.com/office/powerpoint/2010/main" val="3007775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D3FDE5-7BB9-40BD-2365-3DDC398C5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9C37D29-2C38-DCFB-8A3E-394052C6FD4F}"/>
              </a:ext>
            </a:extLst>
          </p:cNvPr>
          <p:cNvSpPr txBox="1"/>
          <p:nvPr/>
        </p:nvSpPr>
        <p:spPr>
          <a:xfrm>
            <a:off x="0" y="0"/>
            <a:ext cx="121920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 в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DDD (Domain-Driven Design)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Ubiquitous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Language (Единый язык):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Термины бизнеса должны быть терминами в коде.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Объект с уникальным ID (меняется, но ID сохраняется). </a:t>
            </a:r>
            <a:r>
              <a:rPr lang="ru-RU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Пользователь.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Object: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Объект, который определяется только своими атрибутами. </a:t>
            </a:r>
            <a:r>
              <a:rPr lang="ru-RU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Пример: Деньги (</a:t>
            </a:r>
            <a:r>
              <a:rPr lang="ru-RU" sz="2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валюта+сумма</a:t>
            </a:r>
            <a:r>
              <a:rPr lang="ru-RU" sz="2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), Адрес.</a:t>
            </a:r>
            <a:endParaRPr lang="ru-RU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3991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3B384-0C01-2EDC-CFC8-2F0C29CB9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3E1C22C7-A0BE-4A66-D4BC-6AD935D84CEE}"/>
              </a:ext>
            </a:extLst>
          </p:cNvPr>
          <p:cNvSpPr txBox="1"/>
          <p:nvPr/>
        </p:nvSpPr>
        <p:spPr>
          <a:xfrm>
            <a:off x="0" y="0"/>
            <a:ext cx="12192000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Итоги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SOLID помогает сделать код гибким и тестируемым.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GRASP подсказывает, кому дать задание.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</a:t>
            </a:r>
            <a:r>
              <a:rPr lang="ru-RU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Smells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индикаторы проблем.</a:t>
            </a:r>
          </a:p>
          <a:p>
            <a:pPr marL="457200" lvl="0" indent="-457200" algn="just">
              <a:buFont typeface="Wingdings" panose="05000000000000000000" pitchFamily="2" charset="2"/>
              <a:buChar char="§"/>
            </a:pP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DDD соединяет код и реальный мир.</a:t>
            </a:r>
          </a:p>
          <a:p>
            <a:pPr marL="457200" indent="-457200" algn="just">
              <a:buFont typeface="Wingdings" panose="05000000000000000000" pitchFamily="2" charset="2"/>
              <a:buChar char="§"/>
            </a:pPr>
            <a:r>
              <a:rPr lang="ru-RU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Главное:</a:t>
            </a:r>
            <a:r>
              <a:rPr lang="ru-RU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Проектирование — это процесс поиска компромиссов.</a:t>
            </a:r>
          </a:p>
        </p:txBody>
      </p:sp>
    </p:spTree>
    <p:extLst>
      <p:ext uri="{BB962C8B-B14F-4D97-AF65-F5344CB8AC3E}">
        <p14:creationId xmlns:p14="http://schemas.microsoft.com/office/powerpoint/2010/main" val="27460062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05084-7FA1-EEE4-8A71-EBAF4993A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609C65AC-66DD-B57E-C199-C068DBE3CAD8}"/>
              </a:ext>
            </a:extLst>
          </p:cNvPr>
          <p:cNvSpPr txBox="1"/>
          <p:nvPr/>
        </p:nvSpPr>
        <p:spPr>
          <a:xfrm>
            <a:off x="0" y="0"/>
            <a:ext cx="12192000" cy="69465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ДОМАШНИЕ ЗАДАНИЯ: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SRP: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Приведите пример класса из реальной жизни (не программной), у которого слишком много обязанностей.</a:t>
            </a:r>
          </a:p>
          <a:p>
            <a:pPr lvl="0" algn="just">
              <a:lnSpc>
                <a:spcPct val="150000"/>
              </a:lnSpc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OCP: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Как бы вы спроектировали систему валидации данных (проверка </a:t>
            </a:r>
            <a:r>
              <a:rPr lang="ru-RU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номера телефона, возраста) по OCP?</a:t>
            </a:r>
          </a:p>
          <a:p>
            <a:pPr lvl="0" algn="just">
              <a:lnSpc>
                <a:spcPct val="150000"/>
              </a:lnSpc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LSP: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Можно ли наследовать Складной Велосипед от Велосипед?</a:t>
            </a:r>
          </a:p>
          <a:p>
            <a:pPr lvl="0" algn="just">
              <a:lnSpc>
                <a:spcPct val="150000"/>
              </a:lnSpc>
            </a:pP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Рефакторинг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Дан класс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Report 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 методами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generateHTML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generatePDF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 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sendEmail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().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Какие нарушения SOLID вы видите?</a:t>
            </a:r>
          </a:p>
          <a:p>
            <a:pPr algn="just">
              <a:lnSpc>
                <a:spcPct val="150000"/>
              </a:lnSpc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Также: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Перевести все приведенные исходные коды на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C++ (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С++ дополнительное задание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Старосте: ПОДГОТОВИТЬ СПИСОК ГРУППЫ В ВИДЕ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xls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ФАЙЛА, где будут указаны ссылки на проекты каждого в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ru-RU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выполнить все текущие задания, без выполнения заданий не будет допуска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9468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B72BE-6B6B-79EA-8ACA-97B68EF42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E12DB35-8E85-309F-09BE-9C8B778FAA56}"/>
              </a:ext>
            </a:extLst>
          </p:cNvPr>
          <p:cNvSpPr txBox="1"/>
          <p:nvPr/>
        </p:nvSpPr>
        <p:spPr>
          <a:xfrm>
            <a:off x="-1" y="0"/>
            <a:ext cx="12192001" cy="26449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ДОПОЛНИТЕЛЬНЫЕ МАТЕРИАЛЫ ДЛЯ ЛЕКЦИИ</a:t>
            </a:r>
            <a:endParaRPr lang="ru-RU" sz="2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Книга: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Роберт Мартин "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Clean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Architecture" (главы про SOLID).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Книга: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Мартин Фаулер "Рефакторинг" (главы про Code </a:t>
            </a:r>
            <a:r>
              <a:rPr lang="ru-RU" sz="2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Smells</a:t>
            </a:r>
            <a:r>
              <a:rPr lang="ru-RU" sz="2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algn="just">
              <a:buNone/>
            </a:pPr>
            <a:r>
              <a:rPr lang="ru-RU" sz="28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Видео: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Серия роликов на YouTube "SOLID принципы простым языком" (канал "</a:t>
            </a:r>
            <a:r>
              <a:rPr lang="ru-RU" sz="28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Ulbi</a:t>
            </a:r>
            <a:r>
              <a:rPr lang="ru-RU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TV" или аналог).</a:t>
            </a:r>
            <a:endParaRPr lang="ru-R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84781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5987</TotalTime>
  <Words>1515</Words>
  <Application>Microsoft Office PowerPoint</Application>
  <PresentationFormat>Широкоэкранный</PresentationFormat>
  <Paragraphs>218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Symbol</vt:lpstr>
      <vt:lpstr>Times New Roman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Арсентий Абдалов</dc:creator>
  <cp:lastModifiedBy>Арсентий Абдалов</cp:lastModifiedBy>
  <cp:revision>18</cp:revision>
  <dcterms:created xsi:type="dcterms:W3CDTF">2025-09-19T18:20:34Z</dcterms:created>
  <dcterms:modified xsi:type="dcterms:W3CDTF">2026-02-20T20:31:58Z</dcterms:modified>
</cp:coreProperties>
</file>