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4"/>
  </p:notesMasterIdLst>
  <p:sldIdLst>
    <p:sldId id="256" r:id="rId2"/>
    <p:sldId id="257" r:id="rId3"/>
    <p:sldId id="258" r:id="rId4"/>
    <p:sldId id="268" r:id="rId5"/>
    <p:sldId id="295" r:id="rId6"/>
    <p:sldId id="274" r:id="rId7"/>
    <p:sldId id="296" r:id="rId8"/>
    <p:sldId id="297" r:id="rId9"/>
    <p:sldId id="275" r:id="rId10"/>
    <p:sldId id="276" r:id="rId11"/>
    <p:sldId id="277" r:id="rId12"/>
    <p:sldId id="278" r:id="rId13"/>
    <p:sldId id="279" r:id="rId14"/>
    <p:sldId id="280" r:id="rId15"/>
    <p:sldId id="281" r:id="rId16"/>
    <p:sldId id="298" r:id="rId17"/>
    <p:sldId id="299" r:id="rId18"/>
    <p:sldId id="282" r:id="rId19"/>
    <p:sldId id="283" r:id="rId20"/>
    <p:sldId id="284" r:id="rId21"/>
    <p:sldId id="285" r:id="rId22"/>
    <p:sldId id="294" r:id="rId23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001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89448" autoAdjust="0"/>
  </p:normalViewPr>
  <p:slideViewPr>
    <p:cSldViewPr snapToGrid="0" showGuides="1">
      <p:cViewPr varScale="1">
        <p:scale>
          <a:sx n="96" d="100"/>
          <a:sy n="96" d="100"/>
        </p:scale>
        <p:origin x="1068" y="102"/>
      </p:cViewPr>
      <p:guideLst>
        <p:guide orient="horz" pos="2001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6886FC9-3976-4731-B236-7A8F403A5F36}" type="datetimeFigureOut">
              <a:rPr lang="ru-RU" smtClean="0"/>
              <a:t>13.03.2026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36C78DD-17D4-487C-B810-22055114B95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1796905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36C78DD-17D4-487C-B810-22055114B959}" type="slidenum">
              <a:rPr lang="ru-RU" smtClean="0"/>
              <a:t>3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63182298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36C78DD-17D4-487C-B810-22055114B959}" type="slidenum">
              <a:rPr lang="ru-RU" smtClean="0"/>
              <a:t>7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72874209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36C78DD-17D4-487C-B810-22055114B959}" type="slidenum">
              <a:rPr lang="ru-RU" smtClean="0"/>
              <a:t>12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99195843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36C78DD-17D4-487C-B810-22055114B959}" type="slidenum">
              <a:rPr lang="ru-RU" smtClean="0"/>
              <a:t>22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9474023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06F939B-D03E-D30C-A810-EEBDA71382D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9D796D6E-ADE2-CD1C-C647-8F50E69FF13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8254BB7D-7194-4C9C-A117-D81E37A6BC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A62E36-7B94-44FF-8913-FF4B90064E98}" type="datetimeFigureOut">
              <a:rPr lang="ru-RU" smtClean="0"/>
              <a:t>13.03.2026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41B689A0-1B10-B447-8DF5-B76FB086E0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2D72CFA4-E6B4-684D-9E2A-C1B96748D9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15F418-D851-46F7-ABD9-444A8078EF5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99329097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B3E55A4-6149-A983-0363-BFE7D04E48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71FAB9FE-B873-3E72-E18C-39A15712342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4BEC2870-7F6E-109B-8041-25E74D479F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A62E36-7B94-44FF-8913-FF4B90064E98}" type="datetimeFigureOut">
              <a:rPr lang="ru-RU" smtClean="0"/>
              <a:t>13.03.2026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0813C32C-236A-F54D-E292-41D0CA490A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664F8EDF-1B27-7091-7D47-5775A543AC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15F418-D851-46F7-ABD9-444A8078EF5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0683750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0AFCB83-D2FC-83AB-039E-72B248473B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21E649E9-8EA1-1378-239D-EFC635AF165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05EE3025-46A2-5F31-ED73-E78860B353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A62E36-7B94-44FF-8913-FF4B90064E98}" type="datetimeFigureOut">
              <a:rPr lang="ru-RU" smtClean="0"/>
              <a:t>13.03.2026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9D806FFF-C6C0-5DE1-F22F-F4C6828D0C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BD8F3275-CFFB-FB65-9D5C-14A3FAF5B5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15F418-D851-46F7-ABD9-444A8078EF5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78404966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C956727-548A-3309-C384-2C15A8C9F5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6D70AFF7-FE6C-8D72-91DE-19FECB3BBF4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F80A1665-FAD8-2AA9-4057-198007F3F60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E89E6712-3ED8-DABB-C8FC-43C31B7AB6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A62E36-7B94-44FF-8913-FF4B90064E98}" type="datetimeFigureOut">
              <a:rPr lang="ru-RU" smtClean="0"/>
              <a:t>13.03.2026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FB20F49A-8F5E-A113-1FFC-C2501B6166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7B6FB815-92B1-1F33-286B-8343A8E90F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15F418-D851-46F7-ABD9-444A8078EF5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22895653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8C89510-A44E-03DE-C188-5FEEA96413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B529430F-EA7F-1C72-879C-4BBC4175BE0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366FDB1E-510D-4A5F-8A3F-9B1F5D08D2D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454DC8E5-52AA-7753-3566-A382C6CE5F6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A7779F90-47D7-2460-83A8-B62CAEB878E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850C7755-3347-4D90-6EF8-2DD306C3FD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A62E36-7B94-44FF-8913-FF4B90064E98}" type="datetimeFigureOut">
              <a:rPr lang="ru-RU" smtClean="0"/>
              <a:t>13.03.2026</a:t>
            </a:fld>
            <a:endParaRPr lang="ru-RU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EBDDCA8A-A2AF-401A-C284-5EA347E388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601B781E-BB26-1167-2ACB-AD005A8FBC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15F418-D851-46F7-ABD9-444A8078EF5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3630969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7F3A3E7-F129-6CD9-9D39-C0C4BD52E0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B4DBD420-4980-6586-AF75-9993055C43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A62E36-7B94-44FF-8913-FF4B90064E98}" type="datetimeFigureOut">
              <a:rPr lang="ru-RU" smtClean="0"/>
              <a:t>13.03.2026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EAA0E24F-43AF-7E00-5BDC-D271F6C8CF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79ED13AB-62D2-A8C2-247B-6C990616BC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15F418-D851-46F7-ABD9-444A8078EF5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2246369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9830C6C5-A9A9-A031-9835-3E445316D6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A62E36-7B94-44FF-8913-FF4B90064E98}" type="datetimeFigureOut">
              <a:rPr lang="ru-RU" smtClean="0"/>
              <a:t>13.03.2026</a:t>
            </a:fld>
            <a:endParaRPr lang="ru-RU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8D157B3B-236F-59DB-B6BD-126655F866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818F42D4-D553-08AE-0D3F-1AE23CB37E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15F418-D851-46F7-ABD9-444A8078EF5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3751921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AC2B731-F2CF-CED1-E595-603B6F4602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686A1EE9-BB36-302B-9B21-7BC53E358B0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CF993FB8-D340-AA88-8A83-9F640F14BAD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3CE24426-0AF0-F702-3E6F-EB5E7FD50E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A62E36-7B94-44FF-8913-FF4B90064E98}" type="datetimeFigureOut">
              <a:rPr lang="ru-RU" smtClean="0"/>
              <a:t>13.03.2026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CF127403-AFF5-A1F1-C38B-EAE576746B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ADD87016-7C3B-8820-5FFA-E1F41226CD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15F418-D851-46F7-ABD9-444A8078EF5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52718087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0083BC2-5D8C-6DCC-9DB4-22045EA482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B43429BF-C80C-6FB7-B257-57CBDC1FDDF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57AF6F03-3F54-0FBC-2041-1417E6AF343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797682CD-F275-E00C-9E86-EC98EA0FF5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A62E36-7B94-44FF-8913-FF4B90064E98}" type="datetimeFigureOut">
              <a:rPr lang="ru-RU" smtClean="0"/>
              <a:t>13.03.2026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69F279DD-417B-2C4B-28BA-0A5350BBAB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1514FC7C-95BE-CB51-FA62-273D7A50E0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15F418-D851-46F7-ABD9-444A8078EF5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26761660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950BA6A-9AE9-7C7A-3926-887923A357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B89E3E1A-29AD-799B-AF38-5D6203AD2AC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09281B96-8B5E-3649-E736-48828CE42F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A62E36-7B94-44FF-8913-FF4B90064E98}" type="datetimeFigureOut">
              <a:rPr lang="ru-RU" smtClean="0"/>
              <a:t>13.03.2026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E2B8976D-6341-2F02-209A-1BABFE6253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9576A6FD-5AF5-7F33-A734-7DD6D253A4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15F418-D851-46F7-ABD9-444A8078EF5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8342212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DCB62C44-C171-CB5F-5F56-26B88D1D7AE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2B4AD2F9-ED0C-7417-1C1D-386663A0E24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E38FE3A7-8B80-C7F0-DB9F-7B2D2E1B42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A62E36-7B94-44FF-8913-FF4B90064E98}" type="datetimeFigureOut">
              <a:rPr lang="ru-RU" smtClean="0"/>
              <a:t>13.03.2026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0D74A1F5-D0C0-746C-9FDA-EAFD1369DF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C4B8AE5F-419C-3412-B52D-B3C77E65A9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15F418-D851-46F7-ABD9-444A8078EF5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1439926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10A8ACE-89FD-86A8-11E5-2DE20E7212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A973113E-A006-24C6-0730-C1738BF2D94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39570BD6-0B00-7DFA-125A-629E83DD7C9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6A62E36-7B94-44FF-8913-FF4B90064E98}" type="datetimeFigureOut">
              <a:rPr lang="ru-RU" smtClean="0"/>
              <a:t>13.03.2026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0CC25892-923C-BAE0-48E6-F7061E8AD40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B7C92736-5165-6F55-7961-EA2F0F95650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615F418-D851-46F7-ABD9-444A8078EF5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38976473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hyperlink" Target="https://sonarqube.org/" TargetMode="Externa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1">
            <a:extLst>
              <a:ext uri="{FF2B5EF4-FFF2-40B4-BE49-F238E27FC236}">
                <a16:creationId xmlns:a16="http://schemas.microsoft.com/office/drawing/2014/main" id="{68A2FC49-0F3D-10F3-3C58-C150ADDDA79A}"/>
              </a:ext>
            </a:extLst>
          </p:cNvPr>
          <p:cNvSpPr>
            <a:spLocks noGrp="1"/>
          </p:cNvSpPr>
          <p:nvPr/>
        </p:nvSpPr>
        <p:spPr>
          <a:xfrm>
            <a:off x="767408" y="637906"/>
            <a:ext cx="10009112" cy="1152128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sz="4000" b="1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Программная инженерия</a:t>
            </a:r>
          </a:p>
        </p:txBody>
      </p:sp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4CF9474D-52CF-A0C1-82BD-88882A3B6B89}"/>
              </a:ext>
            </a:extLst>
          </p:cNvPr>
          <p:cNvSpPr/>
          <p:nvPr/>
        </p:nvSpPr>
        <p:spPr>
          <a:xfrm>
            <a:off x="2328709" y="5850762"/>
            <a:ext cx="7357848" cy="369332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defPPr>
              <a:defRPr lang="ru-RU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lnSpc>
                <a:spcPct val="90000"/>
              </a:lnSpc>
              <a:spcBef>
                <a:spcPct val="0"/>
              </a:spcBef>
            </a:pPr>
            <a:r>
              <a:rPr lang="ru-RU" sz="2000" b="1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СРЕДНЕРУССКИЙ ИНСТИТУТ УПРАВЛЕНИЯ - РАНХиГС</a:t>
            </a:r>
          </a:p>
        </p:txBody>
      </p:sp>
      <p:sp>
        <p:nvSpPr>
          <p:cNvPr id="6" name="Прямоугольник 5">
            <a:extLst>
              <a:ext uri="{FF2B5EF4-FFF2-40B4-BE49-F238E27FC236}">
                <a16:creationId xmlns:a16="http://schemas.microsoft.com/office/drawing/2014/main" id="{6D372B26-2A09-4EED-6486-A25A87BA09D9}"/>
              </a:ext>
            </a:extLst>
          </p:cNvPr>
          <p:cNvSpPr/>
          <p:nvPr/>
        </p:nvSpPr>
        <p:spPr>
          <a:xfrm>
            <a:off x="1991544" y="5073564"/>
            <a:ext cx="7560840" cy="646331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ru-RU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Доцент кафедры «Математики и информационных технологий», кандидат технических наук Абдалов Арсентий Владимирович</a:t>
            </a:r>
          </a:p>
        </p:txBody>
      </p:sp>
      <p:sp>
        <p:nvSpPr>
          <p:cNvPr id="7" name="TextBox 3">
            <a:extLst>
              <a:ext uri="{FF2B5EF4-FFF2-40B4-BE49-F238E27FC236}">
                <a16:creationId xmlns:a16="http://schemas.microsoft.com/office/drawing/2014/main" id="{C8FFEF4D-BCEA-CBA4-F2AB-011E6A9000B2}"/>
              </a:ext>
            </a:extLst>
          </p:cNvPr>
          <p:cNvSpPr txBox="1"/>
          <p:nvPr/>
        </p:nvSpPr>
        <p:spPr>
          <a:xfrm>
            <a:off x="0" y="2698876"/>
            <a:ext cx="12191999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ru-RU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ru-RU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Лекция №5: Качество кода и технический долг</a:t>
            </a:r>
          </a:p>
        </p:txBody>
      </p:sp>
    </p:spTree>
    <p:extLst>
      <p:ext uri="{BB962C8B-B14F-4D97-AF65-F5344CB8AC3E}">
        <p14:creationId xmlns:p14="http://schemas.microsoft.com/office/powerpoint/2010/main" val="351218991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581224-752A-DFD2-CFBE-6223E6F321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:a16="http://schemas.microsoft.com/office/drawing/2014/main" id="{6B05BA81-1097-457A-493F-2E5B52C3C659}"/>
              </a:ext>
            </a:extLst>
          </p:cNvPr>
          <p:cNvSpPr txBox="1"/>
          <p:nvPr/>
        </p:nvSpPr>
        <p:spPr>
          <a:xfrm>
            <a:off x="0" y="216817"/>
            <a:ext cx="12192000" cy="517449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ru-RU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Есть ли проблема?</a:t>
            </a:r>
          </a:p>
          <a:p>
            <a:pPr>
              <a:lnSpc>
                <a:spcPct val="150000"/>
              </a:lnSpc>
            </a:pPr>
            <a:r>
              <a:rPr lang="ru-RU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Код работает, но:</a:t>
            </a:r>
          </a:p>
          <a:p>
            <a:pPr lvl="1">
              <a:lnSpc>
                <a:spcPct val="150000"/>
              </a:lnSpc>
            </a:pPr>
            <a:r>
              <a:rPr lang="ru-RU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Добавление новой кнопки занимает неделю</a:t>
            </a:r>
          </a:p>
          <a:p>
            <a:pPr lvl="1">
              <a:lnSpc>
                <a:spcPct val="150000"/>
              </a:lnSpc>
            </a:pPr>
            <a:r>
              <a:rPr lang="ru-RU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Исправление одного бага порождает три новых</a:t>
            </a:r>
          </a:p>
          <a:p>
            <a:pPr lvl="1">
              <a:lnSpc>
                <a:spcPct val="150000"/>
              </a:lnSpc>
            </a:pPr>
            <a:r>
              <a:rPr lang="ru-RU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Новые разработчики плачут и увольняются</a:t>
            </a:r>
          </a:p>
          <a:p>
            <a:pPr lvl="1">
              <a:lnSpc>
                <a:spcPct val="150000"/>
              </a:lnSpc>
            </a:pPr>
            <a:r>
              <a:rPr lang="ru-RU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Проект тормозит, хотя железа много</a:t>
            </a:r>
          </a:p>
          <a:p>
            <a:pPr>
              <a:lnSpc>
                <a:spcPct val="150000"/>
              </a:lnSpc>
            </a:pPr>
            <a:r>
              <a:rPr lang="ru-RU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Вопрос:</a:t>
            </a:r>
            <a:r>
              <a:rPr lang="ru-RU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Это проблема кода или команды?</a:t>
            </a:r>
          </a:p>
        </p:txBody>
      </p:sp>
    </p:spTree>
    <p:extLst>
      <p:ext uri="{BB962C8B-B14F-4D97-AF65-F5344CB8AC3E}">
        <p14:creationId xmlns:p14="http://schemas.microsoft.com/office/powerpoint/2010/main" val="299499910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8BEA589-B760-70EA-46E7-F404A9AD4A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Box 10">
            <a:extLst>
              <a:ext uri="{FF2B5EF4-FFF2-40B4-BE49-F238E27FC236}">
                <a16:creationId xmlns:a16="http://schemas.microsoft.com/office/drawing/2014/main" id="{56BA04A1-4B40-A9B2-A3DA-347A6D143896}"/>
              </a:ext>
            </a:extLst>
          </p:cNvPr>
          <p:cNvSpPr txBox="1"/>
          <p:nvPr/>
        </p:nvSpPr>
        <p:spPr>
          <a:xfrm>
            <a:off x="1572" y="0"/>
            <a:ext cx="12190428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Что такое качество ПО? (5 подходов)</a:t>
            </a:r>
          </a:p>
        </p:txBody>
      </p:sp>
      <p:graphicFrame>
        <p:nvGraphicFramePr>
          <p:cNvPr id="2" name="Таблица 1">
            <a:extLst>
              <a:ext uri="{FF2B5EF4-FFF2-40B4-BE49-F238E27FC236}">
                <a16:creationId xmlns:a16="http://schemas.microsoft.com/office/drawing/2014/main" id="{FE2F2BFB-A892-DD87-0ABE-2E223E36CF1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53252115"/>
              </p:ext>
            </p:extLst>
          </p:nvPr>
        </p:nvGraphicFramePr>
        <p:xfrm>
          <a:off x="0" y="1036638"/>
          <a:ext cx="12192000" cy="4176522"/>
        </p:xfrm>
        <a:graphic>
          <a:graphicData uri="http://schemas.openxmlformats.org/drawingml/2006/table">
            <a:tbl>
              <a:tblPr/>
              <a:tblGrid>
                <a:gridCol w="4064000">
                  <a:extLst>
                    <a:ext uri="{9D8B030D-6E8A-4147-A177-3AD203B41FA5}">
                      <a16:colId xmlns:a16="http://schemas.microsoft.com/office/drawing/2014/main" val="3343961554"/>
                    </a:ext>
                  </a:extLst>
                </a:gridCol>
                <a:gridCol w="4064000">
                  <a:extLst>
                    <a:ext uri="{9D8B030D-6E8A-4147-A177-3AD203B41FA5}">
                      <a16:colId xmlns:a16="http://schemas.microsoft.com/office/drawing/2014/main" val="4149233128"/>
                    </a:ext>
                  </a:extLst>
                </a:gridCol>
                <a:gridCol w="4064000">
                  <a:extLst>
                    <a:ext uri="{9D8B030D-6E8A-4147-A177-3AD203B41FA5}">
                      <a16:colId xmlns:a16="http://schemas.microsoft.com/office/drawing/2014/main" val="405848114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l">
                        <a:lnSpc>
                          <a:spcPts val="1875"/>
                        </a:lnSpc>
                        <a:buNone/>
                      </a:pPr>
                      <a:r>
                        <a:rPr lang="ru-RU" sz="28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Подход</a:t>
                      </a:r>
                    </a:p>
                  </a:txBody>
                  <a:tcPr marR="152400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gradFill flip="none" rotWithShape="1">
                      <a:gsLst>
                        <a:gs pos="0">
                          <a:srgbClr val="FFFFFF">
                            <a:shade val="30000"/>
                            <a:satMod val="115000"/>
                          </a:srgbClr>
                        </a:gs>
                        <a:gs pos="50000">
                          <a:srgbClr val="FFFFFF">
                            <a:shade val="67500"/>
                            <a:satMod val="115000"/>
                          </a:srgbClr>
                        </a:gs>
                        <a:gs pos="100000">
                          <a:srgbClr val="FFFFFF">
                            <a:shade val="100000"/>
                            <a:satMod val="115000"/>
                          </a:srgbClr>
                        </a:gs>
                      </a:gsLst>
                      <a:path path="circle">
                        <a:fillToRect l="100000" t="100000"/>
                      </a:path>
                      <a:tileRect r="-100000" b="-100000"/>
                    </a:gra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875"/>
                        </a:lnSpc>
                        <a:buNone/>
                      </a:pPr>
                      <a:r>
                        <a:rPr lang="ru-RU" sz="28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Суть</a:t>
                      </a:r>
                    </a:p>
                  </a:txBody>
                  <a:tcPr marL="152400" marR="152400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gradFill flip="none" rotWithShape="1">
                      <a:gsLst>
                        <a:gs pos="0">
                          <a:srgbClr val="FFFFFF">
                            <a:shade val="30000"/>
                            <a:satMod val="115000"/>
                          </a:srgbClr>
                        </a:gs>
                        <a:gs pos="50000">
                          <a:srgbClr val="FFFFFF">
                            <a:shade val="67500"/>
                            <a:satMod val="115000"/>
                          </a:srgbClr>
                        </a:gs>
                        <a:gs pos="100000">
                          <a:srgbClr val="FFFFFF">
                            <a:shade val="100000"/>
                            <a:satMod val="115000"/>
                          </a:srgbClr>
                        </a:gs>
                      </a:gsLst>
                      <a:path path="circle">
                        <a:fillToRect l="100000" t="100000"/>
                      </a:path>
                      <a:tileRect r="-100000" b="-100000"/>
                    </a:gra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875"/>
                        </a:lnSpc>
                        <a:buNone/>
                      </a:pPr>
                      <a:r>
                        <a:rPr lang="ru-RU" sz="28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Пример</a:t>
                      </a:r>
                    </a:p>
                  </a:txBody>
                  <a:tcPr marL="152400" marR="152400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gradFill flip="none" rotWithShape="1">
                      <a:gsLst>
                        <a:gs pos="0">
                          <a:srgbClr val="FFFFFF">
                            <a:shade val="30000"/>
                            <a:satMod val="115000"/>
                          </a:srgbClr>
                        </a:gs>
                        <a:gs pos="50000">
                          <a:srgbClr val="FFFFFF">
                            <a:shade val="67500"/>
                            <a:satMod val="115000"/>
                          </a:srgbClr>
                        </a:gs>
                        <a:gs pos="100000">
                          <a:srgbClr val="FFFFFF">
                            <a:shade val="100000"/>
                            <a:satMod val="115000"/>
                          </a:srgbClr>
                        </a:gs>
                      </a:gsLst>
                      <a:path path="circle">
                        <a:fillToRect l="100000" t="100000"/>
                      </a:path>
                      <a:tileRect r="-100000" b="-100000"/>
                    </a:gradFill>
                  </a:tcPr>
                </a:tc>
                <a:extLst>
                  <a:ext uri="{0D108BD9-81ED-4DB2-BD59-A6C34878D82A}">
                    <a16:rowId xmlns:a16="http://schemas.microsoft.com/office/drawing/2014/main" val="379790802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ru-RU" sz="2800" b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Трансцендентный</a:t>
                      </a:r>
                      <a:endParaRPr lang="ru-RU" sz="2800" b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R="152400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gradFill flip="none" rotWithShape="1">
                      <a:gsLst>
                        <a:gs pos="0">
                          <a:srgbClr val="FFFFFF">
                            <a:shade val="30000"/>
                            <a:satMod val="115000"/>
                          </a:srgbClr>
                        </a:gs>
                        <a:gs pos="50000">
                          <a:srgbClr val="FFFFFF">
                            <a:shade val="67500"/>
                            <a:satMod val="115000"/>
                          </a:srgbClr>
                        </a:gs>
                        <a:gs pos="100000">
                          <a:srgbClr val="FFFFFF">
                            <a:shade val="100000"/>
                            <a:satMod val="115000"/>
                          </a:srgbClr>
                        </a:gs>
                      </a:gsLst>
                      <a:path path="circle">
                        <a:fillToRect l="100000" t="100000"/>
                      </a:path>
                      <a:tileRect r="-100000" b="-100000"/>
                    </a:gra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ru-RU" sz="2800" b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Качество нельзя определить, но можно узнать</a:t>
                      </a:r>
                    </a:p>
                  </a:txBody>
                  <a:tcPr marL="152400" marR="152400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gradFill flip="none" rotWithShape="1">
                      <a:gsLst>
                        <a:gs pos="0">
                          <a:srgbClr val="FFFFFF">
                            <a:shade val="30000"/>
                            <a:satMod val="115000"/>
                          </a:srgbClr>
                        </a:gs>
                        <a:gs pos="50000">
                          <a:srgbClr val="FFFFFF">
                            <a:shade val="67500"/>
                            <a:satMod val="115000"/>
                          </a:srgbClr>
                        </a:gs>
                        <a:gs pos="100000">
                          <a:srgbClr val="FFFFFF">
                            <a:shade val="100000"/>
                            <a:satMod val="115000"/>
                          </a:srgbClr>
                        </a:gs>
                      </a:gsLst>
                      <a:path path="circle">
                        <a:fillToRect l="100000" t="100000"/>
                      </a:path>
                      <a:tileRect r="-100000" b="-100000"/>
                    </a:gra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ru-RU" sz="2800" b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"Я знаю, это качественно, когда вижу"</a:t>
                      </a:r>
                    </a:p>
                  </a:txBody>
                  <a:tcPr marL="152400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gradFill flip="none" rotWithShape="1">
                      <a:gsLst>
                        <a:gs pos="0">
                          <a:srgbClr val="FFFFFF">
                            <a:shade val="30000"/>
                            <a:satMod val="115000"/>
                          </a:srgbClr>
                        </a:gs>
                        <a:gs pos="50000">
                          <a:srgbClr val="FFFFFF">
                            <a:shade val="67500"/>
                            <a:satMod val="115000"/>
                          </a:srgbClr>
                        </a:gs>
                        <a:gs pos="100000">
                          <a:srgbClr val="FFFFFF">
                            <a:shade val="100000"/>
                            <a:satMod val="115000"/>
                          </a:srgbClr>
                        </a:gs>
                      </a:gsLst>
                      <a:path path="circle">
                        <a:fillToRect l="100000" t="100000"/>
                      </a:path>
                      <a:tileRect r="-100000" b="-100000"/>
                    </a:gradFill>
                  </a:tcPr>
                </a:tc>
                <a:extLst>
                  <a:ext uri="{0D108BD9-81ED-4DB2-BD59-A6C34878D82A}">
                    <a16:rowId xmlns:a16="http://schemas.microsoft.com/office/drawing/2014/main" val="355254829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ru-RU" sz="2800" b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Продуктовый</a:t>
                      </a:r>
                      <a:endParaRPr lang="ru-RU" sz="2800" b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R="152400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gradFill flip="none" rotWithShape="1">
                      <a:gsLst>
                        <a:gs pos="0">
                          <a:srgbClr val="FFFFFF">
                            <a:shade val="30000"/>
                            <a:satMod val="115000"/>
                          </a:srgbClr>
                        </a:gs>
                        <a:gs pos="50000">
                          <a:srgbClr val="FFFFFF">
                            <a:shade val="67500"/>
                            <a:satMod val="115000"/>
                          </a:srgbClr>
                        </a:gs>
                        <a:gs pos="100000">
                          <a:srgbClr val="FFFFFF">
                            <a:shade val="100000"/>
                            <a:satMod val="115000"/>
                          </a:srgbClr>
                        </a:gs>
                      </a:gsLst>
                      <a:path path="circle">
                        <a:fillToRect l="100000" t="100000"/>
                      </a:path>
                      <a:tileRect r="-100000" b="-100000"/>
                    </a:gra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ru-RU" sz="2800" b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Чем больше функций, тем выше качество</a:t>
                      </a:r>
                    </a:p>
                  </a:txBody>
                  <a:tcPr marL="152400" marR="152400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gradFill flip="none" rotWithShape="1">
                      <a:gsLst>
                        <a:gs pos="0">
                          <a:srgbClr val="FFFFFF">
                            <a:shade val="30000"/>
                            <a:satMod val="115000"/>
                          </a:srgbClr>
                        </a:gs>
                        <a:gs pos="50000">
                          <a:srgbClr val="FFFFFF">
                            <a:shade val="67500"/>
                            <a:satMod val="115000"/>
                          </a:srgbClr>
                        </a:gs>
                        <a:gs pos="100000">
                          <a:srgbClr val="FFFFFF">
                            <a:shade val="100000"/>
                            <a:satMod val="115000"/>
                          </a:srgbClr>
                        </a:gs>
                      </a:gsLst>
                      <a:path path="circle">
                        <a:fillToRect l="100000" t="100000"/>
                      </a:path>
                      <a:tileRect r="-100000" b="-100000"/>
                    </a:gra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ru-RU" sz="2800" b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Сравнение по фичам</a:t>
                      </a:r>
                    </a:p>
                  </a:txBody>
                  <a:tcPr marL="152400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gradFill flip="none" rotWithShape="1">
                      <a:gsLst>
                        <a:gs pos="0">
                          <a:srgbClr val="FFFFFF">
                            <a:shade val="30000"/>
                            <a:satMod val="115000"/>
                          </a:srgbClr>
                        </a:gs>
                        <a:gs pos="50000">
                          <a:srgbClr val="FFFFFF">
                            <a:shade val="67500"/>
                            <a:satMod val="115000"/>
                          </a:srgbClr>
                        </a:gs>
                        <a:gs pos="100000">
                          <a:srgbClr val="FFFFFF">
                            <a:shade val="100000"/>
                            <a:satMod val="115000"/>
                          </a:srgbClr>
                        </a:gs>
                      </a:gsLst>
                      <a:path path="circle">
                        <a:fillToRect l="100000" t="100000"/>
                      </a:path>
                      <a:tileRect r="-100000" b="-100000"/>
                    </a:gradFill>
                  </a:tcPr>
                </a:tc>
                <a:extLst>
                  <a:ext uri="{0D108BD9-81ED-4DB2-BD59-A6C34878D82A}">
                    <a16:rowId xmlns:a16="http://schemas.microsoft.com/office/drawing/2014/main" val="110844297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ru-RU" sz="2800" b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Пользовательский</a:t>
                      </a:r>
                      <a:endParaRPr lang="ru-RU" sz="2800" b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R="152400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gradFill flip="none" rotWithShape="1">
                      <a:gsLst>
                        <a:gs pos="0">
                          <a:srgbClr val="FFFFFF">
                            <a:shade val="30000"/>
                            <a:satMod val="115000"/>
                          </a:srgbClr>
                        </a:gs>
                        <a:gs pos="50000">
                          <a:srgbClr val="FFFFFF">
                            <a:shade val="67500"/>
                            <a:satMod val="115000"/>
                          </a:srgbClr>
                        </a:gs>
                        <a:gs pos="100000">
                          <a:srgbClr val="FFFFFF">
                            <a:shade val="100000"/>
                            <a:satMod val="115000"/>
                          </a:srgbClr>
                        </a:gs>
                      </a:gsLst>
                      <a:path path="circle">
                        <a:fillToRect l="100000" t="100000"/>
                      </a:path>
                      <a:tileRect r="-100000" b="-100000"/>
                    </a:gra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ru-RU" sz="2800" b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Соответствие целям пользователя</a:t>
                      </a:r>
                    </a:p>
                  </a:txBody>
                  <a:tcPr marL="152400" marR="152400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gradFill flip="none" rotWithShape="1">
                      <a:gsLst>
                        <a:gs pos="0">
                          <a:srgbClr val="FFFFFF">
                            <a:shade val="30000"/>
                            <a:satMod val="115000"/>
                          </a:srgbClr>
                        </a:gs>
                        <a:gs pos="50000">
                          <a:srgbClr val="FFFFFF">
                            <a:shade val="67500"/>
                            <a:satMod val="115000"/>
                          </a:srgbClr>
                        </a:gs>
                        <a:gs pos="100000">
                          <a:srgbClr val="FFFFFF">
                            <a:shade val="100000"/>
                            <a:satMod val="115000"/>
                          </a:srgbClr>
                        </a:gs>
                      </a:gsLst>
                      <a:path path="circle">
                        <a:fillToRect l="100000" t="100000"/>
                      </a:path>
                      <a:tileRect r="-100000" b="-100000"/>
                    </a:gra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ru-RU" sz="2800" b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Юзабилити, </a:t>
                      </a:r>
                      <a:r>
                        <a:rPr lang="en-US" sz="2800" b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UX</a:t>
                      </a:r>
                    </a:p>
                  </a:txBody>
                  <a:tcPr marL="152400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gradFill flip="none" rotWithShape="1">
                      <a:gsLst>
                        <a:gs pos="0">
                          <a:srgbClr val="FFFFFF">
                            <a:shade val="30000"/>
                            <a:satMod val="115000"/>
                          </a:srgbClr>
                        </a:gs>
                        <a:gs pos="50000">
                          <a:srgbClr val="FFFFFF">
                            <a:shade val="67500"/>
                            <a:satMod val="115000"/>
                          </a:srgbClr>
                        </a:gs>
                        <a:gs pos="100000">
                          <a:srgbClr val="FFFFFF">
                            <a:shade val="100000"/>
                            <a:satMod val="115000"/>
                          </a:srgbClr>
                        </a:gs>
                      </a:gsLst>
                      <a:path path="circle">
                        <a:fillToRect l="100000" t="100000"/>
                      </a:path>
                      <a:tileRect r="-100000" b="-100000"/>
                    </a:gradFill>
                  </a:tcPr>
                </a:tc>
                <a:extLst>
                  <a:ext uri="{0D108BD9-81ED-4DB2-BD59-A6C34878D82A}">
                    <a16:rowId xmlns:a16="http://schemas.microsoft.com/office/drawing/2014/main" val="341718479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ru-RU" sz="2800" b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Производственный</a:t>
                      </a:r>
                      <a:endParaRPr lang="ru-RU" sz="2800" b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R="152400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gradFill flip="none" rotWithShape="1">
                      <a:gsLst>
                        <a:gs pos="0">
                          <a:srgbClr val="FFFFFF">
                            <a:shade val="30000"/>
                            <a:satMod val="115000"/>
                          </a:srgbClr>
                        </a:gs>
                        <a:gs pos="50000">
                          <a:srgbClr val="FFFFFF">
                            <a:shade val="67500"/>
                            <a:satMod val="115000"/>
                          </a:srgbClr>
                        </a:gs>
                        <a:gs pos="100000">
                          <a:srgbClr val="FFFFFF">
                            <a:shade val="100000"/>
                            <a:satMod val="115000"/>
                          </a:srgbClr>
                        </a:gs>
                      </a:gsLst>
                      <a:path path="circle">
                        <a:fillToRect l="100000" t="100000"/>
                      </a:path>
                      <a:tileRect r="-100000" b="-100000"/>
                    </a:gra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ru-RU" sz="2800" b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Соответствие спецификации</a:t>
                      </a:r>
                    </a:p>
                  </a:txBody>
                  <a:tcPr marL="152400" marR="152400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gradFill flip="none" rotWithShape="1">
                      <a:gsLst>
                        <a:gs pos="0">
                          <a:srgbClr val="FFFFFF">
                            <a:shade val="30000"/>
                            <a:satMod val="115000"/>
                          </a:srgbClr>
                        </a:gs>
                        <a:gs pos="50000">
                          <a:srgbClr val="FFFFFF">
                            <a:shade val="67500"/>
                            <a:satMod val="115000"/>
                          </a:srgbClr>
                        </a:gs>
                        <a:gs pos="100000">
                          <a:srgbClr val="FFFFFF">
                            <a:shade val="100000"/>
                            <a:satMod val="115000"/>
                          </a:srgbClr>
                        </a:gs>
                      </a:gsLst>
                      <a:path path="circle">
                        <a:fillToRect l="100000" t="100000"/>
                      </a:path>
                      <a:tileRect r="-100000" b="-100000"/>
                    </a:gra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ru-RU" sz="2800" b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Сделано по ТЗ</a:t>
                      </a:r>
                    </a:p>
                  </a:txBody>
                  <a:tcPr marL="152400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gradFill flip="none" rotWithShape="1">
                      <a:gsLst>
                        <a:gs pos="0">
                          <a:srgbClr val="FFFFFF">
                            <a:shade val="30000"/>
                            <a:satMod val="115000"/>
                          </a:srgbClr>
                        </a:gs>
                        <a:gs pos="50000">
                          <a:srgbClr val="FFFFFF">
                            <a:shade val="67500"/>
                            <a:satMod val="115000"/>
                          </a:srgbClr>
                        </a:gs>
                        <a:gs pos="100000">
                          <a:srgbClr val="FFFFFF">
                            <a:shade val="100000"/>
                            <a:satMod val="115000"/>
                          </a:srgbClr>
                        </a:gs>
                      </a:gsLst>
                      <a:path path="circle">
                        <a:fillToRect l="100000" t="100000"/>
                      </a:path>
                      <a:tileRect r="-100000" b="-100000"/>
                    </a:gradFill>
                  </a:tcPr>
                </a:tc>
                <a:extLst>
                  <a:ext uri="{0D108BD9-81ED-4DB2-BD59-A6C34878D82A}">
                    <a16:rowId xmlns:a16="http://schemas.microsoft.com/office/drawing/2014/main" val="92271905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ru-RU" sz="2800" b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Ценностный</a:t>
                      </a:r>
                      <a:endParaRPr lang="ru-RU" sz="2800" b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R="152400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gradFill flip="none" rotWithShape="1">
                      <a:gsLst>
                        <a:gs pos="0">
                          <a:srgbClr val="FFFFFF">
                            <a:shade val="30000"/>
                            <a:satMod val="115000"/>
                          </a:srgbClr>
                        </a:gs>
                        <a:gs pos="50000">
                          <a:srgbClr val="FFFFFF">
                            <a:shade val="67500"/>
                            <a:satMod val="115000"/>
                          </a:srgbClr>
                        </a:gs>
                        <a:gs pos="100000">
                          <a:srgbClr val="FFFFFF">
                            <a:shade val="100000"/>
                            <a:satMod val="115000"/>
                          </a:srgbClr>
                        </a:gs>
                      </a:gsLst>
                      <a:path path="circle">
                        <a:fillToRect l="100000" t="100000"/>
                      </a:path>
                      <a:tileRect r="-100000" b="-100000"/>
                    </a:gra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ru-RU" sz="2800" b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Соотношение цены и качества</a:t>
                      </a:r>
                    </a:p>
                  </a:txBody>
                  <a:tcPr marL="152400" marR="152400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gradFill flip="none" rotWithShape="1">
                      <a:gsLst>
                        <a:gs pos="0">
                          <a:srgbClr val="FFFFFF">
                            <a:shade val="30000"/>
                            <a:satMod val="115000"/>
                          </a:srgbClr>
                        </a:gs>
                        <a:gs pos="50000">
                          <a:srgbClr val="FFFFFF">
                            <a:shade val="67500"/>
                            <a:satMod val="115000"/>
                          </a:srgbClr>
                        </a:gs>
                        <a:gs pos="100000">
                          <a:srgbClr val="FFFFFF">
                            <a:shade val="100000"/>
                            <a:satMod val="115000"/>
                          </a:srgbClr>
                        </a:gs>
                      </a:gsLst>
                      <a:path path="circle">
                        <a:fillToRect l="100000" t="100000"/>
                      </a:path>
                      <a:tileRect r="-100000" b="-100000"/>
                    </a:gra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ru-RU" sz="2800" b="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Бюджет проекта</a:t>
                      </a:r>
                    </a:p>
                  </a:txBody>
                  <a:tcPr marL="152400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gradFill flip="none" rotWithShape="1">
                      <a:gsLst>
                        <a:gs pos="0">
                          <a:srgbClr val="FFFFFF">
                            <a:shade val="30000"/>
                            <a:satMod val="115000"/>
                          </a:srgbClr>
                        </a:gs>
                        <a:gs pos="50000">
                          <a:srgbClr val="FFFFFF">
                            <a:shade val="67500"/>
                            <a:satMod val="115000"/>
                          </a:srgbClr>
                        </a:gs>
                        <a:gs pos="100000">
                          <a:srgbClr val="FFFFFF">
                            <a:shade val="100000"/>
                            <a:satMod val="115000"/>
                          </a:srgbClr>
                        </a:gs>
                      </a:gsLst>
                      <a:path path="circle">
                        <a:fillToRect l="100000" t="100000"/>
                      </a:path>
                      <a:tileRect r="-100000" b="-100000"/>
                    </a:gradFill>
                  </a:tcPr>
                </a:tc>
                <a:extLst>
                  <a:ext uri="{0D108BD9-81ED-4DB2-BD59-A6C34878D82A}">
                    <a16:rowId xmlns:a16="http://schemas.microsoft.com/office/drawing/2014/main" val="19248473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95532079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8661111-D426-9DB6-3D11-DA2D704783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CF29BBD7-A64B-D920-9CE2-78454C997D08}"/>
              </a:ext>
            </a:extLst>
          </p:cNvPr>
          <p:cNvSpPr txBox="1"/>
          <p:nvPr/>
        </p:nvSpPr>
        <p:spPr>
          <a:xfrm>
            <a:off x="-1656" y="0"/>
            <a:ext cx="12193656" cy="64068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250"/>
              </a:lnSpc>
              <a:spcBef>
                <a:spcPts val="2400"/>
              </a:spcBef>
              <a:spcAft>
                <a:spcPts val="1200"/>
              </a:spcAft>
              <a:buNone/>
            </a:pPr>
            <a:r>
              <a:rPr lang="ru-RU" sz="2800" b="1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Модель качества ПО</a:t>
            </a:r>
          </a:p>
          <a:p>
            <a:pPr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ru-RU" sz="2800" b="1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ISO/IEC 25010 (стандарт качества):</a:t>
            </a:r>
            <a:endParaRPr lang="ru-RU" sz="2800" b="0" i="0" dirty="0">
              <a:solidFill>
                <a:srgbClr val="0F1115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>
              <a:spcBef>
                <a:spcPts val="1200"/>
              </a:spcBef>
              <a:spcAft>
                <a:spcPts val="1200"/>
              </a:spcAft>
              <a:buFont typeface="+mj-lt"/>
              <a:buAutoNum type="arabicPeriod"/>
            </a:pPr>
            <a:r>
              <a:rPr lang="ru-RU" sz="2800" b="1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Функциональная пригодность</a:t>
            </a:r>
            <a:r>
              <a:rPr lang="ru-RU" sz="2800" b="0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— решает ли задачи?</a:t>
            </a:r>
          </a:p>
          <a:p>
            <a:pPr algn="l">
              <a:spcBef>
                <a:spcPts val="450"/>
              </a:spcBef>
              <a:spcAft>
                <a:spcPts val="1200"/>
              </a:spcAft>
              <a:buFont typeface="+mj-lt"/>
              <a:buAutoNum type="arabicPeriod"/>
            </a:pPr>
            <a:r>
              <a:rPr lang="ru-RU" sz="2800" b="1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Надёжность</a:t>
            </a:r>
            <a:r>
              <a:rPr lang="ru-RU" sz="2800" b="0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— не падает ли?</a:t>
            </a:r>
          </a:p>
          <a:p>
            <a:pPr algn="l">
              <a:spcBef>
                <a:spcPts val="450"/>
              </a:spcBef>
              <a:spcAft>
                <a:spcPts val="1200"/>
              </a:spcAft>
              <a:buFont typeface="+mj-lt"/>
              <a:buAutoNum type="arabicPeriod"/>
            </a:pPr>
            <a:r>
              <a:rPr lang="ru-RU" sz="2800" b="1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Производительность</a:t>
            </a:r>
            <a:r>
              <a:rPr lang="ru-RU" sz="2800" b="0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— не тормозит ли?</a:t>
            </a:r>
          </a:p>
          <a:p>
            <a:pPr algn="l">
              <a:spcBef>
                <a:spcPts val="450"/>
              </a:spcBef>
              <a:spcAft>
                <a:spcPts val="1200"/>
              </a:spcAft>
              <a:buFont typeface="+mj-lt"/>
              <a:buAutoNum type="arabicPeriod"/>
            </a:pPr>
            <a:r>
              <a:rPr lang="ru-RU" sz="2800" b="1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Удобство использования</a:t>
            </a:r>
            <a:r>
              <a:rPr lang="ru-RU" sz="2800" b="0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— понятен ли?</a:t>
            </a:r>
          </a:p>
          <a:p>
            <a:pPr algn="l">
              <a:spcBef>
                <a:spcPts val="450"/>
              </a:spcBef>
              <a:spcAft>
                <a:spcPts val="1200"/>
              </a:spcAft>
              <a:buFont typeface="+mj-lt"/>
              <a:buAutoNum type="arabicPeriod"/>
            </a:pPr>
            <a:r>
              <a:rPr lang="ru-RU" sz="2800" b="1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Безопасность</a:t>
            </a:r>
            <a:r>
              <a:rPr lang="ru-RU" sz="2800" b="0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— защищён ли?</a:t>
            </a:r>
          </a:p>
          <a:p>
            <a:pPr algn="l">
              <a:spcBef>
                <a:spcPts val="450"/>
              </a:spcBef>
              <a:spcAft>
                <a:spcPts val="1200"/>
              </a:spcAft>
              <a:buFont typeface="+mj-lt"/>
              <a:buAutoNum type="arabicPeriod"/>
            </a:pPr>
            <a:r>
              <a:rPr lang="ru-RU" sz="2800" b="1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Совместимость</a:t>
            </a:r>
            <a:r>
              <a:rPr lang="ru-RU" sz="2800" b="0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— работает ли с другими?</a:t>
            </a:r>
          </a:p>
          <a:p>
            <a:pPr algn="l">
              <a:spcBef>
                <a:spcPts val="450"/>
              </a:spcBef>
              <a:spcAft>
                <a:spcPts val="1200"/>
              </a:spcAft>
              <a:buFont typeface="+mj-lt"/>
              <a:buAutoNum type="arabicPeriod"/>
            </a:pPr>
            <a:r>
              <a:rPr lang="ru-RU" sz="2800" b="1" i="0" dirty="0" err="1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Сопровождаемость</a:t>
            </a:r>
            <a:r>
              <a:rPr lang="ru-RU" sz="2800" b="0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— легко ли менять?</a:t>
            </a:r>
          </a:p>
          <a:p>
            <a:pPr algn="l">
              <a:spcBef>
                <a:spcPts val="450"/>
              </a:spcBef>
              <a:spcAft>
                <a:spcPts val="1200"/>
              </a:spcAft>
              <a:buFont typeface="+mj-lt"/>
              <a:buAutoNum type="arabicPeriod"/>
            </a:pPr>
            <a:r>
              <a:rPr lang="ru-RU" sz="2800" b="1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Переносимость</a:t>
            </a:r>
            <a:r>
              <a:rPr lang="ru-RU" sz="2800" b="0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— легко ли перенести?</a:t>
            </a:r>
          </a:p>
        </p:txBody>
      </p:sp>
    </p:spTree>
    <p:extLst>
      <p:ext uri="{BB962C8B-B14F-4D97-AF65-F5344CB8AC3E}">
        <p14:creationId xmlns:p14="http://schemas.microsoft.com/office/powerpoint/2010/main" val="312588889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6037145-F67E-A59E-0807-F7A07BFD5A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FB4DC688-894B-9244-4100-D343B1A00D93}"/>
              </a:ext>
            </a:extLst>
          </p:cNvPr>
          <p:cNvSpPr txBox="1"/>
          <p:nvPr/>
        </p:nvSpPr>
        <p:spPr>
          <a:xfrm>
            <a:off x="0" y="0"/>
            <a:ext cx="12192000" cy="46089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250"/>
              </a:lnSpc>
              <a:spcBef>
                <a:spcPts val="2400"/>
              </a:spcBef>
              <a:spcAft>
                <a:spcPts val="1200"/>
              </a:spcAft>
              <a:buNone/>
            </a:pPr>
            <a:r>
              <a:rPr lang="ru-RU" sz="2800" b="1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Технический долг</a:t>
            </a:r>
          </a:p>
          <a:p>
            <a:pPr algn="l">
              <a:spcBef>
                <a:spcPts val="1200"/>
              </a:spcBef>
              <a:buNone/>
            </a:pPr>
            <a:r>
              <a:rPr lang="ru-RU" sz="2800" b="1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"Технический долг — это осознанное компромиссное решение, когда заказчик и разработчики понимают преимущества быстрого, но не идеального решения, за которое придется расплачиваться позже"</a:t>
            </a:r>
            <a:r>
              <a:rPr lang="ru-RU" sz="2800" b="0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.</a:t>
            </a:r>
          </a:p>
          <a:p>
            <a:pPr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ru-RU" sz="2800" b="1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Метафора Уорда Каннингема:</a:t>
            </a:r>
            <a:endParaRPr lang="ru-RU" sz="2800" b="0" i="0" dirty="0">
              <a:solidFill>
                <a:srgbClr val="0F1115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>
              <a:spcBef>
                <a:spcPts val="120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ru-RU" sz="2800" b="0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Взять кредит в разработке — быстро, но с процентами</a:t>
            </a:r>
          </a:p>
          <a:p>
            <a:pPr algn="l">
              <a:spcBef>
                <a:spcPts val="45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ru-RU" sz="2800" b="0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Проценты — время на поддержку и исправление</a:t>
            </a:r>
          </a:p>
          <a:p>
            <a:pPr algn="l">
              <a:spcBef>
                <a:spcPts val="45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ru-RU" sz="2800" b="0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Если не платить долг — проект обанкротится</a:t>
            </a:r>
          </a:p>
        </p:txBody>
      </p:sp>
    </p:spTree>
    <p:extLst>
      <p:ext uri="{BB962C8B-B14F-4D97-AF65-F5344CB8AC3E}">
        <p14:creationId xmlns:p14="http://schemas.microsoft.com/office/powerpoint/2010/main" val="379745244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92DDB6-EFE5-A6D1-9EC1-DD6C6EE76F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192EA727-F6DC-7572-28E0-DFC3B48D47BF}"/>
              </a:ext>
            </a:extLst>
          </p:cNvPr>
          <p:cNvSpPr txBox="1"/>
          <p:nvPr/>
        </p:nvSpPr>
        <p:spPr>
          <a:xfrm>
            <a:off x="-1656" y="0"/>
            <a:ext cx="12193656" cy="39767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250"/>
              </a:lnSpc>
              <a:spcBef>
                <a:spcPts val="2400"/>
              </a:spcBef>
              <a:spcAft>
                <a:spcPts val="1200"/>
              </a:spcAft>
              <a:buNone/>
            </a:pPr>
            <a:r>
              <a:rPr lang="ru-RU" sz="2800" b="1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Квадрант технического долга (Мартин Фаулер)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E9A1DB7-4F57-AF46-33D7-500CCF75ADCE}"/>
              </a:ext>
            </a:extLst>
          </p:cNvPr>
          <p:cNvSpPr txBox="1"/>
          <p:nvPr/>
        </p:nvSpPr>
        <p:spPr>
          <a:xfrm>
            <a:off x="248478" y="1898447"/>
            <a:ext cx="8865704" cy="25853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		</a:t>
            </a:r>
            <a:r>
              <a:rPr lang="ru-RU" dirty="0"/>
              <a:t> НЕОБДУМАННО        </a:t>
            </a:r>
            <a:r>
              <a:rPr lang="en-US" dirty="0"/>
              <a:t>	</a:t>
            </a:r>
            <a:r>
              <a:rPr lang="ru-RU" dirty="0"/>
              <a:t> ОБДУМАННО</a:t>
            </a:r>
          </a:p>
          <a:p>
            <a:r>
              <a:rPr lang="ru-RU" dirty="0"/>
              <a:t>                   </a:t>
            </a:r>
            <a:r>
              <a:rPr lang="en-US" dirty="0"/>
              <a:t>	   </a:t>
            </a:r>
            <a:r>
              <a:rPr lang="ru-RU" dirty="0"/>
              <a:t> (бездумно)           </a:t>
            </a:r>
            <a:r>
              <a:rPr lang="en-US" dirty="0"/>
              <a:t>	  </a:t>
            </a:r>
            <a:r>
              <a:rPr lang="ru-RU" dirty="0"/>
              <a:t>(осознанно)</a:t>
            </a:r>
          </a:p>
          <a:p>
            <a:r>
              <a:rPr lang="ru-RU" dirty="0"/>
              <a:t>БЕЗРАССУДНЫЙ    │  "У нас нет     </a:t>
            </a:r>
            <a:r>
              <a:rPr lang="en-US" dirty="0"/>
              <a:t>                       </a:t>
            </a:r>
            <a:r>
              <a:rPr lang="ru-RU" dirty="0"/>
              <a:t>│  "Мы должны</a:t>
            </a:r>
          </a:p>
          <a:p>
            <a:r>
              <a:rPr lang="ru-RU" dirty="0"/>
              <a:t>(намеренный)     </a:t>
            </a:r>
            <a:r>
              <a:rPr lang="en-US" dirty="0"/>
              <a:t>  </a:t>
            </a:r>
            <a:r>
              <a:rPr lang="ru-RU" dirty="0"/>
              <a:t>│   времени на    </a:t>
            </a:r>
            <a:r>
              <a:rPr lang="en-US" dirty="0"/>
              <a:t>                   </a:t>
            </a:r>
            <a:r>
              <a:rPr lang="ru-RU" dirty="0"/>
              <a:t>│   сделать быстро,</a:t>
            </a:r>
          </a:p>
          <a:p>
            <a:r>
              <a:rPr lang="ru-RU" dirty="0"/>
              <a:t>                 </a:t>
            </a:r>
            <a:r>
              <a:rPr lang="en-US" dirty="0"/>
              <a:t>                 </a:t>
            </a:r>
            <a:r>
              <a:rPr lang="ru-RU" dirty="0"/>
              <a:t>│   проектирование“</a:t>
            </a:r>
            <a:r>
              <a:rPr lang="en-US" dirty="0"/>
              <a:t>            </a:t>
            </a:r>
            <a:r>
              <a:rPr lang="ru-RU" dirty="0"/>
              <a:t>│   потом перепишем"</a:t>
            </a:r>
          </a:p>
          <a:p>
            <a:r>
              <a:rPr lang="ru-RU" dirty="0"/>
              <a:t>───────────────┼─────────────────────┼─────────────────</a:t>
            </a:r>
          </a:p>
          <a:p>
            <a:r>
              <a:rPr lang="ru-RU" dirty="0"/>
              <a:t>ОСТОРОЖНЫЙ       │  "Что такое     </a:t>
            </a:r>
            <a:r>
              <a:rPr lang="en-US" dirty="0"/>
              <a:t>	              </a:t>
            </a:r>
            <a:r>
              <a:rPr lang="ru-RU" dirty="0"/>
              <a:t>│  "Мы изучили,</a:t>
            </a:r>
          </a:p>
          <a:p>
            <a:r>
              <a:rPr lang="ru-RU" dirty="0"/>
              <a:t>(ненамеренный)   │   паттерны?"    </a:t>
            </a:r>
            <a:r>
              <a:rPr lang="en-US" dirty="0"/>
              <a:t>                   </a:t>
            </a:r>
            <a:r>
              <a:rPr lang="ru-RU" dirty="0"/>
              <a:t>│   сейчас делаем так,</a:t>
            </a:r>
          </a:p>
          <a:p>
            <a:r>
              <a:rPr lang="ru-RU" dirty="0"/>
              <a:t>                 </a:t>
            </a:r>
            <a:r>
              <a:rPr lang="en-US" dirty="0"/>
              <a:t>                 </a:t>
            </a:r>
            <a:r>
              <a:rPr lang="ru-RU" dirty="0"/>
              <a:t>│                  </a:t>
            </a:r>
            <a:r>
              <a:rPr lang="en-US" dirty="0"/>
              <a:t>                              </a:t>
            </a:r>
            <a:r>
              <a:rPr lang="ru-RU" dirty="0"/>
              <a:t>│   а в версии 2.0 рефакторинг"</a:t>
            </a:r>
          </a:p>
        </p:txBody>
      </p:sp>
    </p:spTree>
    <p:extLst>
      <p:ext uri="{BB962C8B-B14F-4D97-AF65-F5344CB8AC3E}">
        <p14:creationId xmlns:p14="http://schemas.microsoft.com/office/powerpoint/2010/main" val="420748359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13D7AB6-C6CB-AECF-F4E6-E928B25D45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32984B7F-D755-ACC0-AEEB-934FCC371AA4}"/>
              </a:ext>
            </a:extLst>
          </p:cNvPr>
          <p:cNvSpPr txBox="1"/>
          <p:nvPr/>
        </p:nvSpPr>
        <p:spPr>
          <a:xfrm>
            <a:off x="0" y="0"/>
            <a:ext cx="12192000" cy="67519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250"/>
              </a:lnSpc>
              <a:spcBef>
                <a:spcPts val="2400"/>
              </a:spcBef>
              <a:spcAft>
                <a:spcPts val="1200"/>
              </a:spcAft>
              <a:buNone/>
            </a:pPr>
            <a:r>
              <a:rPr lang="ru-RU" sz="2800" b="1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Пример технического долга</a:t>
            </a:r>
          </a:p>
          <a:p>
            <a:pPr algn="l">
              <a:lnSpc>
                <a:spcPts val="13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sz="2800" b="0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java</a:t>
            </a: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sz="2800" b="0" i="1" dirty="0">
                <a:solidFill>
                  <a:srgbClr val="A0A1A7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// </a:t>
            </a:r>
            <a:r>
              <a:rPr lang="ru-RU" sz="2800" b="0" i="1" dirty="0">
                <a:solidFill>
                  <a:srgbClr val="A0A1A7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ПЛОХО: быстрый фикс, который создаст проблемы</a:t>
            </a:r>
            <a:endParaRPr lang="ru-RU" sz="2800" b="0" i="0" dirty="0">
              <a:solidFill>
                <a:srgbClr val="0F1115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sz="2800" b="0" i="0" dirty="0">
                <a:solidFill>
                  <a:srgbClr val="A626A4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public</a:t>
            </a:r>
            <a:r>
              <a:rPr lang="en-US" sz="2800" b="0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b="0" i="0" dirty="0">
                <a:solidFill>
                  <a:srgbClr val="A626A4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class</a:t>
            </a:r>
            <a:r>
              <a:rPr lang="en-US" sz="2800" b="0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b="0" i="0" dirty="0" err="1">
                <a:solidFill>
                  <a:srgbClr val="B76B0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OrderProcessor</a:t>
            </a:r>
            <a:r>
              <a:rPr lang="en-US" sz="2800" b="0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b="0" i="0" dirty="0">
                <a:solidFill>
                  <a:srgbClr val="383A4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{</a:t>
            </a:r>
            <a:endParaRPr lang="en-US" sz="2800" b="0" i="0" dirty="0">
              <a:solidFill>
                <a:srgbClr val="0F1115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sz="2800" b="0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en-US" sz="2800" b="0" i="0" dirty="0">
                <a:solidFill>
                  <a:srgbClr val="A626A4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public</a:t>
            </a:r>
            <a:r>
              <a:rPr lang="en-US" sz="2800" b="0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b="0" i="0" dirty="0">
                <a:solidFill>
                  <a:srgbClr val="A626A4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void</a:t>
            </a:r>
            <a:r>
              <a:rPr lang="en-US" sz="2800" b="0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b="0" i="0" dirty="0">
                <a:solidFill>
                  <a:srgbClr val="4078F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process</a:t>
            </a:r>
            <a:r>
              <a:rPr lang="en-US" sz="2800" b="0" i="0" dirty="0">
                <a:solidFill>
                  <a:srgbClr val="383A4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sz="2800" b="0" i="0" dirty="0">
                <a:solidFill>
                  <a:srgbClr val="B76B0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Order</a:t>
            </a:r>
            <a:r>
              <a:rPr lang="en-US" sz="2800" b="0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order</a:t>
            </a:r>
            <a:r>
              <a:rPr lang="en-US" sz="2800" b="0" i="0" dirty="0">
                <a:solidFill>
                  <a:srgbClr val="383A4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en-US" sz="2800" b="0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b="0" i="0" dirty="0">
                <a:solidFill>
                  <a:srgbClr val="383A4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{</a:t>
            </a:r>
            <a:endParaRPr lang="en-US" sz="2800" b="0" i="0" dirty="0">
              <a:solidFill>
                <a:srgbClr val="0F1115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sz="2800" b="0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       </a:t>
            </a:r>
            <a:r>
              <a:rPr lang="en-US" sz="2800" b="0" i="1" dirty="0">
                <a:solidFill>
                  <a:srgbClr val="A0A1A7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// TODO: </a:t>
            </a:r>
            <a:r>
              <a:rPr lang="ru-RU" sz="2800" b="0" i="1" dirty="0">
                <a:solidFill>
                  <a:srgbClr val="A0A1A7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убрать </a:t>
            </a:r>
            <a:r>
              <a:rPr lang="ru-RU" sz="2800" b="0" i="1" dirty="0" err="1">
                <a:solidFill>
                  <a:srgbClr val="A0A1A7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хардкод</a:t>
            </a:r>
            <a:r>
              <a:rPr lang="ru-RU" sz="2800" b="0" i="1" dirty="0">
                <a:solidFill>
                  <a:srgbClr val="A0A1A7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вынести в конфиг</a:t>
            </a:r>
            <a:endParaRPr lang="ru-RU" sz="2800" b="0" i="0" dirty="0">
              <a:solidFill>
                <a:srgbClr val="0F1115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ru-RU" sz="2800" b="0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       </a:t>
            </a:r>
            <a:r>
              <a:rPr lang="en-US" sz="2800" b="0" i="0" dirty="0">
                <a:solidFill>
                  <a:srgbClr val="A626A4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double</a:t>
            </a:r>
            <a:r>
              <a:rPr lang="en-US" sz="2800" b="0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tax </a:t>
            </a:r>
            <a:r>
              <a:rPr lang="en-US" sz="2800" b="0" i="0" dirty="0">
                <a:solidFill>
                  <a:srgbClr val="4078F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sz="2800" b="0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b="0" i="0" dirty="0">
                <a:solidFill>
                  <a:srgbClr val="B76B0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0.13</a:t>
            </a:r>
            <a:r>
              <a:rPr lang="en-US" sz="2800" b="0" i="0" dirty="0">
                <a:solidFill>
                  <a:srgbClr val="383A4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  <a:r>
              <a:rPr lang="en-US" sz="2800" b="0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b="0" i="1" dirty="0">
                <a:solidFill>
                  <a:srgbClr val="A0A1A7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// </a:t>
            </a:r>
            <a:r>
              <a:rPr lang="ru-RU" sz="2800" b="0" i="1" dirty="0">
                <a:solidFill>
                  <a:srgbClr val="A0A1A7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магическое число!</a:t>
            </a:r>
            <a:endParaRPr lang="ru-RU" sz="2800" b="0" i="0" dirty="0">
              <a:solidFill>
                <a:srgbClr val="0F1115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ru-RU" sz="2800" b="0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       </a:t>
            </a: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ru-RU" sz="2800" b="0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       </a:t>
            </a:r>
            <a:r>
              <a:rPr lang="en-US" sz="2800" b="0" i="0" dirty="0">
                <a:solidFill>
                  <a:srgbClr val="A626A4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if</a:t>
            </a:r>
            <a:r>
              <a:rPr lang="en-US" sz="2800" b="0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b="0" i="0" dirty="0">
                <a:solidFill>
                  <a:srgbClr val="383A4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sz="2800" b="0" i="0" dirty="0" err="1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order</a:t>
            </a:r>
            <a:r>
              <a:rPr lang="en-US" sz="2800" b="0" i="0" dirty="0" err="1">
                <a:solidFill>
                  <a:srgbClr val="383A4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en-US" sz="2800" b="0" i="0" dirty="0" err="1">
                <a:solidFill>
                  <a:srgbClr val="4078F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getCountry</a:t>
            </a:r>
            <a:r>
              <a:rPr lang="en-US" sz="2800" b="0" i="0" dirty="0">
                <a:solidFill>
                  <a:srgbClr val="383A4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().</a:t>
            </a:r>
            <a:r>
              <a:rPr lang="en-US" sz="2800" b="0" i="0" dirty="0">
                <a:solidFill>
                  <a:srgbClr val="4078F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equals</a:t>
            </a:r>
            <a:r>
              <a:rPr lang="en-US" sz="2800" b="0" i="0" dirty="0">
                <a:solidFill>
                  <a:srgbClr val="383A4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sz="2800" b="0" i="0" dirty="0">
                <a:solidFill>
                  <a:srgbClr val="50A14F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"RU"</a:t>
            </a:r>
            <a:r>
              <a:rPr lang="en-US" sz="2800" b="0" i="0" dirty="0">
                <a:solidFill>
                  <a:srgbClr val="383A4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))</a:t>
            </a:r>
            <a:r>
              <a:rPr lang="en-US" sz="2800" b="0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b="0" i="0" dirty="0">
                <a:solidFill>
                  <a:srgbClr val="383A4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{</a:t>
            </a:r>
            <a:endParaRPr lang="en-US" sz="2800" b="0" i="0" dirty="0">
              <a:solidFill>
                <a:srgbClr val="0F1115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sz="2800" b="0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           </a:t>
            </a:r>
            <a:r>
              <a:rPr lang="en-US" sz="2800" b="0" i="1" dirty="0">
                <a:solidFill>
                  <a:srgbClr val="A0A1A7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// </a:t>
            </a:r>
            <a:r>
              <a:rPr lang="ru-RU" sz="2800" b="0" i="1" dirty="0">
                <a:solidFill>
                  <a:srgbClr val="A0A1A7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специфичная логика для России</a:t>
            </a:r>
            <a:endParaRPr lang="ru-RU" sz="2800" b="0" i="0" dirty="0">
              <a:solidFill>
                <a:srgbClr val="0F1115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ru-RU" sz="2800" b="0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       </a:t>
            </a:r>
            <a:r>
              <a:rPr lang="ru-RU" sz="2800" b="0" i="0" dirty="0">
                <a:solidFill>
                  <a:srgbClr val="383A4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}</a:t>
            </a:r>
            <a:endParaRPr lang="ru-RU" sz="2800" b="0" i="0" dirty="0">
              <a:solidFill>
                <a:srgbClr val="0F1115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ru-RU" sz="2800" b="0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       </a:t>
            </a:r>
            <a:r>
              <a:rPr lang="ru-RU" sz="2800" b="0" i="1" dirty="0">
                <a:solidFill>
                  <a:srgbClr val="A0A1A7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// еще 500 строк кода...</a:t>
            </a:r>
            <a:endParaRPr lang="ru-RU" sz="2800" b="0" i="0" dirty="0">
              <a:solidFill>
                <a:srgbClr val="0F1115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ru-RU" sz="2800" b="0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ru-RU" sz="2800" b="0" i="0" dirty="0">
                <a:solidFill>
                  <a:srgbClr val="383A4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}</a:t>
            </a:r>
            <a:endParaRPr lang="ru-RU" sz="2800" b="0" i="0" dirty="0">
              <a:solidFill>
                <a:srgbClr val="0F1115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ru-RU" sz="2800" b="0" i="0" dirty="0">
                <a:solidFill>
                  <a:srgbClr val="383A4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}</a:t>
            </a:r>
            <a:endParaRPr lang="ru-RU" sz="2800" b="0" i="0" dirty="0">
              <a:solidFill>
                <a:srgbClr val="0F1115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5132896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C660532-B2EB-4358-9F60-9F7DB836EA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8C0C9B7B-1E50-9045-C754-5235BD370B2E}"/>
              </a:ext>
            </a:extLst>
          </p:cNvPr>
          <p:cNvSpPr txBox="1"/>
          <p:nvPr/>
        </p:nvSpPr>
        <p:spPr>
          <a:xfrm>
            <a:off x="0" y="19313"/>
            <a:ext cx="12192000" cy="66838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ts val="2250"/>
              </a:lnSpc>
              <a:spcBef>
                <a:spcPts val="2400"/>
              </a:spcBef>
              <a:spcAft>
                <a:spcPts val="1200"/>
              </a:spcAft>
              <a:buNone/>
            </a:pPr>
            <a:r>
              <a:rPr lang="ru-RU" sz="2000" b="1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Code </a:t>
            </a:r>
            <a:r>
              <a:rPr lang="ru-RU" sz="2000" b="1" dirty="0" err="1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Smells</a:t>
            </a:r>
            <a:r>
              <a:rPr lang="ru-RU" sz="2000" b="1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— признаки плохого кода</a:t>
            </a:r>
          </a:p>
          <a:p>
            <a:pPr algn="just">
              <a:spcBef>
                <a:spcPts val="1200"/>
              </a:spcBef>
              <a:spcAft>
                <a:spcPts val="1200"/>
              </a:spcAft>
              <a:buNone/>
            </a:pPr>
            <a:r>
              <a:rPr lang="ru-RU" sz="2000" b="1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Текст на слайде:</a:t>
            </a:r>
            <a:endParaRPr lang="ru-RU" sz="2000" b="0" i="0" dirty="0">
              <a:solidFill>
                <a:srgbClr val="0F1115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spcBef>
                <a:spcPts val="1200"/>
              </a:spcBef>
              <a:buNone/>
            </a:pPr>
            <a:r>
              <a:rPr lang="ru-RU" sz="2000" b="1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"Code </a:t>
            </a:r>
            <a:r>
              <a:rPr lang="ru-RU" sz="2000" b="1" i="0" dirty="0" err="1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Smell</a:t>
            </a:r>
            <a:r>
              <a:rPr lang="ru-RU" sz="2000" b="1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— это поверхностный признак, который обычно указывает на более глубокую проблему в коде."</a:t>
            </a:r>
            <a:r>
              <a:rPr lang="ru-RU" sz="2000" b="0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(Мартин Фаулер)</a:t>
            </a:r>
          </a:p>
          <a:p>
            <a:pPr algn="just">
              <a:spcBef>
                <a:spcPts val="1200"/>
              </a:spcBef>
              <a:spcAft>
                <a:spcPts val="1200"/>
              </a:spcAft>
              <a:buNone/>
            </a:pPr>
            <a:r>
              <a:rPr lang="ru-RU" sz="2000" b="1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Категории:</a:t>
            </a:r>
            <a:endParaRPr lang="ru-RU" sz="2000" b="0" i="0" dirty="0">
              <a:solidFill>
                <a:srgbClr val="0F1115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spcBef>
                <a:spcPts val="1200"/>
              </a:spcBef>
              <a:spcAft>
                <a:spcPts val="1200"/>
              </a:spcAft>
              <a:buFont typeface="+mj-lt"/>
              <a:buAutoNum type="arabicPeriod"/>
            </a:pPr>
            <a:r>
              <a:rPr lang="ru-RU" sz="2000" b="1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Дублирование кода</a:t>
            </a:r>
            <a:r>
              <a:rPr lang="ru-RU" sz="2000" b="0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(</a:t>
            </a:r>
            <a:r>
              <a:rPr lang="ru-RU" sz="2000" b="0" i="0" dirty="0" err="1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Copy-Paste</a:t>
            </a:r>
            <a:r>
              <a:rPr lang="ru-RU" sz="2000" b="0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pPr algn="just">
              <a:spcBef>
                <a:spcPts val="450"/>
              </a:spcBef>
              <a:spcAft>
                <a:spcPts val="1200"/>
              </a:spcAft>
              <a:buFont typeface="+mj-lt"/>
              <a:buAutoNum type="arabicPeriod"/>
            </a:pPr>
            <a:r>
              <a:rPr lang="ru-RU" sz="2000" b="1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Длинные методы</a:t>
            </a:r>
            <a:endParaRPr lang="ru-RU" sz="2000" b="0" i="0" dirty="0">
              <a:solidFill>
                <a:srgbClr val="0F1115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spcBef>
                <a:spcPts val="450"/>
              </a:spcBef>
              <a:spcAft>
                <a:spcPts val="1200"/>
              </a:spcAft>
              <a:buFont typeface="+mj-lt"/>
              <a:buAutoNum type="arabicPeriod"/>
            </a:pPr>
            <a:r>
              <a:rPr lang="ru-RU" sz="2000" b="1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Большие классы</a:t>
            </a:r>
            <a:r>
              <a:rPr lang="ru-RU" sz="2000" b="0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(</a:t>
            </a:r>
            <a:r>
              <a:rPr lang="ru-RU" sz="2000" b="0" i="0" dirty="0" err="1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God</a:t>
            </a:r>
            <a:r>
              <a:rPr lang="ru-RU" sz="2000" b="0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Object)</a:t>
            </a:r>
          </a:p>
          <a:p>
            <a:pPr algn="just">
              <a:spcBef>
                <a:spcPts val="450"/>
              </a:spcBef>
              <a:spcAft>
                <a:spcPts val="1200"/>
              </a:spcAft>
              <a:buFont typeface="+mj-lt"/>
              <a:buAutoNum type="arabicPeriod"/>
            </a:pPr>
            <a:r>
              <a:rPr lang="ru-RU" sz="2000" b="1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Длинные списки параметров</a:t>
            </a:r>
            <a:endParaRPr lang="ru-RU" sz="2000" b="0" i="0" dirty="0">
              <a:solidFill>
                <a:srgbClr val="0F1115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spcBef>
                <a:spcPts val="450"/>
              </a:spcBef>
              <a:spcAft>
                <a:spcPts val="1200"/>
              </a:spcAft>
              <a:buFont typeface="+mj-lt"/>
              <a:buAutoNum type="arabicPeriod"/>
            </a:pPr>
            <a:r>
              <a:rPr lang="ru-RU" sz="2000" b="1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Завистливые функции</a:t>
            </a:r>
            <a:r>
              <a:rPr lang="ru-RU" sz="2000" b="0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(</a:t>
            </a:r>
            <a:r>
              <a:rPr lang="ru-RU" sz="2000" b="0" i="0" dirty="0" err="1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Feature</a:t>
            </a:r>
            <a:r>
              <a:rPr lang="ru-RU" sz="2000" b="0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000" b="0" i="0" dirty="0" err="1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Envy</a:t>
            </a:r>
            <a:r>
              <a:rPr lang="ru-RU" sz="2000" b="0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pPr algn="just">
              <a:spcBef>
                <a:spcPts val="450"/>
              </a:spcBef>
              <a:spcAft>
                <a:spcPts val="1200"/>
              </a:spcAft>
              <a:buFont typeface="+mj-lt"/>
              <a:buAutoNum type="arabicPeriod"/>
            </a:pPr>
            <a:r>
              <a:rPr lang="ru-RU" sz="2000" b="1" i="0" dirty="0" err="1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Switch</a:t>
            </a:r>
            <a:r>
              <a:rPr lang="ru-RU" sz="2000" b="1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-мания</a:t>
            </a:r>
            <a:r>
              <a:rPr lang="ru-RU" sz="2000" b="0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(много </a:t>
            </a:r>
            <a:r>
              <a:rPr lang="ru-RU" sz="2000" b="0" i="0" dirty="0" err="1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switch</a:t>
            </a:r>
            <a:r>
              <a:rPr lang="ru-RU" sz="2000" b="0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/</a:t>
            </a:r>
            <a:r>
              <a:rPr lang="ru-RU" sz="2000" b="0" i="0" dirty="0" err="1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case</a:t>
            </a:r>
            <a:r>
              <a:rPr lang="ru-RU" sz="2000" b="0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pPr algn="just">
              <a:spcBef>
                <a:spcPts val="450"/>
              </a:spcBef>
              <a:spcAft>
                <a:spcPts val="1200"/>
              </a:spcAft>
              <a:buFont typeface="+mj-lt"/>
              <a:buAutoNum type="arabicPeriod"/>
            </a:pPr>
            <a:r>
              <a:rPr lang="ru-RU" sz="2000" b="1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Мусорные комментарии</a:t>
            </a:r>
            <a:endParaRPr lang="ru-RU" sz="2000" b="0" i="0" dirty="0">
              <a:solidFill>
                <a:srgbClr val="0F1115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spcBef>
                <a:spcPts val="450"/>
              </a:spcBef>
              <a:spcAft>
                <a:spcPts val="1200"/>
              </a:spcAft>
              <a:buFont typeface="+mj-lt"/>
              <a:buAutoNum type="arabicPeriod"/>
            </a:pPr>
            <a:r>
              <a:rPr lang="ru-RU" sz="2000" b="1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Мёртвый код</a:t>
            </a:r>
            <a:endParaRPr lang="ru-RU" sz="2000" b="0" i="0" dirty="0">
              <a:solidFill>
                <a:srgbClr val="0F1115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710571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090EFE-B5F8-818A-E89F-C7725C40FE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047D0CFB-3E4A-83E7-F9BC-C95C091886D3}"/>
              </a:ext>
            </a:extLst>
          </p:cNvPr>
          <p:cNvSpPr txBox="1"/>
          <p:nvPr/>
        </p:nvSpPr>
        <p:spPr>
          <a:xfrm>
            <a:off x="-1656" y="0"/>
            <a:ext cx="12193656" cy="39767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2250"/>
              </a:lnSpc>
              <a:spcBef>
                <a:spcPts val="2400"/>
              </a:spcBef>
              <a:spcAft>
                <a:spcPts val="1200"/>
              </a:spcAft>
            </a:pPr>
            <a:r>
              <a:rPr lang="ru-RU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Дублирование кода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D96F1E3-BD48-71F8-21FC-94A2FC2C3303}"/>
              </a:ext>
            </a:extLst>
          </p:cNvPr>
          <p:cNvSpPr txBox="1"/>
          <p:nvPr/>
        </p:nvSpPr>
        <p:spPr>
          <a:xfrm>
            <a:off x="0" y="964312"/>
            <a:ext cx="6096000" cy="403187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</a:pPr>
            <a:r>
              <a:rPr lang="en-US" sz="1600" b="0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java</a:t>
            </a:r>
          </a:p>
          <a:p>
            <a:pPr algn="l" latinLnBrk="1">
              <a:buNone/>
            </a:pPr>
            <a:r>
              <a:rPr lang="en-US" sz="1600" b="0" i="1" dirty="0">
                <a:solidFill>
                  <a:srgbClr val="A0A1A7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// </a:t>
            </a:r>
            <a:r>
              <a:rPr lang="ru-RU" sz="1600" b="0" i="1" dirty="0">
                <a:solidFill>
                  <a:srgbClr val="A0A1A7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ПЛОХО: копипаст</a:t>
            </a:r>
            <a:endParaRPr lang="ru-RU" sz="1600" b="0" dirty="0">
              <a:solidFill>
                <a:srgbClr val="0F1115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 latinLnBrk="1">
              <a:buNone/>
            </a:pPr>
            <a:r>
              <a:rPr lang="en-US" sz="1600" b="0" dirty="0">
                <a:solidFill>
                  <a:srgbClr val="A626A4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class</a:t>
            </a:r>
            <a:r>
              <a:rPr lang="en-US" sz="1600" b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b="0" dirty="0" err="1">
                <a:solidFill>
                  <a:srgbClr val="B76B0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UserService</a:t>
            </a:r>
            <a:r>
              <a:rPr lang="en-US" sz="1600" b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b="0" dirty="0">
                <a:solidFill>
                  <a:srgbClr val="383A4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{</a:t>
            </a:r>
            <a:endParaRPr lang="en-US" sz="1600" b="0" dirty="0">
              <a:solidFill>
                <a:srgbClr val="0F1115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 latinLnBrk="1">
              <a:buNone/>
            </a:pPr>
            <a:r>
              <a:rPr lang="en-US" sz="1600" b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en-US" sz="1600" b="0" dirty="0">
                <a:solidFill>
                  <a:srgbClr val="A626A4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public</a:t>
            </a:r>
            <a:r>
              <a:rPr lang="en-US" sz="1600" b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b="0" dirty="0">
                <a:solidFill>
                  <a:srgbClr val="A626A4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void</a:t>
            </a:r>
            <a:r>
              <a:rPr lang="en-US" sz="1600" b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b="0" dirty="0" err="1">
                <a:solidFill>
                  <a:srgbClr val="4078F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createUser</a:t>
            </a:r>
            <a:r>
              <a:rPr lang="en-US" sz="1600" b="0" dirty="0">
                <a:solidFill>
                  <a:srgbClr val="383A4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sz="1600" b="0" dirty="0">
                <a:solidFill>
                  <a:srgbClr val="B76B0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String</a:t>
            </a:r>
            <a:r>
              <a:rPr lang="en-US" sz="1600" b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name</a:t>
            </a:r>
            <a:r>
              <a:rPr lang="en-US" sz="1600" b="0" dirty="0">
                <a:solidFill>
                  <a:srgbClr val="383A4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n-US" sz="1600" b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b="0" dirty="0">
                <a:solidFill>
                  <a:srgbClr val="B76B0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String</a:t>
            </a:r>
            <a:r>
              <a:rPr lang="en-US" sz="1600" b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email</a:t>
            </a:r>
            <a:r>
              <a:rPr lang="en-US" sz="1600" b="0" dirty="0">
                <a:solidFill>
                  <a:srgbClr val="383A4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en-US" sz="1600" b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b="0" dirty="0">
                <a:solidFill>
                  <a:srgbClr val="383A4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{</a:t>
            </a:r>
            <a:endParaRPr lang="en-US" sz="1600" b="0" dirty="0">
              <a:solidFill>
                <a:srgbClr val="0F1115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 latinLnBrk="1">
              <a:buNone/>
            </a:pPr>
            <a:r>
              <a:rPr lang="en-US" sz="1600" b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       </a:t>
            </a:r>
            <a:r>
              <a:rPr lang="en-US" sz="1600" b="0" dirty="0" err="1">
                <a:solidFill>
                  <a:srgbClr val="4078F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validateEmail</a:t>
            </a:r>
            <a:r>
              <a:rPr lang="en-US" sz="1600" b="0" dirty="0">
                <a:solidFill>
                  <a:srgbClr val="383A4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sz="1600" b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email</a:t>
            </a:r>
            <a:r>
              <a:rPr lang="en-US" sz="1600" b="0" dirty="0">
                <a:solidFill>
                  <a:srgbClr val="383A4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);</a:t>
            </a:r>
            <a:endParaRPr lang="en-US" sz="1600" b="0" dirty="0">
              <a:solidFill>
                <a:srgbClr val="0F1115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 latinLnBrk="1">
              <a:buNone/>
            </a:pPr>
            <a:r>
              <a:rPr lang="en-US" sz="1600" b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       </a:t>
            </a:r>
            <a:r>
              <a:rPr lang="en-US" sz="1600" b="0" i="1" dirty="0">
                <a:solidFill>
                  <a:srgbClr val="A0A1A7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// </a:t>
            </a:r>
            <a:r>
              <a:rPr lang="ru-RU" sz="1600" b="0" i="1" dirty="0">
                <a:solidFill>
                  <a:srgbClr val="A0A1A7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логика создания</a:t>
            </a:r>
            <a:endParaRPr lang="ru-RU" sz="1600" b="0" dirty="0">
              <a:solidFill>
                <a:srgbClr val="0F1115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 latinLnBrk="1">
              <a:buNone/>
            </a:pPr>
            <a:r>
              <a:rPr lang="ru-RU" sz="1600" b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       </a:t>
            </a:r>
            <a:r>
              <a:rPr lang="en-US" sz="1600" b="0" dirty="0">
                <a:solidFill>
                  <a:srgbClr val="4078F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log</a:t>
            </a:r>
            <a:r>
              <a:rPr lang="en-US" sz="1600" b="0" dirty="0">
                <a:solidFill>
                  <a:srgbClr val="383A4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sz="1600" b="0" dirty="0">
                <a:solidFill>
                  <a:srgbClr val="50A14F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"User created: "</a:t>
            </a:r>
            <a:r>
              <a:rPr lang="en-US" sz="1600" b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b="0" dirty="0">
                <a:solidFill>
                  <a:srgbClr val="4078F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+</a:t>
            </a:r>
            <a:r>
              <a:rPr lang="en-US" sz="1600" b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name</a:t>
            </a:r>
            <a:r>
              <a:rPr lang="en-US" sz="1600" b="0" dirty="0">
                <a:solidFill>
                  <a:srgbClr val="383A4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);</a:t>
            </a:r>
            <a:endParaRPr lang="en-US" sz="1600" b="0" dirty="0">
              <a:solidFill>
                <a:srgbClr val="0F1115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 latinLnBrk="1">
              <a:buNone/>
            </a:pPr>
            <a:r>
              <a:rPr lang="en-US" sz="1600" b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       </a:t>
            </a:r>
            <a:r>
              <a:rPr lang="en-US" sz="1600" b="0" dirty="0" err="1">
                <a:solidFill>
                  <a:srgbClr val="4078F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sendNotification</a:t>
            </a:r>
            <a:r>
              <a:rPr lang="en-US" sz="1600" b="0" dirty="0">
                <a:solidFill>
                  <a:srgbClr val="383A4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sz="1600" b="0" dirty="0">
                <a:solidFill>
                  <a:srgbClr val="50A14F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"User created"</a:t>
            </a:r>
            <a:r>
              <a:rPr lang="en-US" sz="1600" b="0" dirty="0">
                <a:solidFill>
                  <a:srgbClr val="383A4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);</a:t>
            </a:r>
            <a:endParaRPr lang="en-US" sz="1600" b="0" dirty="0">
              <a:solidFill>
                <a:srgbClr val="0F1115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 latinLnBrk="1">
              <a:buNone/>
            </a:pPr>
            <a:r>
              <a:rPr lang="en-US" sz="1600" b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en-US" sz="1600" b="0" dirty="0">
                <a:solidFill>
                  <a:srgbClr val="383A4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}</a:t>
            </a:r>
            <a:endParaRPr lang="en-US" sz="1600" b="0" dirty="0">
              <a:solidFill>
                <a:srgbClr val="0F1115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 latinLnBrk="1">
              <a:buNone/>
            </a:pPr>
            <a:r>
              <a:rPr lang="en-US" sz="1600" b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en-US" sz="1600" b="0" dirty="0">
                <a:solidFill>
                  <a:srgbClr val="A626A4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public</a:t>
            </a:r>
            <a:r>
              <a:rPr lang="en-US" sz="1600" b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b="0" dirty="0">
                <a:solidFill>
                  <a:srgbClr val="A626A4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void</a:t>
            </a:r>
            <a:r>
              <a:rPr lang="en-US" sz="1600" b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b="0" dirty="0" err="1">
                <a:solidFill>
                  <a:srgbClr val="4078F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updateUser</a:t>
            </a:r>
            <a:r>
              <a:rPr lang="en-US" sz="1600" b="0" dirty="0">
                <a:solidFill>
                  <a:srgbClr val="383A4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sz="1600" b="0" dirty="0">
                <a:solidFill>
                  <a:srgbClr val="B76B0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String</a:t>
            </a:r>
            <a:r>
              <a:rPr lang="en-US" sz="1600" b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name</a:t>
            </a:r>
            <a:r>
              <a:rPr lang="en-US" sz="1600" b="0" dirty="0">
                <a:solidFill>
                  <a:srgbClr val="383A4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n-US" sz="1600" b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b="0" dirty="0">
                <a:solidFill>
                  <a:srgbClr val="B76B0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String</a:t>
            </a:r>
            <a:r>
              <a:rPr lang="en-US" sz="1600" b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email</a:t>
            </a:r>
            <a:r>
              <a:rPr lang="en-US" sz="1600" b="0" dirty="0">
                <a:solidFill>
                  <a:srgbClr val="383A4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en-US" sz="1600" b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b="0" dirty="0">
                <a:solidFill>
                  <a:srgbClr val="383A4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{</a:t>
            </a:r>
            <a:endParaRPr lang="en-US" sz="1600" b="0" dirty="0">
              <a:solidFill>
                <a:srgbClr val="0F1115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 latinLnBrk="1">
              <a:buNone/>
            </a:pPr>
            <a:r>
              <a:rPr lang="en-US" sz="1600" b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       </a:t>
            </a:r>
            <a:r>
              <a:rPr lang="en-US" sz="1600" b="0" dirty="0" err="1">
                <a:solidFill>
                  <a:srgbClr val="4078F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validateEmail</a:t>
            </a:r>
            <a:r>
              <a:rPr lang="en-US" sz="1600" b="0" dirty="0">
                <a:solidFill>
                  <a:srgbClr val="383A4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sz="1600" b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email</a:t>
            </a:r>
            <a:r>
              <a:rPr lang="en-US" sz="1600" b="0" dirty="0">
                <a:solidFill>
                  <a:srgbClr val="383A4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);</a:t>
            </a:r>
            <a:r>
              <a:rPr lang="en-US" sz="1600" b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b="0" i="1" dirty="0">
                <a:solidFill>
                  <a:srgbClr val="A0A1A7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// </a:t>
            </a:r>
            <a:r>
              <a:rPr lang="ru-RU" sz="1600" b="0" i="1" dirty="0">
                <a:solidFill>
                  <a:srgbClr val="A0A1A7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ДУБЛИРОВАНИЕ!</a:t>
            </a:r>
            <a:endParaRPr lang="ru-RU" sz="1600" b="0" dirty="0">
              <a:solidFill>
                <a:srgbClr val="0F1115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 latinLnBrk="1">
              <a:buNone/>
            </a:pPr>
            <a:r>
              <a:rPr lang="ru-RU" sz="1600" b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       </a:t>
            </a:r>
            <a:r>
              <a:rPr lang="ru-RU" sz="1600" b="0" i="1" dirty="0">
                <a:solidFill>
                  <a:srgbClr val="A0A1A7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// логика обновления</a:t>
            </a:r>
            <a:endParaRPr lang="ru-RU" sz="1600" b="0" dirty="0">
              <a:solidFill>
                <a:srgbClr val="0F1115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 latinLnBrk="1">
              <a:buNone/>
            </a:pPr>
            <a:r>
              <a:rPr lang="ru-RU" sz="1600" b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       </a:t>
            </a:r>
            <a:r>
              <a:rPr lang="en-US" sz="1600" b="0" dirty="0">
                <a:solidFill>
                  <a:srgbClr val="4078F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log</a:t>
            </a:r>
            <a:r>
              <a:rPr lang="en-US" sz="1600" b="0" dirty="0">
                <a:solidFill>
                  <a:srgbClr val="383A4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sz="1600" b="0" dirty="0">
                <a:solidFill>
                  <a:srgbClr val="50A14F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"User updated: "</a:t>
            </a:r>
            <a:r>
              <a:rPr lang="en-US" sz="1600" b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b="0" dirty="0">
                <a:solidFill>
                  <a:srgbClr val="4078F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+</a:t>
            </a:r>
            <a:r>
              <a:rPr lang="en-US" sz="1600" b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name</a:t>
            </a:r>
            <a:r>
              <a:rPr lang="en-US" sz="1600" b="0" dirty="0">
                <a:solidFill>
                  <a:srgbClr val="383A4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);</a:t>
            </a:r>
            <a:r>
              <a:rPr lang="en-US" sz="1600" b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b="0" i="1" dirty="0">
                <a:solidFill>
                  <a:srgbClr val="A0A1A7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// </a:t>
            </a:r>
            <a:r>
              <a:rPr lang="ru-RU" sz="1600" b="0" i="1" dirty="0">
                <a:solidFill>
                  <a:srgbClr val="A0A1A7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ДУБЛИРОВАНИЕ!</a:t>
            </a:r>
            <a:endParaRPr lang="ru-RU" sz="1600" b="0" dirty="0">
              <a:solidFill>
                <a:srgbClr val="0F1115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 latinLnBrk="1">
              <a:buNone/>
            </a:pPr>
            <a:r>
              <a:rPr lang="ru-RU" sz="1600" b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       </a:t>
            </a:r>
            <a:r>
              <a:rPr lang="en-US" sz="1600" b="0" dirty="0" err="1">
                <a:solidFill>
                  <a:srgbClr val="4078F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sendNotification</a:t>
            </a:r>
            <a:r>
              <a:rPr lang="en-US" sz="1600" b="0" dirty="0">
                <a:solidFill>
                  <a:srgbClr val="383A4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sz="1600" b="0" dirty="0">
                <a:solidFill>
                  <a:srgbClr val="50A14F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"User updated"</a:t>
            </a:r>
            <a:r>
              <a:rPr lang="en-US" sz="1600" b="0" dirty="0">
                <a:solidFill>
                  <a:srgbClr val="383A4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);</a:t>
            </a:r>
            <a:r>
              <a:rPr lang="en-US" sz="1600" b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b="0" i="1" dirty="0">
                <a:solidFill>
                  <a:srgbClr val="A0A1A7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// </a:t>
            </a:r>
            <a:r>
              <a:rPr lang="ru-RU" sz="1600" b="0" i="1" dirty="0">
                <a:solidFill>
                  <a:srgbClr val="A0A1A7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ДУБЛИРОВАНИЕ!</a:t>
            </a:r>
            <a:endParaRPr lang="ru-RU" sz="1600" b="0" dirty="0">
              <a:solidFill>
                <a:srgbClr val="0F1115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 latinLnBrk="1">
              <a:buNone/>
            </a:pPr>
            <a:r>
              <a:rPr lang="ru-RU" sz="1600" b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ru-RU" sz="1600" b="0" dirty="0">
                <a:solidFill>
                  <a:srgbClr val="383A4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}</a:t>
            </a:r>
            <a:endParaRPr lang="ru-RU" sz="1600" b="0" dirty="0">
              <a:solidFill>
                <a:srgbClr val="0F1115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 latinLnBrk="1">
              <a:buNone/>
            </a:pPr>
            <a:r>
              <a:rPr lang="ru-RU" sz="1600" b="0" dirty="0">
                <a:solidFill>
                  <a:srgbClr val="383A4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}</a:t>
            </a:r>
            <a:endParaRPr lang="ru-RU" sz="1600" b="0" dirty="0">
              <a:solidFill>
                <a:srgbClr val="0F1115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B39FDF7-6687-4A6F-5E0E-C0F0005350F8}"/>
              </a:ext>
            </a:extLst>
          </p:cNvPr>
          <p:cNvSpPr txBox="1"/>
          <p:nvPr/>
        </p:nvSpPr>
        <p:spPr>
          <a:xfrm>
            <a:off x="6062870" y="964204"/>
            <a:ext cx="6162260" cy="42780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latinLnBrk="1">
              <a:buNone/>
            </a:pPr>
            <a:r>
              <a:rPr lang="ru-RU" sz="1600" b="0" i="1" dirty="0">
                <a:solidFill>
                  <a:srgbClr val="A0A1A7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// ХОРОШО: вынесли общее</a:t>
            </a:r>
            <a:endParaRPr lang="ru-RU" sz="1600" b="0" dirty="0">
              <a:solidFill>
                <a:srgbClr val="0F1115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 latinLnBrk="1">
              <a:buNone/>
            </a:pPr>
            <a:r>
              <a:rPr lang="en-US" sz="1600" b="0" dirty="0">
                <a:solidFill>
                  <a:srgbClr val="A626A4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class</a:t>
            </a:r>
            <a:r>
              <a:rPr lang="en-US" sz="1600" b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b="0" dirty="0" err="1">
                <a:solidFill>
                  <a:srgbClr val="B76B0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UserService</a:t>
            </a:r>
            <a:r>
              <a:rPr lang="en-US" sz="1600" b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b="0" dirty="0">
                <a:solidFill>
                  <a:srgbClr val="383A4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{</a:t>
            </a:r>
            <a:endParaRPr lang="en-US" sz="1600" b="0" dirty="0">
              <a:solidFill>
                <a:srgbClr val="0F1115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 latinLnBrk="1">
              <a:buNone/>
            </a:pPr>
            <a:r>
              <a:rPr lang="en-US" sz="1600" b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en-US" sz="1600" b="0" dirty="0">
                <a:solidFill>
                  <a:srgbClr val="A626A4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private</a:t>
            </a:r>
            <a:r>
              <a:rPr lang="en-US" sz="1600" b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b="0" dirty="0">
                <a:solidFill>
                  <a:srgbClr val="A626A4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void</a:t>
            </a:r>
            <a:r>
              <a:rPr lang="en-US" sz="1600" b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b="0" dirty="0" err="1">
                <a:solidFill>
                  <a:srgbClr val="4078F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validateAndLog</a:t>
            </a:r>
            <a:r>
              <a:rPr lang="en-US" sz="1600" b="0" dirty="0">
                <a:solidFill>
                  <a:srgbClr val="383A4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sz="1600" b="0" dirty="0">
                <a:solidFill>
                  <a:srgbClr val="B76B0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String</a:t>
            </a:r>
            <a:r>
              <a:rPr lang="en-US" sz="1600" b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email</a:t>
            </a:r>
            <a:r>
              <a:rPr lang="en-US" sz="1600" b="0" dirty="0">
                <a:solidFill>
                  <a:srgbClr val="383A4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n-US" sz="1600" b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b="0" dirty="0">
                <a:solidFill>
                  <a:srgbClr val="B76B0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String</a:t>
            </a:r>
            <a:r>
              <a:rPr lang="en-US" sz="1600" b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action</a:t>
            </a:r>
            <a:r>
              <a:rPr lang="en-US" sz="1600" b="0" dirty="0">
                <a:solidFill>
                  <a:srgbClr val="383A4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n-US" sz="1600" b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b="0" dirty="0">
                <a:solidFill>
                  <a:srgbClr val="B76B0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String</a:t>
            </a:r>
            <a:r>
              <a:rPr lang="en-US" sz="1600" b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name</a:t>
            </a:r>
            <a:r>
              <a:rPr lang="en-US" sz="1600" b="0" dirty="0">
                <a:solidFill>
                  <a:srgbClr val="383A4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en-US" sz="1600" b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b="0" dirty="0">
                <a:solidFill>
                  <a:srgbClr val="383A4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{</a:t>
            </a:r>
            <a:endParaRPr lang="en-US" sz="1600" b="0" dirty="0">
              <a:solidFill>
                <a:srgbClr val="0F1115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 latinLnBrk="1">
              <a:buNone/>
            </a:pPr>
            <a:r>
              <a:rPr lang="en-US" sz="1600" b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       </a:t>
            </a:r>
            <a:r>
              <a:rPr lang="en-US" sz="1600" b="0" dirty="0" err="1">
                <a:solidFill>
                  <a:srgbClr val="4078F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validateEmail</a:t>
            </a:r>
            <a:r>
              <a:rPr lang="en-US" sz="1600" b="0" dirty="0">
                <a:solidFill>
                  <a:srgbClr val="383A4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sz="1600" b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email</a:t>
            </a:r>
            <a:r>
              <a:rPr lang="en-US" sz="1600" b="0" dirty="0">
                <a:solidFill>
                  <a:srgbClr val="383A4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);</a:t>
            </a:r>
            <a:endParaRPr lang="en-US" sz="1600" b="0" dirty="0">
              <a:solidFill>
                <a:srgbClr val="0F1115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 latinLnBrk="1">
              <a:buNone/>
            </a:pPr>
            <a:r>
              <a:rPr lang="en-US" sz="1600" b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       </a:t>
            </a:r>
            <a:r>
              <a:rPr lang="en-US" sz="1600" b="0" dirty="0">
                <a:solidFill>
                  <a:srgbClr val="4078F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log</a:t>
            </a:r>
            <a:r>
              <a:rPr lang="en-US" sz="1600" b="0" dirty="0">
                <a:solidFill>
                  <a:srgbClr val="383A4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sz="1600" b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action </a:t>
            </a:r>
            <a:r>
              <a:rPr lang="en-US" sz="1600" b="0" dirty="0">
                <a:solidFill>
                  <a:srgbClr val="4078F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+</a:t>
            </a:r>
            <a:r>
              <a:rPr lang="en-US" sz="1600" b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b="0" dirty="0">
                <a:solidFill>
                  <a:srgbClr val="50A14F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": "</a:t>
            </a:r>
            <a:r>
              <a:rPr lang="en-US" sz="1600" b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b="0" dirty="0">
                <a:solidFill>
                  <a:srgbClr val="4078F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+</a:t>
            </a:r>
            <a:r>
              <a:rPr lang="en-US" sz="1600" b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name</a:t>
            </a:r>
            <a:r>
              <a:rPr lang="en-US" sz="1600" b="0" dirty="0">
                <a:solidFill>
                  <a:srgbClr val="383A4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);</a:t>
            </a:r>
            <a:endParaRPr lang="en-US" sz="1600" b="0" dirty="0">
              <a:solidFill>
                <a:srgbClr val="0F1115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 latinLnBrk="1">
              <a:buNone/>
            </a:pPr>
            <a:r>
              <a:rPr lang="en-US" sz="1600" b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       </a:t>
            </a:r>
            <a:r>
              <a:rPr lang="en-US" sz="1600" b="0" dirty="0" err="1">
                <a:solidFill>
                  <a:srgbClr val="4078F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sendNotification</a:t>
            </a:r>
            <a:r>
              <a:rPr lang="en-US" sz="1600" b="0" dirty="0">
                <a:solidFill>
                  <a:srgbClr val="383A4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sz="1600" b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action</a:t>
            </a:r>
            <a:r>
              <a:rPr lang="en-US" sz="1600" b="0" dirty="0">
                <a:solidFill>
                  <a:srgbClr val="383A4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);</a:t>
            </a:r>
            <a:endParaRPr lang="en-US" sz="1600" b="0" dirty="0">
              <a:solidFill>
                <a:srgbClr val="0F1115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 latinLnBrk="1">
              <a:buNone/>
            </a:pPr>
            <a:r>
              <a:rPr lang="en-US" sz="1600" b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en-US" sz="1600" b="0" dirty="0">
                <a:solidFill>
                  <a:srgbClr val="383A4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}</a:t>
            </a:r>
            <a:endParaRPr lang="en-US" sz="1600" b="0" dirty="0">
              <a:solidFill>
                <a:srgbClr val="0F1115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 latinLnBrk="1">
              <a:buNone/>
            </a:pPr>
            <a:r>
              <a:rPr lang="en-US" sz="1600" b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en-US" sz="1600" b="0" dirty="0">
                <a:solidFill>
                  <a:srgbClr val="A626A4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public</a:t>
            </a:r>
            <a:r>
              <a:rPr lang="en-US" sz="1600" b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b="0" dirty="0">
                <a:solidFill>
                  <a:srgbClr val="A626A4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void</a:t>
            </a:r>
            <a:r>
              <a:rPr lang="en-US" sz="1600" b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b="0" dirty="0" err="1">
                <a:solidFill>
                  <a:srgbClr val="4078F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createUser</a:t>
            </a:r>
            <a:r>
              <a:rPr lang="en-US" sz="1600" b="0" dirty="0">
                <a:solidFill>
                  <a:srgbClr val="383A4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sz="1600" b="0" dirty="0">
                <a:solidFill>
                  <a:srgbClr val="B76B0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String</a:t>
            </a:r>
            <a:r>
              <a:rPr lang="en-US" sz="1600" b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name</a:t>
            </a:r>
            <a:r>
              <a:rPr lang="en-US" sz="1600" b="0" dirty="0">
                <a:solidFill>
                  <a:srgbClr val="383A4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n-US" sz="1600" b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b="0" dirty="0">
                <a:solidFill>
                  <a:srgbClr val="B76B0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String</a:t>
            </a:r>
            <a:r>
              <a:rPr lang="en-US" sz="1600" b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email</a:t>
            </a:r>
            <a:r>
              <a:rPr lang="en-US" sz="1600" b="0" dirty="0">
                <a:solidFill>
                  <a:srgbClr val="383A4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en-US" sz="1600" b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b="0" dirty="0">
                <a:solidFill>
                  <a:srgbClr val="383A4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{</a:t>
            </a:r>
            <a:endParaRPr lang="en-US" sz="1600" b="0" dirty="0">
              <a:solidFill>
                <a:srgbClr val="0F1115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 latinLnBrk="1">
              <a:buNone/>
            </a:pPr>
            <a:r>
              <a:rPr lang="en-US" sz="1600" b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       </a:t>
            </a:r>
            <a:r>
              <a:rPr lang="en-US" sz="1600" b="0" dirty="0" err="1">
                <a:solidFill>
                  <a:srgbClr val="4078F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validateAndLog</a:t>
            </a:r>
            <a:r>
              <a:rPr lang="en-US" sz="1600" b="0" dirty="0">
                <a:solidFill>
                  <a:srgbClr val="383A4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sz="1600" b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email</a:t>
            </a:r>
            <a:r>
              <a:rPr lang="en-US" sz="1600" b="0" dirty="0">
                <a:solidFill>
                  <a:srgbClr val="383A4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n-US" sz="1600" b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b="0" dirty="0">
                <a:solidFill>
                  <a:srgbClr val="50A14F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"User created"</a:t>
            </a:r>
            <a:r>
              <a:rPr lang="en-US" sz="1600" b="0" dirty="0">
                <a:solidFill>
                  <a:srgbClr val="383A4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n-US" sz="1600" b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name</a:t>
            </a:r>
            <a:r>
              <a:rPr lang="en-US" sz="1600" b="0" dirty="0">
                <a:solidFill>
                  <a:srgbClr val="383A4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);</a:t>
            </a:r>
            <a:endParaRPr lang="en-US" sz="1600" b="0" dirty="0">
              <a:solidFill>
                <a:srgbClr val="0F1115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 latinLnBrk="1">
              <a:buNone/>
            </a:pPr>
            <a:r>
              <a:rPr lang="en-US" sz="1600" b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       </a:t>
            </a:r>
            <a:r>
              <a:rPr lang="en-US" sz="1600" b="0" i="1" dirty="0">
                <a:solidFill>
                  <a:srgbClr val="A0A1A7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// </a:t>
            </a:r>
            <a:r>
              <a:rPr lang="ru-RU" sz="1600" b="0" i="1" dirty="0">
                <a:solidFill>
                  <a:srgbClr val="A0A1A7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логика создания</a:t>
            </a:r>
            <a:endParaRPr lang="ru-RU" sz="1600" b="0" dirty="0">
              <a:solidFill>
                <a:srgbClr val="0F1115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 latinLnBrk="1">
              <a:buNone/>
            </a:pPr>
            <a:r>
              <a:rPr lang="ru-RU" sz="1600" b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ru-RU" sz="1600" b="0" dirty="0">
                <a:solidFill>
                  <a:srgbClr val="383A4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}</a:t>
            </a:r>
            <a:endParaRPr lang="ru-RU" sz="1600" b="0" dirty="0">
              <a:solidFill>
                <a:srgbClr val="0F1115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 latinLnBrk="1">
              <a:buNone/>
            </a:pPr>
            <a:r>
              <a:rPr lang="ru-RU" sz="1600" b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en-US" sz="1600" b="0" dirty="0">
                <a:solidFill>
                  <a:srgbClr val="A626A4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public</a:t>
            </a:r>
            <a:r>
              <a:rPr lang="en-US" sz="1600" b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b="0" dirty="0">
                <a:solidFill>
                  <a:srgbClr val="A626A4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void</a:t>
            </a:r>
            <a:r>
              <a:rPr lang="en-US" sz="1600" b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b="0" dirty="0" err="1">
                <a:solidFill>
                  <a:srgbClr val="4078F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updateUser</a:t>
            </a:r>
            <a:r>
              <a:rPr lang="en-US" sz="1600" b="0" dirty="0">
                <a:solidFill>
                  <a:srgbClr val="383A4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sz="1600" b="0" dirty="0">
                <a:solidFill>
                  <a:srgbClr val="B76B0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String</a:t>
            </a:r>
            <a:r>
              <a:rPr lang="en-US" sz="1600" b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name</a:t>
            </a:r>
            <a:r>
              <a:rPr lang="en-US" sz="1600" b="0" dirty="0">
                <a:solidFill>
                  <a:srgbClr val="383A4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n-US" sz="1600" b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b="0" dirty="0">
                <a:solidFill>
                  <a:srgbClr val="B76B0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String</a:t>
            </a:r>
            <a:r>
              <a:rPr lang="en-US" sz="1600" b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email</a:t>
            </a:r>
            <a:r>
              <a:rPr lang="en-US" sz="1600" b="0" dirty="0">
                <a:solidFill>
                  <a:srgbClr val="383A4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en-US" sz="1600" b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b="0" dirty="0">
                <a:solidFill>
                  <a:srgbClr val="383A4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{</a:t>
            </a:r>
            <a:endParaRPr lang="en-US" sz="1600" b="0" dirty="0">
              <a:solidFill>
                <a:srgbClr val="0F1115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 latinLnBrk="1">
              <a:buNone/>
            </a:pPr>
            <a:r>
              <a:rPr lang="en-US" sz="1600" b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       </a:t>
            </a:r>
            <a:r>
              <a:rPr lang="en-US" sz="1600" b="0" dirty="0" err="1">
                <a:solidFill>
                  <a:srgbClr val="4078F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validateAndLog</a:t>
            </a:r>
            <a:r>
              <a:rPr lang="en-US" sz="1600" b="0" dirty="0">
                <a:solidFill>
                  <a:srgbClr val="383A4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sz="1600" b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email</a:t>
            </a:r>
            <a:r>
              <a:rPr lang="en-US" sz="1600" b="0" dirty="0">
                <a:solidFill>
                  <a:srgbClr val="383A4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n-US" sz="1600" b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b="0" dirty="0">
                <a:solidFill>
                  <a:srgbClr val="50A14F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"User updated"</a:t>
            </a:r>
            <a:r>
              <a:rPr lang="en-US" sz="1600" b="0" dirty="0">
                <a:solidFill>
                  <a:srgbClr val="383A4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n-US" sz="1600" b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name</a:t>
            </a:r>
            <a:r>
              <a:rPr lang="en-US" sz="1600" b="0" dirty="0">
                <a:solidFill>
                  <a:srgbClr val="383A4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);</a:t>
            </a:r>
            <a:endParaRPr lang="en-US" sz="1600" b="0" dirty="0">
              <a:solidFill>
                <a:srgbClr val="0F1115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 latinLnBrk="1">
              <a:buNone/>
            </a:pPr>
            <a:r>
              <a:rPr lang="en-US" sz="1600" b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       </a:t>
            </a:r>
            <a:r>
              <a:rPr lang="en-US" sz="1600" b="0" i="1" dirty="0">
                <a:solidFill>
                  <a:srgbClr val="A0A1A7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// </a:t>
            </a:r>
            <a:r>
              <a:rPr lang="ru-RU" sz="1600" b="0" i="1" dirty="0">
                <a:solidFill>
                  <a:srgbClr val="A0A1A7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логика обновления</a:t>
            </a:r>
            <a:endParaRPr lang="ru-RU" sz="1600" b="0" dirty="0">
              <a:solidFill>
                <a:srgbClr val="0F1115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 latinLnBrk="1">
              <a:buNone/>
            </a:pPr>
            <a:r>
              <a:rPr lang="ru-RU" sz="1600" b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ru-RU" sz="1600" b="0" dirty="0">
                <a:solidFill>
                  <a:srgbClr val="383A4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}</a:t>
            </a:r>
            <a:endParaRPr lang="ru-RU" sz="1600" b="0" dirty="0">
              <a:solidFill>
                <a:srgbClr val="0F1115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 latinLnBrk="1">
              <a:buNone/>
            </a:pPr>
            <a:r>
              <a:rPr lang="ru-RU" sz="1600" b="0" dirty="0">
                <a:solidFill>
                  <a:srgbClr val="383A4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}</a:t>
            </a:r>
            <a:endParaRPr lang="ru-RU" sz="1600" dirty="0"/>
          </a:p>
        </p:txBody>
      </p:sp>
    </p:spTree>
    <p:extLst>
      <p:ext uri="{BB962C8B-B14F-4D97-AF65-F5344CB8AC3E}">
        <p14:creationId xmlns:p14="http://schemas.microsoft.com/office/powerpoint/2010/main" val="315113196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A2EA03-7B29-5043-50A0-68761DBEE1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F781465C-5891-373F-EAE2-055C59F51F07}"/>
              </a:ext>
            </a:extLst>
          </p:cNvPr>
          <p:cNvSpPr txBox="1"/>
          <p:nvPr/>
        </p:nvSpPr>
        <p:spPr>
          <a:xfrm>
            <a:off x="0" y="0"/>
            <a:ext cx="12192000" cy="4097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250"/>
              </a:lnSpc>
              <a:spcBef>
                <a:spcPts val="2400"/>
              </a:spcBef>
              <a:spcAft>
                <a:spcPts val="1200"/>
              </a:spcAft>
              <a:buNone/>
            </a:pPr>
            <a:r>
              <a:rPr lang="ru-RU" sz="3200" b="1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Длинные методы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1284D93-F0F7-3F9A-AF61-1F42190D0BF7}"/>
              </a:ext>
            </a:extLst>
          </p:cNvPr>
          <p:cNvSpPr txBox="1"/>
          <p:nvPr/>
        </p:nvSpPr>
        <p:spPr>
          <a:xfrm>
            <a:off x="116785" y="2095120"/>
            <a:ext cx="5979215" cy="25545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latinLnBrk="1">
              <a:buNone/>
            </a:pPr>
            <a:r>
              <a:rPr lang="ru-RU" sz="2000" b="0" i="1" dirty="0">
                <a:solidFill>
                  <a:srgbClr val="A0A1A7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// ПЛОХО: метод на 100 строк</a:t>
            </a:r>
            <a:endParaRPr lang="ru-RU" sz="2000" b="0" dirty="0">
              <a:solidFill>
                <a:srgbClr val="0F1115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 latinLnBrk="1">
              <a:buNone/>
            </a:pPr>
            <a:r>
              <a:rPr lang="ru-RU" sz="2000" b="0" dirty="0" err="1">
                <a:solidFill>
                  <a:srgbClr val="A626A4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public</a:t>
            </a:r>
            <a:r>
              <a:rPr lang="ru-RU" sz="2000" b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000" b="0" dirty="0" err="1">
                <a:solidFill>
                  <a:srgbClr val="A626A4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void</a:t>
            </a:r>
            <a:r>
              <a:rPr lang="ru-RU" sz="2000" b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000" b="0" dirty="0" err="1">
                <a:solidFill>
                  <a:srgbClr val="4078F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processOrder</a:t>
            </a:r>
            <a:r>
              <a:rPr lang="ru-RU" sz="2000" b="0" dirty="0">
                <a:solidFill>
                  <a:srgbClr val="383A4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ru-RU" sz="2000" b="0" dirty="0" err="1">
                <a:solidFill>
                  <a:srgbClr val="B76B0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Order</a:t>
            </a:r>
            <a:r>
              <a:rPr lang="ru-RU" sz="2000" b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000" b="0" dirty="0" err="1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order</a:t>
            </a:r>
            <a:r>
              <a:rPr lang="ru-RU" sz="2000" b="0" dirty="0">
                <a:solidFill>
                  <a:srgbClr val="383A4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ru-RU" sz="2000" b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000" b="0" dirty="0">
                <a:solidFill>
                  <a:srgbClr val="383A4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{</a:t>
            </a:r>
            <a:endParaRPr lang="ru-RU" sz="2000" b="0" dirty="0">
              <a:solidFill>
                <a:srgbClr val="0F1115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 latinLnBrk="1">
              <a:buNone/>
            </a:pPr>
            <a:r>
              <a:rPr lang="ru-RU" sz="2000" b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ru-RU" sz="2000" b="0" i="1" dirty="0">
                <a:solidFill>
                  <a:srgbClr val="A0A1A7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// валидация (20 строк)</a:t>
            </a:r>
            <a:endParaRPr lang="ru-RU" sz="2000" b="0" dirty="0">
              <a:solidFill>
                <a:srgbClr val="0F1115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 latinLnBrk="1">
              <a:buNone/>
            </a:pPr>
            <a:r>
              <a:rPr lang="ru-RU" sz="2000" b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ru-RU" sz="2000" b="0" i="1" dirty="0">
                <a:solidFill>
                  <a:srgbClr val="A0A1A7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// расчет скидок (30 строк)</a:t>
            </a:r>
            <a:endParaRPr lang="ru-RU" sz="2000" b="0" dirty="0">
              <a:solidFill>
                <a:srgbClr val="0F1115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 latinLnBrk="1">
              <a:buNone/>
            </a:pPr>
            <a:r>
              <a:rPr lang="ru-RU" sz="2000" b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ru-RU" sz="2000" b="0" i="1" dirty="0">
                <a:solidFill>
                  <a:srgbClr val="A0A1A7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// расчет налогов (15 строк)</a:t>
            </a:r>
            <a:endParaRPr lang="ru-RU" sz="2000" b="0" dirty="0">
              <a:solidFill>
                <a:srgbClr val="0F1115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 latinLnBrk="1">
              <a:buNone/>
            </a:pPr>
            <a:r>
              <a:rPr lang="ru-RU" sz="2000" b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ru-RU" sz="2000" b="0" i="1" dirty="0">
                <a:solidFill>
                  <a:srgbClr val="A0A1A7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// сохранение в БД (20 строк)</a:t>
            </a:r>
            <a:endParaRPr lang="ru-RU" sz="2000" b="0" dirty="0">
              <a:solidFill>
                <a:srgbClr val="0F1115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 latinLnBrk="1">
              <a:buNone/>
            </a:pPr>
            <a:r>
              <a:rPr lang="ru-RU" sz="2000" b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ru-RU" sz="2000" b="0" i="1" dirty="0">
                <a:solidFill>
                  <a:srgbClr val="A0A1A7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// отправка уведомлений (15 строк)</a:t>
            </a:r>
            <a:endParaRPr lang="ru-RU" sz="2000" b="0" dirty="0">
              <a:solidFill>
                <a:srgbClr val="0F1115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 latinLnBrk="1">
              <a:buNone/>
            </a:pPr>
            <a:r>
              <a:rPr lang="ru-RU" sz="2000" b="0" dirty="0">
                <a:solidFill>
                  <a:srgbClr val="383A4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}</a:t>
            </a:r>
            <a:endParaRPr lang="ru-RU" sz="2000" b="0" dirty="0">
              <a:solidFill>
                <a:srgbClr val="0F1115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627A638-9D13-587C-A7DD-F433965927C3}"/>
              </a:ext>
            </a:extLst>
          </p:cNvPr>
          <p:cNvSpPr txBox="1"/>
          <p:nvPr/>
        </p:nvSpPr>
        <p:spPr>
          <a:xfrm>
            <a:off x="6096000" y="2095120"/>
            <a:ext cx="6096000" cy="25545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latinLnBrk="1">
              <a:buNone/>
            </a:pPr>
            <a:r>
              <a:rPr lang="ru-RU" sz="2000" b="0" i="1" dirty="0">
                <a:solidFill>
                  <a:srgbClr val="A0A1A7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// ХОРОШО: каждый шаг — отдельный метод</a:t>
            </a:r>
            <a:endParaRPr lang="ru-RU" sz="2000" b="0" dirty="0">
              <a:solidFill>
                <a:srgbClr val="0F1115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 latinLnBrk="1">
              <a:buNone/>
            </a:pPr>
            <a:r>
              <a:rPr lang="en-US" sz="2000" b="0" dirty="0">
                <a:solidFill>
                  <a:srgbClr val="A626A4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public</a:t>
            </a:r>
            <a:r>
              <a:rPr lang="en-US" sz="2000" b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b="0" dirty="0">
                <a:solidFill>
                  <a:srgbClr val="A626A4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void</a:t>
            </a:r>
            <a:r>
              <a:rPr lang="en-US" sz="2000" b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b="0" dirty="0" err="1">
                <a:solidFill>
                  <a:srgbClr val="4078F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processOrder</a:t>
            </a:r>
            <a:r>
              <a:rPr lang="en-US" sz="2000" b="0" dirty="0">
                <a:solidFill>
                  <a:srgbClr val="383A4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sz="2000" b="0" dirty="0">
                <a:solidFill>
                  <a:srgbClr val="B76B0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Order</a:t>
            </a:r>
            <a:r>
              <a:rPr lang="en-US" sz="2000" b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order</a:t>
            </a:r>
            <a:r>
              <a:rPr lang="en-US" sz="2000" b="0" dirty="0">
                <a:solidFill>
                  <a:srgbClr val="383A4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en-US" sz="2000" b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b="0" dirty="0">
                <a:solidFill>
                  <a:srgbClr val="383A4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{</a:t>
            </a:r>
            <a:endParaRPr lang="en-US" sz="2000" b="0" dirty="0">
              <a:solidFill>
                <a:srgbClr val="0F1115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 latinLnBrk="1">
              <a:buNone/>
            </a:pPr>
            <a:r>
              <a:rPr lang="en-US" sz="2000" b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en-US" sz="2000" b="0" dirty="0" err="1">
                <a:solidFill>
                  <a:srgbClr val="4078F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validateOrder</a:t>
            </a:r>
            <a:r>
              <a:rPr lang="en-US" sz="2000" b="0" dirty="0">
                <a:solidFill>
                  <a:srgbClr val="383A4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sz="2000" b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order</a:t>
            </a:r>
            <a:r>
              <a:rPr lang="en-US" sz="2000" b="0" dirty="0">
                <a:solidFill>
                  <a:srgbClr val="383A4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);</a:t>
            </a:r>
            <a:endParaRPr lang="en-US" sz="2000" b="0" dirty="0">
              <a:solidFill>
                <a:srgbClr val="0F1115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 latinLnBrk="1">
              <a:buNone/>
            </a:pPr>
            <a:r>
              <a:rPr lang="en-US" sz="2000" b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en-US" sz="2000" b="0" dirty="0" err="1">
                <a:solidFill>
                  <a:srgbClr val="4078F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calculateDiscounts</a:t>
            </a:r>
            <a:r>
              <a:rPr lang="en-US" sz="2000" b="0" dirty="0">
                <a:solidFill>
                  <a:srgbClr val="383A4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sz="2000" b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order</a:t>
            </a:r>
            <a:r>
              <a:rPr lang="en-US" sz="2000" b="0" dirty="0">
                <a:solidFill>
                  <a:srgbClr val="383A4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);</a:t>
            </a:r>
            <a:endParaRPr lang="en-US" sz="2000" b="0" dirty="0">
              <a:solidFill>
                <a:srgbClr val="0F1115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 latinLnBrk="1">
              <a:buNone/>
            </a:pPr>
            <a:r>
              <a:rPr lang="en-US" sz="2000" b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en-US" sz="2000" b="0" dirty="0" err="1">
                <a:solidFill>
                  <a:srgbClr val="4078F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calculateTaxes</a:t>
            </a:r>
            <a:r>
              <a:rPr lang="en-US" sz="2000" b="0" dirty="0">
                <a:solidFill>
                  <a:srgbClr val="383A4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sz="2000" b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order</a:t>
            </a:r>
            <a:r>
              <a:rPr lang="en-US" sz="2000" b="0" dirty="0">
                <a:solidFill>
                  <a:srgbClr val="383A4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);</a:t>
            </a:r>
            <a:endParaRPr lang="en-US" sz="2000" b="0" dirty="0">
              <a:solidFill>
                <a:srgbClr val="0F1115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 latinLnBrk="1">
              <a:buNone/>
            </a:pPr>
            <a:r>
              <a:rPr lang="en-US" sz="2000" b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en-US" sz="2000" b="0" dirty="0" err="1">
                <a:solidFill>
                  <a:srgbClr val="4078F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saveToDatabase</a:t>
            </a:r>
            <a:r>
              <a:rPr lang="en-US" sz="2000" b="0" dirty="0">
                <a:solidFill>
                  <a:srgbClr val="383A4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sz="2000" b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order</a:t>
            </a:r>
            <a:r>
              <a:rPr lang="en-US" sz="2000" b="0" dirty="0">
                <a:solidFill>
                  <a:srgbClr val="383A4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);</a:t>
            </a:r>
            <a:endParaRPr lang="en-US" sz="2000" b="0" dirty="0">
              <a:solidFill>
                <a:srgbClr val="0F1115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 latinLnBrk="1">
              <a:buNone/>
            </a:pPr>
            <a:r>
              <a:rPr lang="en-US" sz="2000" b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en-US" sz="2000" b="0" dirty="0" err="1">
                <a:solidFill>
                  <a:srgbClr val="4078F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sendNotifications</a:t>
            </a:r>
            <a:r>
              <a:rPr lang="en-US" sz="2000" b="0" dirty="0">
                <a:solidFill>
                  <a:srgbClr val="383A4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sz="2000" b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order</a:t>
            </a:r>
            <a:r>
              <a:rPr lang="en-US" sz="2000" b="0" dirty="0">
                <a:solidFill>
                  <a:srgbClr val="383A4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);</a:t>
            </a:r>
            <a:endParaRPr lang="en-US" sz="2000" b="0" dirty="0">
              <a:solidFill>
                <a:srgbClr val="0F1115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 latinLnBrk="1">
              <a:buNone/>
            </a:pPr>
            <a:r>
              <a:rPr lang="en-US" sz="2000" b="0" dirty="0">
                <a:solidFill>
                  <a:srgbClr val="383A4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}</a:t>
            </a:r>
            <a:endParaRPr lang="en-US" sz="2000" b="0" dirty="0">
              <a:solidFill>
                <a:srgbClr val="0F1115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0979548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FF1CE95-EA7C-309B-64A4-33683A91F2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6E4CB9FA-8413-EF2A-9324-8C5BFFFC77E6}"/>
              </a:ext>
            </a:extLst>
          </p:cNvPr>
          <p:cNvSpPr txBox="1"/>
          <p:nvPr/>
        </p:nvSpPr>
        <p:spPr>
          <a:xfrm>
            <a:off x="0" y="0"/>
            <a:ext cx="12192000" cy="4097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250"/>
              </a:lnSpc>
              <a:spcBef>
                <a:spcPts val="2400"/>
              </a:spcBef>
              <a:spcAft>
                <a:spcPts val="1200"/>
              </a:spcAft>
              <a:buNone/>
            </a:pPr>
            <a:r>
              <a:rPr lang="ru-RU" sz="3200" b="1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Большие классы (</a:t>
            </a:r>
            <a:r>
              <a:rPr lang="en-US" sz="3200" b="1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God Object)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A99D147-7BC6-0341-07BB-0E3AF3E71380}"/>
              </a:ext>
            </a:extLst>
          </p:cNvPr>
          <p:cNvSpPr txBox="1"/>
          <p:nvPr/>
        </p:nvSpPr>
        <p:spPr>
          <a:xfrm>
            <a:off x="0" y="2146177"/>
            <a:ext cx="6096000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latinLnBrk="1">
              <a:buNone/>
            </a:pPr>
            <a:r>
              <a:rPr lang="ru-RU" sz="2000" b="0" i="1" dirty="0">
                <a:solidFill>
                  <a:srgbClr val="A0A1A7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// ПЛОХО: класс делает всё</a:t>
            </a:r>
            <a:endParaRPr lang="ru-RU" sz="2000" b="0" dirty="0">
              <a:solidFill>
                <a:srgbClr val="0F1115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 latinLnBrk="1">
              <a:buNone/>
            </a:pPr>
            <a:r>
              <a:rPr lang="en-US" sz="2000" b="0" dirty="0">
                <a:solidFill>
                  <a:srgbClr val="A626A4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class</a:t>
            </a:r>
            <a:r>
              <a:rPr lang="en-US" sz="2000" b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b="0" dirty="0">
                <a:solidFill>
                  <a:srgbClr val="B76B0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Application</a:t>
            </a:r>
            <a:r>
              <a:rPr lang="en-US" sz="2000" b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b="0" dirty="0">
                <a:solidFill>
                  <a:srgbClr val="383A4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{</a:t>
            </a:r>
            <a:endParaRPr lang="en-US" sz="2000" b="0" dirty="0">
              <a:solidFill>
                <a:srgbClr val="0F1115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 latinLnBrk="1">
              <a:buNone/>
            </a:pPr>
            <a:r>
              <a:rPr lang="en-US" sz="2000" b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en-US" sz="2000" b="0" dirty="0">
                <a:solidFill>
                  <a:srgbClr val="A626A4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public</a:t>
            </a:r>
            <a:r>
              <a:rPr lang="en-US" sz="2000" b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b="0" dirty="0">
                <a:solidFill>
                  <a:srgbClr val="A626A4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void</a:t>
            </a:r>
            <a:r>
              <a:rPr lang="en-US" sz="2000" b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b="0" dirty="0" err="1">
                <a:solidFill>
                  <a:srgbClr val="4078F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processUser</a:t>
            </a:r>
            <a:r>
              <a:rPr lang="en-US" sz="2000" b="0" dirty="0">
                <a:solidFill>
                  <a:srgbClr val="383A4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()</a:t>
            </a:r>
            <a:r>
              <a:rPr lang="en-US" sz="2000" b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b="0" dirty="0">
                <a:solidFill>
                  <a:srgbClr val="383A4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{</a:t>
            </a:r>
            <a:r>
              <a:rPr lang="en-US" sz="2000" b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b="0" i="1" dirty="0">
                <a:solidFill>
                  <a:srgbClr val="A0A1A7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/* 500 </a:t>
            </a:r>
            <a:r>
              <a:rPr lang="ru-RU" sz="2000" b="0" i="1" dirty="0">
                <a:solidFill>
                  <a:srgbClr val="A0A1A7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строк */</a:t>
            </a:r>
            <a:r>
              <a:rPr lang="ru-RU" sz="2000" b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000" b="0" dirty="0">
                <a:solidFill>
                  <a:srgbClr val="383A4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}</a:t>
            </a:r>
            <a:endParaRPr lang="ru-RU" sz="2000" b="0" dirty="0">
              <a:solidFill>
                <a:srgbClr val="0F1115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 latinLnBrk="1">
              <a:buNone/>
            </a:pPr>
            <a:r>
              <a:rPr lang="ru-RU" sz="2000" b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en-US" sz="2000" b="0" dirty="0">
                <a:solidFill>
                  <a:srgbClr val="A626A4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public</a:t>
            </a:r>
            <a:r>
              <a:rPr lang="en-US" sz="2000" b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b="0" dirty="0">
                <a:solidFill>
                  <a:srgbClr val="A626A4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void</a:t>
            </a:r>
            <a:r>
              <a:rPr lang="en-US" sz="2000" b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b="0" dirty="0" err="1">
                <a:solidFill>
                  <a:srgbClr val="4078F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processOrder</a:t>
            </a:r>
            <a:r>
              <a:rPr lang="en-US" sz="2000" b="0" dirty="0">
                <a:solidFill>
                  <a:srgbClr val="383A4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()</a:t>
            </a:r>
            <a:r>
              <a:rPr lang="en-US" sz="2000" b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b="0" dirty="0">
                <a:solidFill>
                  <a:srgbClr val="383A4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{</a:t>
            </a:r>
            <a:r>
              <a:rPr lang="en-US" sz="2000" b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b="0" i="1" dirty="0">
                <a:solidFill>
                  <a:srgbClr val="A0A1A7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/* 500 </a:t>
            </a:r>
            <a:r>
              <a:rPr lang="ru-RU" sz="2000" b="0" i="1" dirty="0">
                <a:solidFill>
                  <a:srgbClr val="A0A1A7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строк */</a:t>
            </a:r>
            <a:r>
              <a:rPr lang="ru-RU" sz="2000" b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000" b="0" dirty="0">
                <a:solidFill>
                  <a:srgbClr val="383A4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}</a:t>
            </a:r>
            <a:endParaRPr lang="ru-RU" sz="2000" b="0" dirty="0">
              <a:solidFill>
                <a:srgbClr val="0F1115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 latinLnBrk="1">
              <a:buNone/>
            </a:pPr>
            <a:r>
              <a:rPr lang="ru-RU" sz="2000" b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en-US" sz="2000" b="0" dirty="0">
                <a:solidFill>
                  <a:srgbClr val="A626A4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public</a:t>
            </a:r>
            <a:r>
              <a:rPr lang="en-US" sz="2000" b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b="0" dirty="0">
                <a:solidFill>
                  <a:srgbClr val="A626A4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void</a:t>
            </a:r>
            <a:r>
              <a:rPr lang="en-US" sz="2000" b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b="0" dirty="0" err="1">
                <a:solidFill>
                  <a:srgbClr val="4078F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processPayment</a:t>
            </a:r>
            <a:r>
              <a:rPr lang="en-US" sz="2000" b="0" dirty="0">
                <a:solidFill>
                  <a:srgbClr val="383A4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()</a:t>
            </a:r>
            <a:r>
              <a:rPr lang="en-US" sz="2000" b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b="0" dirty="0">
                <a:solidFill>
                  <a:srgbClr val="383A4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{</a:t>
            </a:r>
            <a:r>
              <a:rPr lang="en-US" sz="2000" b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b="0" i="1" dirty="0">
                <a:solidFill>
                  <a:srgbClr val="A0A1A7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/* 500 </a:t>
            </a:r>
            <a:r>
              <a:rPr lang="ru-RU" sz="2000" b="0" i="1" dirty="0">
                <a:solidFill>
                  <a:srgbClr val="A0A1A7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строк */</a:t>
            </a:r>
            <a:r>
              <a:rPr lang="ru-RU" sz="2000" b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000" b="0" dirty="0">
                <a:solidFill>
                  <a:srgbClr val="383A4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}</a:t>
            </a:r>
            <a:endParaRPr lang="ru-RU" sz="2000" b="0" dirty="0">
              <a:solidFill>
                <a:srgbClr val="0F1115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 latinLnBrk="1">
              <a:buNone/>
            </a:pPr>
            <a:r>
              <a:rPr lang="ru-RU" sz="2000" b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en-US" sz="2000" b="0" dirty="0">
                <a:solidFill>
                  <a:srgbClr val="A626A4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public</a:t>
            </a:r>
            <a:r>
              <a:rPr lang="en-US" sz="2000" b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b="0" dirty="0">
                <a:solidFill>
                  <a:srgbClr val="A626A4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void</a:t>
            </a:r>
            <a:r>
              <a:rPr lang="en-US" sz="2000" b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b="0" dirty="0" err="1">
                <a:solidFill>
                  <a:srgbClr val="4078F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sendEmail</a:t>
            </a:r>
            <a:r>
              <a:rPr lang="en-US" sz="2000" b="0" dirty="0">
                <a:solidFill>
                  <a:srgbClr val="383A4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()</a:t>
            </a:r>
            <a:r>
              <a:rPr lang="en-US" sz="2000" b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b="0" dirty="0">
                <a:solidFill>
                  <a:srgbClr val="383A4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{</a:t>
            </a:r>
            <a:r>
              <a:rPr lang="en-US" sz="2000" b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b="0" i="1" dirty="0">
                <a:solidFill>
                  <a:srgbClr val="A0A1A7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/* 500 </a:t>
            </a:r>
            <a:r>
              <a:rPr lang="ru-RU" sz="2000" b="0" i="1" dirty="0">
                <a:solidFill>
                  <a:srgbClr val="A0A1A7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строк */</a:t>
            </a:r>
            <a:r>
              <a:rPr lang="ru-RU" sz="2000" b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000" b="0" dirty="0">
                <a:solidFill>
                  <a:srgbClr val="383A4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}</a:t>
            </a:r>
            <a:endParaRPr lang="ru-RU" sz="2000" b="0" dirty="0">
              <a:solidFill>
                <a:srgbClr val="0F1115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 latinLnBrk="1">
              <a:buNone/>
            </a:pPr>
            <a:r>
              <a:rPr lang="ru-RU" sz="2000" b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en-US" sz="2000" b="0" dirty="0">
                <a:solidFill>
                  <a:srgbClr val="A626A4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public</a:t>
            </a:r>
            <a:r>
              <a:rPr lang="en-US" sz="2000" b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b="0" dirty="0">
                <a:solidFill>
                  <a:srgbClr val="A626A4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void</a:t>
            </a:r>
            <a:r>
              <a:rPr lang="en-US" sz="2000" b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b="0" dirty="0" err="1">
                <a:solidFill>
                  <a:srgbClr val="4078F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generateReport</a:t>
            </a:r>
            <a:r>
              <a:rPr lang="en-US" sz="2000" b="0" dirty="0">
                <a:solidFill>
                  <a:srgbClr val="383A4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()</a:t>
            </a:r>
            <a:r>
              <a:rPr lang="en-US" sz="2000" b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b="0" dirty="0">
                <a:solidFill>
                  <a:srgbClr val="383A4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{</a:t>
            </a:r>
            <a:r>
              <a:rPr lang="en-US" sz="2000" b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b="0" i="1" dirty="0">
                <a:solidFill>
                  <a:srgbClr val="A0A1A7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/* 500 </a:t>
            </a:r>
            <a:r>
              <a:rPr lang="ru-RU" sz="2000" b="0" i="1" dirty="0">
                <a:solidFill>
                  <a:srgbClr val="A0A1A7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строк */</a:t>
            </a:r>
            <a:r>
              <a:rPr lang="ru-RU" sz="2000" b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000" b="0" dirty="0">
                <a:solidFill>
                  <a:srgbClr val="383A4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}</a:t>
            </a:r>
            <a:endParaRPr lang="ru-RU" sz="2000" b="0" dirty="0">
              <a:solidFill>
                <a:srgbClr val="0F1115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 latinLnBrk="1">
              <a:buNone/>
            </a:pPr>
            <a:r>
              <a:rPr lang="ru-RU" sz="2000" b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ru-RU" sz="2000" b="0" i="1" dirty="0">
                <a:solidFill>
                  <a:srgbClr val="A0A1A7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// еще 20 методов...</a:t>
            </a:r>
            <a:endParaRPr lang="ru-RU" sz="2000" b="0" dirty="0">
              <a:solidFill>
                <a:srgbClr val="0F1115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 latinLnBrk="1">
              <a:buNone/>
            </a:pPr>
            <a:r>
              <a:rPr lang="ru-RU" sz="2000" b="0" dirty="0">
                <a:solidFill>
                  <a:srgbClr val="383A4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}</a:t>
            </a:r>
            <a:endParaRPr lang="ru-RU" sz="2000" b="0" dirty="0">
              <a:solidFill>
                <a:srgbClr val="0F1115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1204F41-A8BB-300F-A1BF-A0D436371492}"/>
              </a:ext>
            </a:extLst>
          </p:cNvPr>
          <p:cNvSpPr txBox="1"/>
          <p:nvPr/>
        </p:nvSpPr>
        <p:spPr>
          <a:xfrm>
            <a:off x="6096000" y="2394656"/>
            <a:ext cx="6096000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latinLnBrk="1">
              <a:buNone/>
            </a:pPr>
            <a:r>
              <a:rPr lang="ru-RU" sz="2000" b="0" i="1" dirty="0">
                <a:solidFill>
                  <a:srgbClr val="A0A1A7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// ХОРОШО: разделили по ответственности</a:t>
            </a:r>
            <a:endParaRPr lang="ru-RU" sz="2000" b="0" dirty="0">
              <a:solidFill>
                <a:srgbClr val="0F1115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 latinLnBrk="1">
              <a:buNone/>
            </a:pPr>
            <a:r>
              <a:rPr lang="en-US" sz="2000" b="0" dirty="0">
                <a:solidFill>
                  <a:srgbClr val="A626A4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class</a:t>
            </a:r>
            <a:r>
              <a:rPr lang="en-US" sz="2000" b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b="0" dirty="0" err="1">
                <a:solidFill>
                  <a:srgbClr val="B76B0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UserService</a:t>
            </a:r>
            <a:r>
              <a:rPr lang="en-US" sz="2000" b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b="0" dirty="0">
                <a:solidFill>
                  <a:srgbClr val="383A4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{</a:t>
            </a:r>
            <a:r>
              <a:rPr lang="en-US" sz="2000" b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b="0" dirty="0">
                <a:solidFill>
                  <a:srgbClr val="383A4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...</a:t>
            </a:r>
            <a:r>
              <a:rPr lang="en-US" sz="2000" b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b="0" dirty="0">
                <a:solidFill>
                  <a:srgbClr val="383A4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}</a:t>
            </a:r>
            <a:endParaRPr lang="en-US" sz="2000" b="0" dirty="0">
              <a:solidFill>
                <a:srgbClr val="0F1115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 latinLnBrk="1">
              <a:buNone/>
            </a:pPr>
            <a:r>
              <a:rPr lang="en-US" sz="2000" b="0" dirty="0">
                <a:solidFill>
                  <a:srgbClr val="A626A4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class</a:t>
            </a:r>
            <a:r>
              <a:rPr lang="en-US" sz="2000" b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b="0" dirty="0" err="1">
                <a:solidFill>
                  <a:srgbClr val="B76B0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OrderService</a:t>
            </a:r>
            <a:r>
              <a:rPr lang="en-US" sz="2000" b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b="0" dirty="0">
                <a:solidFill>
                  <a:srgbClr val="383A4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{</a:t>
            </a:r>
            <a:r>
              <a:rPr lang="en-US" sz="2000" b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b="0" dirty="0">
                <a:solidFill>
                  <a:srgbClr val="383A4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...</a:t>
            </a:r>
            <a:r>
              <a:rPr lang="en-US" sz="2000" b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b="0" dirty="0">
                <a:solidFill>
                  <a:srgbClr val="383A4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}</a:t>
            </a:r>
            <a:endParaRPr lang="en-US" sz="2000" b="0" dirty="0">
              <a:solidFill>
                <a:srgbClr val="0F1115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 latinLnBrk="1">
              <a:buNone/>
            </a:pPr>
            <a:r>
              <a:rPr lang="en-US" sz="2000" b="0" dirty="0">
                <a:solidFill>
                  <a:srgbClr val="A626A4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class</a:t>
            </a:r>
            <a:r>
              <a:rPr lang="en-US" sz="2000" b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b="0" dirty="0" err="1">
                <a:solidFill>
                  <a:srgbClr val="B76B0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PaymentService</a:t>
            </a:r>
            <a:r>
              <a:rPr lang="en-US" sz="2000" b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b="0" dirty="0">
                <a:solidFill>
                  <a:srgbClr val="383A4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{</a:t>
            </a:r>
            <a:r>
              <a:rPr lang="en-US" sz="2000" b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b="0" dirty="0">
                <a:solidFill>
                  <a:srgbClr val="383A4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...</a:t>
            </a:r>
            <a:r>
              <a:rPr lang="en-US" sz="2000" b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b="0" dirty="0">
                <a:solidFill>
                  <a:srgbClr val="383A4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}</a:t>
            </a:r>
            <a:endParaRPr lang="en-US" sz="2000" b="0" dirty="0">
              <a:solidFill>
                <a:srgbClr val="0F1115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 latinLnBrk="1">
              <a:buNone/>
            </a:pPr>
            <a:r>
              <a:rPr lang="en-US" sz="2000" b="0" dirty="0">
                <a:solidFill>
                  <a:srgbClr val="A626A4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class</a:t>
            </a:r>
            <a:r>
              <a:rPr lang="en-US" sz="2000" b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b="0" dirty="0" err="1">
                <a:solidFill>
                  <a:srgbClr val="B76B0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NotificationService</a:t>
            </a:r>
            <a:r>
              <a:rPr lang="en-US" sz="2000" b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b="0" dirty="0">
                <a:solidFill>
                  <a:srgbClr val="383A4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{</a:t>
            </a:r>
            <a:r>
              <a:rPr lang="en-US" sz="2000" b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b="0" dirty="0">
                <a:solidFill>
                  <a:srgbClr val="383A4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...</a:t>
            </a:r>
            <a:r>
              <a:rPr lang="en-US" sz="2000" b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b="0" dirty="0">
                <a:solidFill>
                  <a:srgbClr val="383A4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}</a:t>
            </a:r>
            <a:endParaRPr lang="en-US" sz="2000" b="0" dirty="0">
              <a:solidFill>
                <a:srgbClr val="0F1115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 latinLnBrk="1">
              <a:buNone/>
            </a:pPr>
            <a:r>
              <a:rPr lang="en-US" sz="2000" b="0" dirty="0">
                <a:solidFill>
                  <a:srgbClr val="A626A4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class</a:t>
            </a:r>
            <a:r>
              <a:rPr lang="en-US" sz="2000" b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b="0" dirty="0" err="1">
                <a:solidFill>
                  <a:srgbClr val="B76B0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ReportService</a:t>
            </a:r>
            <a:r>
              <a:rPr lang="en-US" sz="2000" b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b="0" dirty="0">
                <a:solidFill>
                  <a:srgbClr val="383A4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{</a:t>
            </a:r>
            <a:r>
              <a:rPr lang="en-US" sz="2000" b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b="0" dirty="0">
                <a:solidFill>
                  <a:srgbClr val="383A4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...</a:t>
            </a:r>
            <a:r>
              <a:rPr lang="en-US" sz="2000" b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b="0" dirty="0">
                <a:solidFill>
                  <a:srgbClr val="383A4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}</a:t>
            </a:r>
            <a:endParaRPr lang="en-US" sz="2000" b="0" dirty="0">
              <a:solidFill>
                <a:srgbClr val="0F1115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10879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4B54AF-EAFC-0F16-C6EF-5D5C6843BE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8986C47B-C16A-34B2-8A1E-3E7BA622DC58}"/>
              </a:ext>
            </a:extLst>
          </p:cNvPr>
          <p:cNvSpPr txBox="1"/>
          <p:nvPr/>
        </p:nvSpPr>
        <p:spPr>
          <a:xfrm>
            <a:off x="0" y="0"/>
            <a:ext cx="12192000" cy="4097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250"/>
              </a:lnSpc>
              <a:spcBef>
                <a:spcPts val="2400"/>
              </a:spcBef>
              <a:spcAft>
                <a:spcPts val="1200"/>
              </a:spcAft>
              <a:buNone/>
            </a:pPr>
            <a:r>
              <a:rPr lang="ru-RU" sz="3200" b="1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Завистливые функции (</a:t>
            </a:r>
            <a:r>
              <a:rPr lang="en-US" sz="3200" b="1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Feature Envy)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891927B-D7CA-E289-39FC-FD1B46AC8CCC}"/>
              </a:ext>
            </a:extLst>
          </p:cNvPr>
          <p:cNvSpPr txBox="1"/>
          <p:nvPr/>
        </p:nvSpPr>
        <p:spPr>
          <a:xfrm>
            <a:off x="0" y="786090"/>
            <a:ext cx="6096000" cy="56323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latinLnBrk="1">
              <a:buNone/>
            </a:pPr>
            <a:r>
              <a:rPr lang="ru-RU" sz="2000" b="0" i="1" dirty="0">
                <a:solidFill>
                  <a:srgbClr val="A0A1A7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// ПЛОХО: метод в классе </a:t>
            </a:r>
            <a:r>
              <a:rPr lang="en-US" sz="2000" b="0" i="1" dirty="0">
                <a:solidFill>
                  <a:srgbClr val="A0A1A7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 </a:t>
            </a:r>
            <a:r>
              <a:rPr lang="ru-RU" sz="2000" b="0" i="1" dirty="0">
                <a:solidFill>
                  <a:srgbClr val="A0A1A7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слишком много работает с данными класса </a:t>
            </a:r>
            <a:r>
              <a:rPr lang="en-US" sz="2000" b="0" i="1" dirty="0">
                <a:solidFill>
                  <a:srgbClr val="A0A1A7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endParaRPr lang="en-US" sz="2000" b="0" dirty="0">
              <a:solidFill>
                <a:srgbClr val="0F1115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 latinLnBrk="1">
              <a:buNone/>
            </a:pPr>
            <a:r>
              <a:rPr lang="en-US" sz="2000" b="0" dirty="0">
                <a:solidFill>
                  <a:srgbClr val="A626A4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class</a:t>
            </a:r>
            <a:r>
              <a:rPr lang="en-US" sz="2000" b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b="0" dirty="0">
                <a:solidFill>
                  <a:srgbClr val="B76B0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Order</a:t>
            </a:r>
            <a:r>
              <a:rPr lang="en-US" sz="2000" b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b="0" dirty="0">
                <a:solidFill>
                  <a:srgbClr val="383A4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{</a:t>
            </a:r>
            <a:endParaRPr lang="en-US" sz="2000" b="0" dirty="0">
              <a:solidFill>
                <a:srgbClr val="0F1115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 latinLnBrk="1">
              <a:buNone/>
            </a:pPr>
            <a:r>
              <a:rPr lang="en-US" sz="2000" b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en-US" sz="2000" b="0" dirty="0">
                <a:solidFill>
                  <a:srgbClr val="A626A4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private</a:t>
            </a:r>
            <a:r>
              <a:rPr lang="en-US" sz="2000" b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b="0" dirty="0">
                <a:solidFill>
                  <a:srgbClr val="A626A4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double</a:t>
            </a:r>
            <a:r>
              <a:rPr lang="en-US" sz="2000" b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amount</a:t>
            </a:r>
            <a:r>
              <a:rPr lang="en-US" sz="2000" b="0" dirty="0">
                <a:solidFill>
                  <a:srgbClr val="383A4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  <a:endParaRPr lang="en-US" sz="2000" b="0" dirty="0">
              <a:solidFill>
                <a:srgbClr val="0F1115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 latinLnBrk="1">
              <a:buNone/>
            </a:pPr>
            <a:r>
              <a:rPr lang="en-US" sz="2000" b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en-US" sz="2000" b="0" dirty="0">
                <a:solidFill>
                  <a:srgbClr val="A626A4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private</a:t>
            </a:r>
            <a:r>
              <a:rPr lang="en-US" sz="2000" b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b="0" dirty="0">
                <a:solidFill>
                  <a:srgbClr val="B76B0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Customer</a:t>
            </a:r>
            <a:r>
              <a:rPr lang="en-US" sz="2000" b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b="0" dirty="0" err="1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customer</a:t>
            </a:r>
            <a:r>
              <a:rPr lang="en-US" sz="2000" b="0" dirty="0">
                <a:solidFill>
                  <a:srgbClr val="383A4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  <a:endParaRPr lang="en-US" sz="2000" b="0" dirty="0">
              <a:solidFill>
                <a:srgbClr val="0F1115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 latinLnBrk="1">
              <a:buNone/>
            </a:pPr>
            <a:r>
              <a:rPr lang="en-US" sz="2000" b="0" dirty="0">
                <a:solidFill>
                  <a:srgbClr val="383A4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}</a:t>
            </a:r>
            <a:endParaRPr lang="en-US" sz="2000" b="0" dirty="0">
              <a:solidFill>
                <a:srgbClr val="0F1115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 latinLnBrk="1">
              <a:buNone/>
            </a:pPr>
            <a:endParaRPr lang="en-US" sz="2000" b="0" dirty="0">
              <a:solidFill>
                <a:srgbClr val="0F1115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 latinLnBrk="1">
              <a:buNone/>
            </a:pPr>
            <a:r>
              <a:rPr lang="en-US" sz="2000" b="0" dirty="0">
                <a:solidFill>
                  <a:srgbClr val="A626A4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class</a:t>
            </a:r>
            <a:r>
              <a:rPr lang="en-US" sz="2000" b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b="0" dirty="0" err="1">
                <a:solidFill>
                  <a:srgbClr val="B76B0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DiscountCalculator</a:t>
            </a:r>
            <a:r>
              <a:rPr lang="en-US" sz="2000" b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b="0" dirty="0">
                <a:solidFill>
                  <a:srgbClr val="383A4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{</a:t>
            </a:r>
            <a:endParaRPr lang="en-US" sz="2000" b="0" dirty="0">
              <a:solidFill>
                <a:srgbClr val="0F1115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 latinLnBrk="1">
              <a:buNone/>
            </a:pPr>
            <a:r>
              <a:rPr lang="en-US" sz="2000" b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en-US" sz="2000" b="0" dirty="0">
                <a:solidFill>
                  <a:srgbClr val="A626A4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public</a:t>
            </a:r>
            <a:r>
              <a:rPr lang="en-US" sz="2000" b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b="0" dirty="0">
                <a:solidFill>
                  <a:srgbClr val="A626A4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double</a:t>
            </a:r>
            <a:r>
              <a:rPr lang="en-US" sz="2000" b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b="0" dirty="0" err="1">
                <a:solidFill>
                  <a:srgbClr val="4078F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calculateDiscount</a:t>
            </a:r>
            <a:r>
              <a:rPr lang="en-US" sz="2000" b="0" dirty="0">
                <a:solidFill>
                  <a:srgbClr val="383A4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sz="2000" b="0" dirty="0">
                <a:solidFill>
                  <a:srgbClr val="B76B0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Order</a:t>
            </a:r>
            <a:r>
              <a:rPr lang="en-US" sz="2000" b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order</a:t>
            </a:r>
            <a:r>
              <a:rPr lang="en-US" sz="2000" b="0" dirty="0">
                <a:solidFill>
                  <a:srgbClr val="383A4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en-US" sz="2000" b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b="0" dirty="0">
                <a:solidFill>
                  <a:srgbClr val="383A4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{</a:t>
            </a:r>
            <a:endParaRPr lang="en-US" sz="2000" b="0" dirty="0">
              <a:solidFill>
                <a:srgbClr val="0F1115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 latinLnBrk="1">
              <a:buNone/>
            </a:pPr>
            <a:r>
              <a:rPr lang="en-US" sz="2000" b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       </a:t>
            </a:r>
            <a:r>
              <a:rPr lang="en-US" sz="2000" b="0" i="1" dirty="0">
                <a:solidFill>
                  <a:srgbClr val="A0A1A7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// </a:t>
            </a:r>
            <a:r>
              <a:rPr lang="ru-RU" sz="2000" b="0" i="1" dirty="0">
                <a:solidFill>
                  <a:srgbClr val="A0A1A7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метод постоянно лезет в данные </a:t>
            </a:r>
            <a:r>
              <a:rPr lang="en-US" sz="2000" b="0" i="1" dirty="0">
                <a:solidFill>
                  <a:srgbClr val="A0A1A7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Order </a:t>
            </a:r>
            <a:r>
              <a:rPr lang="ru-RU" sz="2000" b="0" i="1" dirty="0">
                <a:solidFill>
                  <a:srgbClr val="A0A1A7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и </a:t>
            </a:r>
            <a:r>
              <a:rPr lang="en-US" sz="2000" b="0" i="1" dirty="0">
                <a:solidFill>
                  <a:srgbClr val="A0A1A7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Customer</a:t>
            </a:r>
            <a:endParaRPr lang="en-US" sz="2000" b="0" dirty="0">
              <a:solidFill>
                <a:srgbClr val="0F1115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 latinLnBrk="1">
              <a:buNone/>
            </a:pPr>
            <a:r>
              <a:rPr lang="en-US" sz="2000" b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       </a:t>
            </a:r>
            <a:r>
              <a:rPr lang="en-US" sz="2000" b="0" dirty="0">
                <a:solidFill>
                  <a:srgbClr val="A626A4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if</a:t>
            </a:r>
            <a:r>
              <a:rPr lang="en-US" sz="2000" b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b="0" dirty="0">
                <a:solidFill>
                  <a:srgbClr val="383A4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sz="2000" b="0" dirty="0" err="1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order</a:t>
            </a:r>
            <a:r>
              <a:rPr lang="en-US" sz="2000" b="0" dirty="0" err="1">
                <a:solidFill>
                  <a:srgbClr val="383A4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en-US" sz="2000" b="0" dirty="0" err="1">
                <a:solidFill>
                  <a:srgbClr val="4078F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getCustomer</a:t>
            </a:r>
            <a:r>
              <a:rPr lang="en-US" sz="2000" b="0" dirty="0">
                <a:solidFill>
                  <a:srgbClr val="383A4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().</a:t>
            </a:r>
            <a:r>
              <a:rPr lang="en-US" sz="2000" b="0" dirty="0" err="1">
                <a:solidFill>
                  <a:srgbClr val="4078F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isVIP</a:t>
            </a:r>
            <a:r>
              <a:rPr lang="en-US" sz="2000" b="0" dirty="0">
                <a:solidFill>
                  <a:srgbClr val="383A4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()</a:t>
            </a:r>
            <a:r>
              <a:rPr lang="en-US" sz="2000" b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b="0" dirty="0">
                <a:solidFill>
                  <a:srgbClr val="4078F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&amp;&amp;</a:t>
            </a:r>
            <a:r>
              <a:rPr lang="en-US" sz="2000" b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b="0" dirty="0" err="1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order</a:t>
            </a:r>
            <a:r>
              <a:rPr lang="en-US" sz="2000" b="0" dirty="0" err="1">
                <a:solidFill>
                  <a:srgbClr val="383A4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en-US" sz="2000" b="0" dirty="0" err="1">
                <a:solidFill>
                  <a:srgbClr val="4078F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getAmount</a:t>
            </a:r>
            <a:r>
              <a:rPr lang="en-US" sz="2000" b="0" dirty="0">
                <a:solidFill>
                  <a:srgbClr val="383A4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()</a:t>
            </a:r>
            <a:r>
              <a:rPr lang="en-US" sz="2000" b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b="0" dirty="0">
                <a:solidFill>
                  <a:srgbClr val="4078F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&gt;</a:t>
            </a:r>
            <a:r>
              <a:rPr lang="en-US" sz="2000" b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b="0" dirty="0">
                <a:solidFill>
                  <a:srgbClr val="B76B0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1000</a:t>
            </a:r>
            <a:r>
              <a:rPr lang="en-US" sz="2000" b="0" dirty="0">
                <a:solidFill>
                  <a:srgbClr val="383A4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en-US" sz="2000" b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b="0" dirty="0">
                <a:solidFill>
                  <a:srgbClr val="383A4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{</a:t>
            </a:r>
            <a:endParaRPr lang="en-US" sz="2000" b="0" dirty="0">
              <a:solidFill>
                <a:srgbClr val="0F1115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 latinLnBrk="1">
              <a:buNone/>
            </a:pPr>
            <a:r>
              <a:rPr lang="en-US" sz="2000" b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           </a:t>
            </a:r>
            <a:r>
              <a:rPr lang="en-US" sz="2000" b="0" dirty="0">
                <a:solidFill>
                  <a:srgbClr val="A626A4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return</a:t>
            </a:r>
            <a:r>
              <a:rPr lang="en-US" sz="2000" b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b="0" dirty="0" err="1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order</a:t>
            </a:r>
            <a:r>
              <a:rPr lang="en-US" sz="2000" b="0" dirty="0" err="1">
                <a:solidFill>
                  <a:srgbClr val="383A4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en-US" sz="2000" b="0" dirty="0" err="1">
                <a:solidFill>
                  <a:srgbClr val="4078F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getAmount</a:t>
            </a:r>
            <a:r>
              <a:rPr lang="en-US" sz="2000" b="0" dirty="0">
                <a:solidFill>
                  <a:srgbClr val="383A4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()</a:t>
            </a:r>
            <a:r>
              <a:rPr lang="en-US" sz="2000" b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b="0" dirty="0">
                <a:solidFill>
                  <a:srgbClr val="4078F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*</a:t>
            </a:r>
            <a:r>
              <a:rPr lang="en-US" sz="2000" b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b="0" dirty="0">
                <a:solidFill>
                  <a:srgbClr val="B76B0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0.2</a:t>
            </a:r>
            <a:r>
              <a:rPr lang="en-US" sz="2000" b="0" dirty="0">
                <a:solidFill>
                  <a:srgbClr val="383A4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  <a:endParaRPr lang="en-US" sz="2000" b="0" dirty="0">
              <a:solidFill>
                <a:srgbClr val="0F1115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 latinLnBrk="1">
              <a:buNone/>
            </a:pPr>
            <a:r>
              <a:rPr lang="en-US" sz="2000" b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       </a:t>
            </a:r>
            <a:r>
              <a:rPr lang="en-US" sz="2000" b="0" dirty="0">
                <a:solidFill>
                  <a:srgbClr val="383A4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}</a:t>
            </a:r>
            <a:endParaRPr lang="en-US" sz="2000" b="0" dirty="0">
              <a:solidFill>
                <a:srgbClr val="0F1115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 latinLnBrk="1">
              <a:buNone/>
            </a:pPr>
            <a:r>
              <a:rPr lang="en-US" sz="2000" b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       </a:t>
            </a:r>
            <a:r>
              <a:rPr lang="en-US" sz="2000" b="0" dirty="0">
                <a:solidFill>
                  <a:srgbClr val="A626A4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return</a:t>
            </a:r>
            <a:r>
              <a:rPr lang="en-US" sz="2000" b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b="0" dirty="0" err="1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order</a:t>
            </a:r>
            <a:r>
              <a:rPr lang="en-US" sz="2000" b="0" dirty="0" err="1">
                <a:solidFill>
                  <a:srgbClr val="383A4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en-US" sz="2000" b="0" dirty="0" err="1">
                <a:solidFill>
                  <a:srgbClr val="4078F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getAmount</a:t>
            </a:r>
            <a:r>
              <a:rPr lang="en-US" sz="2000" b="0" dirty="0">
                <a:solidFill>
                  <a:srgbClr val="383A4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()</a:t>
            </a:r>
            <a:r>
              <a:rPr lang="en-US" sz="2000" b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b="0" dirty="0">
                <a:solidFill>
                  <a:srgbClr val="4078F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*</a:t>
            </a:r>
            <a:r>
              <a:rPr lang="en-US" sz="2000" b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b="0" dirty="0">
                <a:solidFill>
                  <a:srgbClr val="B76B0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0.1</a:t>
            </a:r>
            <a:r>
              <a:rPr lang="en-US" sz="2000" b="0" dirty="0">
                <a:solidFill>
                  <a:srgbClr val="383A4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  <a:endParaRPr lang="en-US" sz="2000" b="0" dirty="0">
              <a:solidFill>
                <a:srgbClr val="0F1115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 latinLnBrk="1">
              <a:buNone/>
            </a:pPr>
            <a:r>
              <a:rPr lang="en-US" sz="2000" b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en-US" sz="2000" b="0" dirty="0">
                <a:solidFill>
                  <a:srgbClr val="383A4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}</a:t>
            </a:r>
            <a:endParaRPr lang="en-US" sz="2000" b="0" dirty="0">
              <a:solidFill>
                <a:srgbClr val="0F1115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 latinLnBrk="1">
              <a:buNone/>
            </a:pPr>
            <a:r>
              <a:rPr lang="en-US" sz="2000" b="0" dirty="0">
                <a:solidFill>
                  <a:srgbClr val="383A4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}</a:t>
            </a:r>
            <a:endParaRPr lang="en-US" sz="2000" b="0" dirty="0">
              <a:solidFill>
                <a:srgbClr val="0F1115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13151F1-30D9-568E-A8CE-9833A6809E75}"/>
              </a:ext>
            </a:extLst>
          </p:cNvPr>
          <p:cNvSpPr txBox="1"/>
          <p:nvPr/>
        </p:nvSpPr>
        <p:spPr>
          <a:xfrm>
            <a:off x="6096000" y="786090"/>
            <a:ext cx="6096000" cy="37856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latinLnBrk="1">
              <a:buNone/>
            </a:pPr>
            <a:r>
              <a:rPr lang="ru-RU" sz="2000" b="0" i="1" dirty="0">
                <a:solidFill>
                  <a:srgbClr val="A0A1A7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// ХОРОШО: логика перенесена туда, где данные</a:t>
            </a:r>
            <a:endParaRPr lang="ru-RU" sz="2000" b="0" dirty="0">
              <a:solidFill>
                <a:srgbClr val="0F1115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 latinLnBrk="1">
              <a:buNone/>
            </a:pPr>
            <a:r>
              <a:rPr lang="en-US" sz="2000" b="0" dirty="0">
                <a:solidFill>
                  <a:srgbClr val="A626A4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class</a:t>
            </a:r>
            <a:r>
              <a:rPr lang="en-US" sz="2000" b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b="0" dirty="0">
                <a:solidFill>
                  <a:srgbClr val="B76B0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Order</a:t>
            </a:r>
            <a:r>
              <a:rPr lang="en-US" sz="2000" b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b="0" dirty="0">
                <a:solidFill>
                  <a:srgbClr val="383A4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{</a:t>
            </a:r>
            <a:endParaRPr lang="en-US" sz="2000" b="0" dirty="0">
              <a:solidFill>
                <a:srgbClr val="0F1115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 latinLnBrk="1">
              <a:buNone/>
            </a:pPr>
            <a:r>
              <a:rPr lang="en-US" sz="2000" b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en-US" sz="2000" b="0" dirty="0">
                <a:solidFill>
                  <a:srgbClr val="A626A4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private</a:t>
            </a:r>
            <a:r>
              <a:rPr lang="en-US" sz="2000" b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b="0" dirty="0">
                <a:solidFill>
                  <a:srgbClr val="A626A4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double</a:t>
            </a:r>
            <a:r>
              <a:rPr lang="en-US" sz="2000" b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amount</a:t>
            </a:r>
            <a:r>
              <a:rPr lang="en-US" sz="2000" b="0" dirty="0">
                <a:solidFill>
                  <a:srgbClr val="383A4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  <a:endParaRPr lang="en-US" sz="2000" b="0" dirty="0">
              <a:solidFill>
                <a:srgbClr val="0F1115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 latinLnBrk="1">
              <a:buNone/>
            </a:pPr>
            <a:r>
              <a:rPr lang="en-US" sz="2000" b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en-US" sz="2000" b="0" dirty="0">
                <a:solidFill>
                  <a:srgbClr val="A626A4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private</a:t>
            </a:r>
            <a:r>
              <a:rPr lang="en-US" sz="2000" b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b="0" dirty="0">
                <a:solidFill>
                  <a:srgbClr val="B76B0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Customer</a:t>
            </a:r>
            <a:r>
              <a:rPr lang="en-US" sz="2000" b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b="0" dirty="0" err="1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customer</a:t>
            </a:r>
            <a:r>
              <a:rPr lang="en-US" sz="2000" b="0" dirty="0">
                <a:solidFill>
                  <a:srgbClr val="383A4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  <a:endParaRPr lang="en-US" sz="2000" b="0" dirty="0">
              <a:solidFill>
                <a:srgbClr val="0F1115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 latinLnBrk="1">
              <a:buNone/>
            </a:pPr>
            <a:r>
              <a:rPr lang="en-US" sz="2000" b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</a:p>
          <a:p>
            <a:pPr algn="l" latinLnBrk="1">
              <a:buNone/>
            </a:pPr>
            <a:r>
              <a:rPr lang="en-US" sz="2000" b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en-US" sz="2000" b="0" dirty="0">
                <a:solidFill>
                  <a:srgbClr val="A626A4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public</a:t>
            </a:r>
            <a:r>
              <a:rPr lang="en-US" sz="2000" b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b="0" dirty="0">
                <a:solidFill>
                  <a:srgbClr val="A626A4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double</a:t>
            </a:r>
            <a:r>
              <a:rPr lang="en-US" sz="2000" b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b="0" dirty="0" err="1">
                <a:solidFill>
                  <a:srgbClr val="4078F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calculateDiscount</a:t>
            </a:r>
            <a:r>
              <a:rPr lang="en-US" sz="2000" b="0" dirty="0">
                <a:solidFill>
                  <a:srgbClr val="383A4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()</a:t>
            </a:r>
            <a:r>
              <a:rPr lang="en-US" sz="2000" b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b="0" dirty="0">
                <a:solidFill>
                  <a:srgbClr val="383A4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{</a:t>
            </a:r>
            <a:endParaRPr lang="en-US" sz="2000" b="0" dirty="0">
              <a:solidFill>
                <a:srgbClr val="0F1115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 latinLnBrk="1">
              <a:buNone/>
            </a:pPr>
            <a:r>
              <a:rPr lang="en-US" sz="2000" b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       </a:t>
            </a:r>
            <a:r>
              <a:rPr lang="en-US" sz="2000" b="0" dirty="0">
                <a:solidFill>
                  <a:srgbClr val="A626A4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if</a:t>
            </a:r>
            <a:r>
              <a:rPr lang="en-US" sz="2000" b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b="0" dirty="0">
                <a:solidFill>
                  <a:srgbClr val="383A4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sz="2000" b="0" dirty="0" err="1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customer</a:t>
            </a:r>
            <a:r>
              <a:rPr lang="en-US" sz="2000" b="0" dirty="0" err="1">
                <a:solidFill>
                  <a:srgbClr val="383A4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en-US" sz="2000" b="0" dirty="0" err="1">
                <a:solidFill>
                  <a:srgbClr val="4078F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isVIP</a:t>
            </a:r>
            <a:r>
              <a:rPr lang="en-US" sz="2000" b="0" dirty="0">
                <a:solidFill>
                  <a:srgbClr val="383A4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()</a:t>
            </a:r>
            <a:r>
              <a:rPr lang="en-US" sz="2000" b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b="0" dirty="0">
                <a:solidFill>
                  <a:srgbClr val="4078F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&amp;&amp;</a:t>
            </a:r>
            <a:r>
              <a:rPr lang="en-US" sz="2000" b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amount </a:t>
            </a:r>
            <a:r>
              <a:rPr lang="en-US" sz="2000" b="0" dirty="0">
                <a:solidFill>
                  <a:srgbClr val="4078F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&gt;</a:t>
            </a:r>
            <a:r>
              <a:rPr lang="en-US" sz="2000" b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b="0" dirty="0">
                <a:solidFill>
                  <a:srgbClr val="B76B0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1000</a:t>
            </a:r>
            <a:r>
              <a:rPr lang="en-US" sz="2000" b="0" dirty="0">
                <a:solidFill>
                  <a:srgbClr val="383A4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en-US" sz="2000" b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b="0" dirty="0">
                <a:solidFill>
                  <a:srgbClr val="383A4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{</a:t>
            </a:r>
            <a:endParaRPr lang="en-US" sz="2000" b="0" dirty="0">
              <a:solidFill>
                <a:srgbClr val="0F1115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 latinLnBrk="1">
              <a:buNone/>
            </a:pPr>
            <a:r>
              <a:rPr lang="en-US" sz="2000" b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           </a:t>
            </a:r>
            <a:r>
              <a:rPr lang="en-US" sz="2000" b="0" dirty="0">
                <a:solidFill>
                  <a:srgbClr val="A626A4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return</a:t>
            </a:r>
            <a:r>
              <a:rPr lang="en-US" sz="2000" b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amount </a:t>
            </a:r>
            <a:r>
              <a:rPr lang="en-US" sz="2000" b="0" dirty="0">
                <a:solidFill>
                  <a:srgbClr val="4078F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*</a:t>
            </a:r>
            <a:r>
              <a:rPr lang="en-US" sz="2000" b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b="0" dirty="0">
                <a:solidFill>
                  <a:srgbClr val="B76B0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0.2</a:t>
            </a:r>
            <a:r>
              <a:rPr lang="en-US" sz="2000" b="0" dirty="0">
                <a:solidFill>
                  <a:srgbClr val="383A4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  <a:endParaRPr lang="en-US" sz="2000" b="0" dirty="0">
              <a:solidFill>
                <a:srgbClr val="0F1115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 latinLnBrk="1">
              <a:buNone/>
            </a:pPr>
            <a:r>
              <a:rPr lang="en-US" sz="2000" b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       </a:t>
            </a:r>
            <a:r>
              <a:rPr lang="en-US" sz="2000" b="0" dirty="0">
                <a:solidFill>
                  <a:srgbClr val="383A4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}</a:t>
            </a:r>
            <a:endParaRPr lang="en-US" sz="2000" b="0" dirty="0">
              <a:solidFill>
                <a:srgbClr val="0F1115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 latinLnBrk="1">
              <a:buNone/>
            </a:pPr>
            <a:r>
              <a:rPr lang="en-US" sz="2000" b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       </a:t>
            </a:r>
            <a:r>
              <a:rPr lang="en-US" sz="2000" b="0" dirty="0">
                <a:solidFill>
                  <a:srgbClr val="A626A4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return</a:t>
            </a:r>
            <a:r>
              <a:rPr lang="en-US" sz="2000" b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amount </a:t>
            </a:r>
            <a:r>
              <a:rPr lang="en-US" sz="2000" b="0" dirty="0">
                <a:solidFill>
                  <a:srgbClr val="4078F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*</a:t>
            </a:r>
            <a:r>
              <a:rPr lang="en-US" sz="2000" b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b="0" dirty="0">
                <a:solidFill>
                  <a:srgbClr val="B76B0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0.1</a:t>
            </a:r>
            <a:r>
              <a:rPr lang="en-US" sz="2000" b="0" dirty="0">
                <a:solidFill>
                  <a:srgbClr val="383A4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  <a:endParaRPr lang="en-US" sz="2000" b="0" dirty="0">
              <a:solidFill>
                <a:srgbClr val="0F1115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 latinLnBrk="1">
              <a:buNone/>
            </a:pPr>
            <a:r>
              <a:rPr lang="en-US" sz="2000" b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en-US" sz="2000" b="0" dirty="0">
                <a:solidFill>
                  <a:srgbClr val="383A4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}</a:t>
            </a:r>
            <a:endParaRPr lang="en-US" sz="2000" b="0" dirty="0">
              <a:solidFill>
                <a:srgbClr val="0F1115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 latinLnBrk="1">
              <a:buNone/>
            </a:pPr>
            <a:r>
              <a:rPr lang="en-US" sz="2000" b="0" dirty="0">
                <a:solidFill>
                  <a:srgbClr val="383A4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}</a:t>
            </a:r>
            <a:endParaRPr lang="en-US" sz="2000" b="0" dirty="0">
              <a:solidFill>
                <a:srgbClr val="0F1115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2899965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82B543-164F-78ED-984F-88C1D96B1B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D2C3CE79-5858-D429-6E90-DD72DCE568E1}"/>
              </a:ext>
            </a:extLst>
          </p:cNvPr>
          <p:cNvSpPr txBox="1"/>
          <p:nvPr/>
        </p:nvSpPr>
        <p:spPr>
          <a:xfrm>
            <a:off x="0" y="0"/>
            <a:ext cx="12192000" cy="4097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250"/>
              </a:lnSpc>
              <a:spcBef>
                <a:spcPts val="2400"/>
              </a:spcBef>
              <a:spcAft>
                <a:spcPts val="1200"/>
              </a:spcAft>
              <a:buNone/>
            </a:pPr>
            <a:r>
              <a:rPr lang="en-US" sz="3200" b="1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Switch-</a:t>
            </a:r>
            <a:r>
              <a:rPr lang="ru-RU" sz="3200" b="1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мания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4DE6F1C-78EB-20B3-B01E-98CC710A36B2}"/>
              </a:ext>
            </a:extLst>
          </p:cNvPr>
          <p:cNvSpPr txBox="1"/>
          <p:nvPr/>
        </p:nvSpPr>
        <p:spPr>
          <a:xfrm>
            <a:off x="0" y="1310582"/>
            <a:ext cx="6096000" cy="34778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latinLnBrk="1">
              <a:buNone/>
            </a:pPr>
            <a:r>
              <a:rPr lang="ru-RU" sz="2000" b="0" i="1" dirty="0">
                <a:solidFill>
                  <a:srgbClr val="A0A1A7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// ПЛОХО: куча </a:t>
            </a:r>
            <a:r>
              <a:rPr lang="en-US" sz="2000" b="0" i="1" dirty="0">
                <a:solidFill>
                  <a:srgbClr val="A0A1A7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switch/case </a:t>
            </a:r>
            <a:r>
              <a:rPr lang="ru-RU" sz="2000" b="0" i="1" dirty="0">
                <a:solidFill>
                  <a:srgbClr val="A0A1A7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или </a:t>
            </a:r>
            <a:r>
              <a:rPr lang="en-US" sz="2000" b="0" i="1" dirty="0">
                <a:solidFill>
                  <a:srgbClr val="A0A1A7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if-else</a:t>
            </a:r>
            <a:endParaRPr lang="en-US" sz="2000" b="0" dirty="0">
              <a:solidFill>
                <a:srgbClr val="0F1115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 latinLnBrk="1">
              <a:buNone/>
            </a:pPr>
            <a:r>
              <a:rPr lang="en-US" sz="2000" b="0" dirty="0">
                <a:solidFill>
                  <a:srgbClr val="A626A4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public</a:t>
            </a:r>
            <a:r>
              <a:rPr lang="en-US" sz="2000" b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b="0" dirty="0">
                <a:solidFill>
                  <a:srgbClr val="A626A4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double</a:t>
            </a:r>
            <a:r>
              <a:rPr lang="en-US" sz="2000" b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b="0" dirty="0" err="1">
                <a:solidFill>
                  <a:srgbClr val="4078F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calculateShipping</a:t>
            </a:r>
            <a:r>
              <a:rPr lang="en-US" sz="2000" b="0" dirty="0">
                <a:solidFill>
                  <a:srgbClr val="383A4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sz="2000" b="0" dirty="0">
                <a:solidFill>
                  <a:srgbClr val="B76B0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String</a:t>
            </a:r>
            <a:r>
              <a:rPr lang="en-US" sz="2000" b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country</a:t>
            </a:r>
            <a:r>
              <a:rPr lang="en-US" sz="2000" b="0" dirty="0">
                <a:solidFill>
                  <a:srgbClr val="383A4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n-US" sz="2000" b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b="0" dirty="0">
                <a:solidFill>
                  <a:srgbClr val="A626A4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double</a:t>
            </a:r>
            <a:r>
              <a:rPr lang="en-US" sz="2000" b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weight</a:t>
            </a:r>
            <a:r>
              <a:rPr lang="en-US" sz="2000" b="0" dirty="0">
                <a:solidFill>
                  <a:srgbClr val="383A4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en-US" sz="2000" b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b="0" dirty="0">
                <a:solidFill>
                  <a:srgbClr val="383A4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{</a:t>
            </a:r>
            <a:endParaRPr lang="en-US" sz="2000" b="0" dirty="0">
              <a:solidFill>
                <a:srgbClr val="0F1115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 latinLnBrk="1">
              <a:buNone/>
            </a:pPr>
            <a:r>
              <a:rPr lang="en-US" sz="2000" b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en-US" sz="2000" b="0" dirty="0">
                <a:solidFill>
                  <a:srgbClr val="A626A4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if</a:t>
            </a:r>
            <a:r>
              <a:rPr lang="en-US" sz="2000" b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b="0" dirty="0">
                <a:solidFill>
                  <a:srgbClr val="383A4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sz="2000" b="0" dirty="0" err="1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country</a:t>
            </a:r>
            <a:r>
              <a:rPr lang="en-US" sz="2000" b="0" dirty="0" err="1">
                <a:solidFill>
                  <a:srgbClr val="383A4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en-US" sz="2000" b="0" dirty="0" err="1">
                <a:solidFill>
                  <a:srgbClr val="4078F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equals</a:t>
            </a:r>
            <a:r>
              <a:rPr lang="en-US" sz="2000" b="0" dirty="0">
                <a:solidFill>
                  <a:srgbClr val="383A4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sz="2000" b="0" dirty="0">
                <a:solidFill>
                  <a:srgbClr val="50A14F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"USA"</a:t>
            </a:r>
            <a:r>
              <a:rPr lang="en-US" sz="2000" b="0" dirty="0">
                <a:solidFill>
                  <a:srgbClr val="383A4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))</a:t>
            </a:r>
            <a:r>
              <a:rPr lang="en-US" sz="2000" b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b="0" dirty="0">
                <a:solidFill>
                  <a:srgbClr val="383A4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{</a:t>
            </a:r>
            <a:endParaRPr lang="en-US" sz="2000" b="0" dirty="0">
              <a:solidFill>
                <a:srgbClr val="0F1115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 latinLnBrk="1">
              <a:buNone/>
            </a:pPr>
            <a:r>
              <a:rPr lang="en-US" sz="2000" b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       </a:t>
            </a:r>
            <a:r>
              <a:rPr lang="en-US" sz="2000" b="0" dirty="0">
                <a:solidFill>
                  <a:srgbClr val="A626A4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return</a:t>
            </a:r>
            <a:r>
              <a:rPr lang="en-US" sz="2000" b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weight </a:t>
            </a:r>
            <a:r>
              <a:rPr lang="en-US" sz="2000" b="0" dirty="0">
                <a:solidFill>
                  <a:srgbClr val="4078F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*</a:t>
            </a:r>
            <a:r>
              <a:rPr lang="en-US" sz="2000" b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b="0" dirty="0">
                <a:solidFill>
                  <a:srgbClr val="B76B0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5</a:t>
            </a:r>
            <a:r>
              <a:rPr lang="en-US" sz="2000" b="0" dirty="0">
                <a:solidFill>
                  <a:srgbClr val="383A4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  <a:endParaRPr lang="en-US" sz="2000" b="0" dirty="0">
              <a:solidFill>
                <a:srgbClr val="0F1115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 latinLnBrk="1">
              <a:buNone/>
            </a:pPr>
            <a:r>
              <a:rPr lang="en-US" sz="2000" b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en-US" sz="2000" b="0" dirty="0">
                <a:solidFill>
                  <a:srgbClr val="383A4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}</a:t>
            </a:r>
            <a:r>
              <a:rPr lang="en-US" sz="2000" b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b="0" dirty="0">
                <a:solidFill>
                  <a:srgbClr val="A626A4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else</a:t>
            </a:r>
            <a:r>
              <a:rPr lang="en-US" sz="2000" b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b="0" dirty="0">
                <a:solidFill>
                  <a:srgbClr val="A626A4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if</a:t>
            </a:r>
            <a:r>
              <a:rPr lang="en-US" sz="2000" b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b="0" dirty="0">
                <a:solidFill>
                  <a:srgbClr val="383A4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sz="2000" b="0" dirty="0" err="1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country</a:t>
            </a:r>
            <a:r>
              <a:rPr lang="en-US" sz="2000" b="0" dirty="0" err="1">
                <a:solidFill>
                  <a:srgbClr val="383A4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en-US" sz="2000" b="0" dirty="0" err="1">
                <a:solidFill>
                  <a:srgbClr val="4078F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equals</a:t>
            </a:r>
            <a:r>
              <a:rPr lang="en-US" sz="2000" b="0" dirty="0">
                <a:solidFill>
                  <a:srgbClr val="383A4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sz="2000" b="0" dirty="0">
                <a:solidFill>
                  <a:srgbClr val="50A14F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"Canada"</a:t>
            </a:r>
            <a:r>
              <a:rPr lang="en-US" sz="2000" b="0" dirty="0">
                <a:solidFill>
                  <a:srgbClr val="383A4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))</a:t>
            </a:r>
            <a:r>
              <a:rPr lang="en-US" sz="2000" b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b="0" dirty="0">
                <a:solidFill>
                  <a:srgbClr val="383A4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{</a:t>
            </a:r>
            <a:endParaRPr lang="en-US" sz="2000" b="0" dirty="0">
              <a:solidFill>
                <a:srgbClr val="0F1115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 latinLnBrk="1">
              <a:buNone/>
            </a:pPr>
            <a:r>
              <a:rPr lang="en-US" sz="2000" b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       </a:t>
            </a:r>
            <a:r>
              <a:rPr lang="en-US" sz="2000" b="0" dirty="0">
                <a:solidFill>
                  <a:srgbClr val="A626A4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return</a:t>
            </a:r>
            <a:r>
              <a:rPr lang="en-US" sz="2000" b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weight </a:t>
            </a:r>
            <a:r>
              <a:rPr lang="en-US" sz="2000" b="0" dirty="0">
                <a:solidFill>
                  <a:srgbClr val="4078F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*</a:t>
            </a:r>
            <a:r>
              <a:rPr lang="en-US" sz="2000" b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b="0" dirty="0">
                <a:solidFill>
                  <a:srgbClr val="B76B0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7</a:t>
            </a:r>
            <a:r>
              <a:rPr lang="en-US" sz="2000" b="0" dirty="0">
                <a:solidFill>
                  <a:srgbClr val="383A4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  <a:endParaRPr lang="en-US" sz="2000" b="0" dirty="0">
              <a:solidFill>
                <a:srgbClr val="0F1115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 latinLnBrk="1">
              <a:buNone/>
            </a:pPr>
            <a:r>
              <a:rPr lang="en-US" sz="2000" b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en-US" sz="2000" b="0" dirty="0">
                <a:solidFill>
                  <a:srgbClr val="383A4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}</a:t>
            </a:r>
            <a:r>
              <a:rPr lang="en-US" sz="2000" b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b="0" dirty="0">
                <a:solidFill>
                  <a:srgbClr val="A626A4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else</a:t>
            </a:r>
            <a:r>
              <a:rPr lang="en-US" sz="2000" b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b="0" dirty="0">
                <a:solidFill>
                  <a:srgbClr val="A626A4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if</a:t>
            </a:r>
            <a:r>
              <a:rPr lang="en-US" sz="2000" b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b="0" dirty="0">
                <a:solidFill>
                  <a:srgbClr val="383A4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sz="2000" b="0" dirty="0" err="1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country</a:t>
            </a:r>
            <a:r>
              <a:rPr lang="en-US" sz="2000" b="0" dirty="0" err="1">
                <a:solidFill>
                  <a:srgbClr val="383A4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en-US" sz="2000" b="0" dirty="0" err="1">
                <a:solidFill>
                  <a:srgbClr val="4078F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equals</a:t>
            </a:r>
            <a:r>
              <a:rPr lang="en-US" sz="2000" b="0" dirty="0">
                <a:solidFill>
                  <a:srgbClr val="383A4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sz="2000" b="0" dirty="0">
                <a:solidFill>
                  <a:srgbClr val="50A14F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"Mexico"</a:t>
            </a:r>
            <a:r>
              <a:rPr lang="en-US" sz="2000" b="0" dirty="0">
                <a:solidFill>
                  <a:srgbClr val="383A4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))</a:t>
            </a:r>
            <a:r>
              <a:rPr lang="en-US" sz="2000" b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b="0" dirty="0">
                <a:solidFill>
                  <a:srgbClr val="383A4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{</a:t>
            </a:r>
            <a:endParaRPr lang="en-US" sz="2000" b="0" dirty="0">
              <a:solidFill>
                <a:srgbClr val="0F1115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 latinLnBrk="1">
              <a:buNone/>
            </a:pPr>
            <a:r>
              <a:rPr lang="en-US" sz="2000" b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       </a:t>
            </a:r>
            <a:r>
              <a:rPr lang="en-US" sz="2000" b="0" dirty="0">
                <a:solidFill>
                  <a:srgbClr val="A626A4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return</a:t>
            </a:r>
            <a:r>
              <a:rPr lang="en-US" sz="2000" b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weight </a:t>
            </a:r>
            <a:r>
              <a:rPr lang="en-US" sz="2000" b="0" dirty="0">
                <a:solidFill>
                  <a:srgbClr val="4078F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*</a:t>
            </a:r>
            <a:r>
              <a:rPr lang="en-US" sz="2000" b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b="0" dirty="0">
                <a:solidFill>
                  <a:srgbClr val="B76B0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8</a:t>
            </a:r>
            <a:r>
              <a:rPr lang="en-US" sz="2000" b="0" dirty="0">
                <a:solidFill>
                  <a:srgbClr val="383A4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  <a:endParaRPr lang="en-US" sz="2000" b="0" dirty="0">
              <a:solidFill>
                <a:srgbClr val="0F1115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 latinLnBrk="1">
              <a:buNone/>
            </a:pPr>
            <a:r>
              <a:rPr lang="en-US" sz="2000" b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en-US" sz="2000" b="0" dirty="0">
                <a:solidFill>
                  <a:srgbClr val="383A4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}</a:t>
            </a:r>
            <a:r>
              <a:rPr lang="en-US" sz="2000" b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b="0" i="1" dirty="0">
                <a:solidFill>
                  <a:srgbClr val="A0A1A7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// ... </a:t>
            </a:r>
            <a:r>
              <a:rPr lang="ru-RU" sz="2000" b="0" i="1" dirty="0">
                <a:solidFill>
                  <a:srgbClr val="A0A1A7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еще 50 стран</a:t>
            </a:r>
            <a:endParaRPr lang="ru-RU" sz="2000" b="0" dirty="0">
              <a:solidFill>
                <a:srgbClr val="0F1115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 latinLnBrk="1">
              <a:buNone/>
            </a:pPr>
            <a:r>
              <a:rPr lang="ru-RU" sz="2000" b="0" dirty="0">
                <a:solidFill>
                  <a:srgbClr val="383A4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}</a:t>
            </a:r>
            <a:endParaRPr lang="ru-RU" sz="2000" b="0" dirty="0">
              <a:solidFill>
                <a:srgbClr val="0F1115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824A87B-DA82-8050-044E-834FC2BCE6F2}"/>
              </a:ext>
            </a:extLst>
          </p:cNvPr>
          <p:cNvSpPr txBox="1"/>
          <p:nvPr/>
        </p:nvSpPr>
        <p:spPr>
          <a:xfrm>
            <a:off x="6096000" y="983568"/>
            <a:ext cx="6096000" cy="47089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latinLnBrk="1">
              <a:buNone/>
            </a:pPr>
            <a:r>
              <a:rPr lang="ru-RU" sz="2000" b="0" i="1" dirty="0">
                <a:solidFill>
                  <a:srgbClr val="A0A1A7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// ХОРОШО: полиморфизм или словарь</a:t>
            </a:r>
            <a:endParaRPr lang="ru-RU" sz="2000" b="0" dirty="0">
              <a:solidFill>
                <a:srgbClr val="0F1115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 latinLnBrk="1">
              <a:buNone/>
            </a:pPr>
            <a:r>
              <a:rPr lang="en-US" sz="2000" b="0" dirty="0">
                <a:solidFill>
                  <a:srgbClr val="A626A4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interface</a:t>
            </a:r>
            <a:r>
              <a:rPr lang="en-US" sz="2000" b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b="0" dirty="0" err="1">
                <a:solidFill>
                  <a:srgbClr val="B76B0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ShippingCalculator</a:t>
            </a:r>
            <a:r>
              <a:rPr lang="en-US" sz="2000" b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b="0" dirty="0">
                <a:solidFill>
                  <a:srgbClr val="383A4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{</a:t>
            </a:r>
            <a:endParaRPr lang="en-US" sz="2000" b="0" dirty="0">
              <a:solidFill>
                <a:srgbClr val="0F1115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 latinLnBrk="1">
              <a:buNone/>
            </a:pPr>
            <a:r>
              <a:rPr lang="en-US" sz="2000" b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en-US" sz="2000" b="0" dirty="0">
                <a:solidFill>
                  <a:srgbClr val="A626A4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double</a:t>
            </a:r>
            <a:r>
              <a:rPr lang="en-US" sz="2000" b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b="0" dirty="0">
                <a:solidFill>
                  <a:srgbClr val="4078F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calculate</a:t>
            </a:r>
            <a:r>
              <a:rPr lang="en-US" sz="2000" b="0" dirty="0">
                <a:solidFill>
                  <a:srgbClr val="383A4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sz="2000" b="0" dirty="0">
                <a:solidFill>
                  <a:srgbClr val="A626A4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double</a:t>
            </a:r>
            <a:r>
              <a:rPr lang="en-US" sz="2000" b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weight</a:t>
            </a:r>
            <a:r>
              <a:rPr lang="en-US" sz="2000" b="0" dirty="0">
                <a:solidFill>
                  <a:srgbClr val="383A4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);</a:t>
            </a:r>
            <a:endParaRPr lang="en-US" sz="2000" b="0" dirty="0">
              <a:solidFill>
                <a:srgbClr val="0F1115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 latinLnBrk="1">
              <a:buNone/>
            </a:pPr>
            <a:r>
              <a:rPr lang="en-US" sz="2000" b="0" dirty="0">
                <a:solidFill>
                  <a:srgbClr val="383A4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}</a:t>
            </a:r>
            <a:endParaRPr lang="en-US" sz="2000" b="0" dirty="0">
              <a:solidFill>
                <a:srgbClr val="0F1115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 latinLnBrk="1">
              <a:buNone/>
            </a:pPr>
            <a:endParaRPr lang="en-US" sz="2000" b="0" dirty="0">
              <a:solidFill>
                <a:srgbClr val="0F1115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 latinLnBrk="1">
              <a:buNone/>
            </a:pPr>
            <a:r>
              <a:rPr lang="en-US" sz="2000" b="0" dirty="0">
                <a:solidFill>
                  <a:srgbClr val="A626A4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class</a:t>
            </a:r>
            <a:r>
              <a:rPr lang="en-US" sz="2000" b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b="0" dirty="0" err="1">
                <a:solidFill>
                  <a:srgbClr val="B76B0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USAShipping</a:t>
            </a:r>
            <a:r>
              <a:rPr lang="en-US" sz="2000" b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b="0" dirty="0">
                <a:solidFill>
                  <a:srgbClr val="A626A4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implements</a:t>
            </a:r>
            <a:r>
              <a:rPr lang="en-US" sz="2000" b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b="0" dirty="0" err="1">
                <a:solidFill>
                  <a:srgbClr val="B76B0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ShippingCalculator</a:t>
            </a:r>
            <a:r>
              <a:rPr lang="en-US" sz="2000" b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b="0" dirty="0">
                <a:solidFill>
                  <a:srgbClr val="383A4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{</a:t>
            </a:r>
            <a:endParaRPr lang="en-US" sz="2000" b="0" dirty="0">
              <a:solidFill>
                <a:srgbClr val="0F1115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 latinLnBrk="1">
              <a:buNone/>
            </a:pPr>
            <a:r>
              <a:rPr lang="en-US" sz="2000" b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en-US" sz="2000" b="0" dirty="0">
                <a:solidFill>
                  <a:srgbClr val="A626A4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public</a:t>
            </a:r>
            <a:r>
              <a:rPr lang="en-US" sz="2000" b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b="0" dirty="0">
                <a:solidFill>
                  <a:srgbClr val="A626A4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double</a:t>
            </a:r>
            <a:r>
              <a:rPr lang="en-US" sz="2000" b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b="0" dirty="0">
                <a:solidFill>
                  <a:srgbClr val="4078F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calculate</a:t>
            </a:r>
            <a:r>
              <a:rPr lang="en-US" sz="2000" b="0" dirty="0">
                <a:solidFill>
                  <a:srgbClr val="383A4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sz="2000" b="0" dirty="0">
                <a:solidFill>
                  <a:srgbClr val="A626A4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double</a:t>
            </a:r>
            <a:r>
              <a:rPr lang="en-US" sz="2000" b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weight</a:t>
            </a:r>
            <a:r>
              <a:rPr lang="en-US" sz="2000" b="0" dirty="0">
                <a:solidFill>
                  <a:srgbClr val="383A4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en-US" sz="2000" b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b="0" dirty="0">
                <a:solidFill>
                  <a:srgbClr val="383A4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{</a:t>
            </a:r>
            <a:r>
              <a:rPr lang="en-US" sz="2000" b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b="0" dirty="0">
                <a:solidFill>
                  <a:srgbClr val="A626A4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return</a:t>
            </a:r>
            <a:r>
              <a:rPr lang="en-US" sz="2000" b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weight </a:t>
            </a:r>
            <a:r>
              <a:rPr lang="en-US" sz="2000" b="0" dirty="0">
                <a:solidFill>
                  <a:srgbClr val="4078F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*</a:t>
            </a:r>
            <a:r>
              <a:rPr lang="en-US" sz="2000" b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b="0" dirty="0">
                <a:solidFill>
                  <a:srgbClr val="B76B0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5</a:t>
            </a:r>
            <a:r>
              <a:rPr lang="en-US" sz="2000" b="0" dirty="0">
                <a:solidFill>
                  <a:srgbClr val="383A4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  <a:r>
              <a:rPr lang="en-US" sz="2000" b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b="0" dirty="0">
                <a:solidFill>
                  <a:srgbClr val="383A4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}</a:t>
            </a:r>
            <a:endParaRPr lang="en-US" sz="2000" b="0" dirty="0">
              <a:solidFill>
                <a:srgbClr val="0F1115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 latinLnBrk="1">
              <a:buNone/>
            </a:pPr>
            <a:r>
              <a:rPr lang="en-US" sz="2000" b="0" dirty="0">
                <a:solidFill>
                  <a:srgbClr val="383A4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}</a:t>
            </a:r>
            <a:endParaRPr lang="en-US" sz="2000" b="0" dirty="0">
              <a:solidFill>
                <a:srgbClr val="0F1115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 latinLnBrk="1">
              <a:buNone/>
            </a:pPr>
            <a:endParaRPr lang="en-US" sz="2000" b="0" dirty="0">
              <a:solidFill>
                <a:srgbClr val="0F1115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 latinLnBrk="1">
              <a:buNone/>
            </a:pPr>
            <a:r>
              <a:rPr lang="en-US" sz="2000" b="0" i="1" dirty="0">
                <a:solidFill>
                  <a:srgbClr val="A0A1A7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// </a:t>
            </a:r>
            <a:r>
              <a:rPr lang="ru-RU" sz="2000" b="0" i="1" dirty="0">
                <a:solidFill>
                  <a:srgbClr val="A0A1A7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Использование </a:t>
            </a:r>
            <a:r>
              <a:rPr lang="en-US" sz="2000" b="0" i="1" dirty="0">
                <a:solidFill>
                  <a:srgbClr val="A0A1A7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Map </a:t>
            </a:r>
            <a:r>
              <a:rPr lang="ru-RU" sz="2000" b="0" i="1" dirty="0">
                <a:solidFill>
                  <a:srgbClr val="A0A1A7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для динамического выбора</a:t>
            </a:r>
            <a:endParaRPr lang="ru-RU" sz="2000" b="0" dirty="0">
              <a:solidFill>
                <a:srgbClr val="0F1115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 latinLnBrk="1">
              <a:buNone/>
            </a:pPr>
            <a:r>
              <a:rPr lang="en-US" sz="2000" b="0" dirty="0">
                <a:solidFill>
                  <a:srgbClr val="B76B0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Map</a:t>
            </a:r>
            <a:r>
              <a:rPr lang="en-US" sz="2000" b="0" dirty="0">
                <a:solidFill>
                  <a:srgbClr val="383A4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&lt;</a:t>
            </a:r>
            <a:r>
              <a:rPr lang="en-US" sz="2000" b="0" dirty="0">
                <a:solidFill>
                  <a:srgbClr val="B76B0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String</a:t>
            </a:r>
            <a:r>
              <a:rPr lang="en-US" sz="2000" b="0" dirty="0">
                <a:solidFill>
                  <a:srgbClr val="383A4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n-US" sz="2000" b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b="0" dirty="0" err="1">
                <a:solidFill>
                  <a:srgbClr val="B76B0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ShippingCalculator</a:t>
            </a:r>
            <a:r>
              <a:rPr lang="en-US" sz="2000" b="0" dirty="0">
                <a:solidFill>
                  <a:srgbClr val="383A4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&gt;</a:t>
            </a:r>
            <a:r>
              <a:rPr lang="en-US" sz="2000" b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calculators </a:t>
            </a:r>
            <a:r>
              <a:rPr lang="en-US" sz="2000" b="0" dirty="0">
                <a:solidFill>
                  <a:srgbClr val="4078F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sz="2000" b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b="0" dirty="0">
                <a:solidFill>
                  <a:srgbClr val="A626A4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new</a:t>
            </a:r>
            <a:r>
              <a:rPr lang="en-US" sz="2000" b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b="0" dirty="0">
                <a:solidFill>
                  <a:srgbClr val="B76B0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HashMap</a:t>
            </a:r>
            <a:r>
              <a:rPr lang="en-US" sz="2000" b="0" dirty="0">
                <a:solidFill>
                  <a:srgbClr val="383A4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&lt;&gt;();</a:t>
            </a:r>
            <a:endParaRPr lang="en-US" sz="2000" b="0" dirty="0">
              <a:solidFill>
                <a:srgbClr val="0F1115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 latinLnBrk="1">
              <a:buNone/>
            </a:pPr>
            <a:r>
              <a:rPr lang="en-US" sz="2000" b="0" dirty="0" err="1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calculators</a:t>
            </a:r>
            <a:r>
              <a:rPr lang="en-US" sz="2000" b="0" dirty="0" err="1">
                <a:solidFill>
                  <a:srgbClr val="383A4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en-US" sz="2000" b="0" dirty="0" err="1">
                <a:solidFill>
                  <a:srgbClr val="4078F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put</a:t>
            </a:r>
            <a:r>
              <a:rPr lang="en-US" sz="2000" b="0" dirty="0">
                <a:solidFill>
                  <a:srgbClr val="383A4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sz="2000" b="0" dirty="0">
                <a:solidFill>
                  <a:srgbClr val="50A14F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"USA"</a:t>
            </a:r>
            <a:r>
              <a:rPr lang="en-US" sz="2000" b="0" dirty="0">
                <a:solidFill>
                  <a:srgbClr val="383A4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n-US" sz="2000" b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b="0" dirty="0">
                <a:solidFill>
                  <a:srgbClr val="A626A4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new</a:t>
            </a:r>
            <a:r>
              <a:rPr lang="en-US" sz="2000" b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b="0" dirty="0" err="1">
                <a:solidFill>
                  <a:srgbClr val="B76B0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USAShipping</a:t>
            </a:r>
            <a:r>
              <a:rPr lang="en-US" sz="2000" b="0" dirty="0">
                <a:solidFill>
                  <a:srgbClr val="383A4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());</a:t>
            </a:r>
            <a:endParaRPr lang="en-US" sz="2000" b="0" dirty="0">
              <a:solidFill>
                <a:srgbClr val="0F1115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 latinLnBrk="1">
              <a:buNone/>
            </a:pPr>
            <a:r>
              <a:rPr lang="en-US" sz="2000" b="0" i="1" dirty="0">
                <a:solidFill>
                  <a:srgbClr val="A0A1A7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// ...</a:t>
            </a:r>
            <a:endParaRPr lang="en-US" sz="2000" b="0" dirty="0">
              <a:solidFill>
                <a:srgbClr val="0F1115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3215120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7BFF9ED-F6BA-2038-0483-CB90091353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A5F68F87-A01F-80BB-3065-C0D4329ED0BD}"/>
              </a:ext>
            </a:extLst>
          </p:cNvPr>
          <p:cNvSpPr txBox="1"/>
          <p:nvPr/>
        </p:nvSpPr>
        <p:spPr>
          <a:xfrm>
            <a:off x="-1656" y="0"/>
            <a:ext cx="12276482" cy="59067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ts val="2250"/>
              </a:lnSpc>
              <a:spcBef>
                <a:spcPts val="2400"/>
              </a:spcBef>
              <a:spcAft>
                <a:spcPts val="1200"/>
              </a:spcAft>
              <a:buNone/>
            </a:pPr>
            <a:r>
              <a:rPr lang="ru-RU" sz="2800" b="1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Рефакторинг — лечение кода</a:t>
            </a:r>
          </a:p>
          <a:p>
            <a:pPr algn="just">
              <a:spcBef>
                <a:spcPts val="1200"/>
              </a:spcBef>
              <a:buNone/>
            </a:pPr>
            <a:r>
              <a:rPr lang="ru-RU" sz="2800" b="1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"Рефакторинг — это изменение внутренней структуры программы без изменения её внешнего поведения."</a:t>
            </a:r>
            <a:endParaRPr lang="ru-RU" sz="2800" b="0" i="0" dirty="0">
              <a:solidFill>
                <a:srgbClr val="0F1115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spcBef>
                <a:spcPts val="1200"/>
              </a:spcBef>
              <a:spcAft>
                <a:spcPts val="1200"/>
              </a:spcAft>
              <a:buNone/>
            </a:pPr>
            <a:r>
              <a:rPr lang="ru-RU" sz="2800" b="1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Основные приёмы рефакторинга:</a:t>
            </a:r>
            <a:endParaRPr lang="ru-RU" sz="2800" b="0" i="0" dirty="0">
              <a:solidFill>
                <a:srgbClr val="0F1115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spcBef>
                <a:spcPts val="1200"/>
              </a:spcBef>
              <a:spcAft>
                <a:spcPts val="1200"/>
              </a:spcAft>
              <a:buFont typeface="+mj-lt"/>
              <a:buAutoNum type="arabicPeriod"/>
            </a:pPr>
            <a:r>
              <a:rPr lang="ru-RU" sz="2800" b="1" i="0" dirty="0" err="1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Extract</a:t>
            </a:r>
            <a:r>
              <a:rPr lang="ru-RU" sz="2800" b="1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800" b="1" i="0" dirty="0" err="1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Method</a:t>
            </a:r>
            <a:r>
              <a:rPr lang="ru-RU" sz="2800" b="0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— выделить метод</a:t>
            </a:r>
          </a:p>
          <a:p>
            <a:pPr algn="just">
              <a:spcBef>
                <a:spcPts val="450"/>
              </a:spcBef>
              <a:spcAft>
                <a:spcPts val="1200"/>
              </a:spcAft>
              <a:buFont typeface="+mj-lt"/>
              <a:buAutoNum type="arabicPeriod"/>
            </a:pPr>
            <a:r>
              <a:rPr lang="ru-RU" sz="2800" b="1" i="0" dirty="0" err="1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Rename</a:t>
            </a:r>
            <a:r>
              <a:rPr lang="ru-RU" sz="2800" b="0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— переименовать (переменную, метод, класс)</a:t>
            </a:r>
          </a:p>
          <a:p>
            <a:pPr algn="just">
              <a:spcBef>
                <a:spcPts val="450"/>
              </a:spcBef>
              <a:spcAft>
                <a:spcPts val="1200"/>
              </a:spcAft>
              <a:buFont typeface="+mj-lt"/>
              <a:buAutoNum type="arabicPeriod"/>
            </a:pPr>
            <a:r>
              <a:rPr lang="ru-RU" sz="2800" b="1" i="0" dirty="0" err="1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Move</a:t>
            </a:r>
            <a:r>
              <a:rPr lang="ru-RU" sz="2800" b="1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800" b="1" i="0" dirty="0" err="1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Method</a:t>
            </a:r>
            <a:r>
              <a:rPr lang="ru-RU" sz="2800" b="1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/Field</a:t>
            </a:r>
            <a:r>
              <a:rPr lang="ru-RU" sz="2800" b="0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— переместить в другой класс</a:t>
            </a:r>
          </a:p>
          <a:p>
            <a:pPr algn="just">
              <a:spcBef>
                <a:spcPts val="450"/>
              </a:spcBef>
              <a:spcAft>
                <a:spcPts val="1200"/>
              </a:spcAft>
              <a:buFont typeface="+mj-lt"/>
              <a:buAutoNum type="arabicPeriod"/>
            </a:pPr>
            <a:r>
              <a:rPr lang="ru-RU" sz="2800" b="1" i="0" dirty="0" err="1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Replace</a:t>
            </a:r>
            <a:r>
              <a:rPr lang="ru-RU" sz="2800" b="1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800" b="1" i="0" dirty="0" err="1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Conditional</a:t>
            </a:r>
            <a:r>
              <a:rPr lang="ru-RU" sz="2800" b="1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800" b="1" i="0" dirty="0" err="1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with</a:t>
            </a:r>
            <a:r>
              <a:rPr lang="ru-RU" sz="2800" b="1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800" b="1" i="0" dirty="0" err="1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Polymorphism</a:t>
            </a:r>
            <a:r>
              <a:rPr lang="ru-RU" sz="2800" b="0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— заменить условия полиморфизмом</a:t>
            </a:r>
          </a:p>
          <a:p>
            <a:pPr algn="just">
              <a:spcBef>
                <a:spcPts val="450"/>
              </a:spcBef>
              <a:spcAft>
                <a:spcPts val="1200"/>
              </a:spcAft>
              <a:buFont typeface="+mj-lt"/>
              <a:buAutoNum type="arabicPeriod"/>
            </a:pPr>
            <a:r>
              <a:rPr lang="ru-RU" sz="2800" b="1" i="0" dirty="0" err="1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Introduce</a:t>
            </a:r>
            <a:r>
              <a:rPr lang="ru-RU" sz="2800" b="1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800" b="1" i="0" dirty="0" err="1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Parameter</a:t>
            </a:r>
            <a:r>
              <a:rPr lang="ru-RU" sz="2800" b="1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Object</a:t>
            </a:r>
            <a:r>
              <a:rPr lang="ru-RU" sz="2800" b="0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— объединить параметры в объект</a:t>
            </a:r>
          </a:p>
        </p:txBody>
      </p:sp>
    </p:spTree>
    <p:extLst>
      <p:ext uri="{BB962C8B-B14F-4D97-AF65-F5344CB8AC3E}">
        <p14:creationId xmlns:p14="http://schemas.microsoft.com/office/powerpoint/2010/main" val="372233196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A95FCB-6E59-E1C0-7574-3CCBCE5F4D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D2DE3E59-1C05-35C7-3C9A-B51AE833A854}"/>
              </a:ext>
            </a:extLst>
          </p:cNvPr>
          <p:cNvSpPr txBox="1"/>
          <p:nvPr/>
        </p:nvSpPr>
        <p:spPr>
          <a:xfrm>
            <a:off x="0" y="0"/>
            <a:ext cx="12192000" cy="504497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250"/>
              </a:lnSpc>
              <a:spcBef>
                <a:spcPts val="2400"/>
              </a:spcBef>
              <a:spcAft>
                <a:spcPts val="1200"/>
              </a:spcAft>
              <a:buNone/>
            </a:pPr>
            <a:r>
              <a:rPr lang="ru-RU" sz="2800" b="1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Правило </a:t>
            </a:r>
            <a:r>
              <a:rPr lang="ru-RU" sz="2800" b="1" dirty="0">
                <a:solidFill>
                  <a:srgbClr val="0F111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участника зарницы</a:t>
            </a:r>
            <a:endParaRPr lang="ru-RU" sz="2800" b="1" dirty="0">
              <a:solidFill>
                <a:srgbClr val="0F1115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ru-RU" sz="2800" b="1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Текст на слайде:</a:t>
            </a:r>
            <a:endParaRPr lang="ru-RU" sz="2800" b="0" i="0" dirty="0">
              <a:solidFill>
                <a:srgbClr val="0F1115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>
              <a:spcBef>
                <a:spcPts val="1200"/>
              </a:spcBef>
              <a:buNone/>
            </a:pPr>
            <a:r>
              <a:rPr lang="ru-RU" sz="2800" b="1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"Оставь место стоянки чище, чем оно было до тебя."</a:t>
            </a:r>
            <a:endParaRPr lang="ru-RU" sz="2800" b="0" i="0" dirty="0">
              <a:solidFill>
                <a:srgbClr val="0F1115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>
              <a:spcBef>
                <a:spcPts val="120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ru-RU" sz="2800" b="0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Если вы коснулись файла — улучшите его</a:t>
            </a:r>
          </a:p>
          <a:p>
            <a:pPr algn="l">
              <a:spcBef>
                <a:spcPts val="45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ru-RU" sz="2800" b="0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Переименуйте плохую переменную</a:t>
            </a:r>
          </a:p>
          <a:p>
            <a:pPr algn="l">
              <a:spcBef>
                <a:spcPts val="45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ru-RU" sz="2800" b="0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Выделите метод из 50 строк</a:t>
            </a:r>
          </a:p>
          <a:p>
            <a:pPr algn="l">
              <a:spcBef>
                <a:spcPts val="45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ru-RU" sz="2800" b="0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Удалите закомментированный код</a:t>
            </a:r>
          </a:p>
          <a:p>
            <a:pPr algn="l">
              <a:spcBef>
                <a:spcPts val="45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ru-RU" sz="2800" b="0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Добавьте тест, если его нет</a:t>
            </a:r>
          </a:p>
        </p:txBody>
      </p:sp>
    </p:spTree>
    <p:extLst>
      <p:ext uri="{BB962C8B-B14F-4D97-AF65-F5344CB8AC3E}">
        <p14:creationId xmlns:p14="http://schemas.microsoft.com/office/powerpoint/2010/main" val="300777571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E1A6DC-D1BD-836D-0494-F2817D31D3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FDC3A34C-43D9-7F35-AF60-70B4813B7E89}"/>
              </a:ext>
            </a:extLst>
          </p:cNvPr>
          <p:cNvSpPr txBox="1"/>
          <p:nvPr/>
        </p:nvSpPr>
        <p:spPr>
          <a:xfrm>
            <a:off x="-1656" y="0"/>
            <a:ext cx="12193656" cy="65864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2400"/>
              </a:spcBef>
              <a:spcAft>
                <a:spcPts val="1200"/>
              </a:spcAft>
              <a:buNone/>
            </a:pPr>
            <a:r>
              <a:rPr lang="ru-RU" sz="2800" b="1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Метрики качества кода</a:t>
            </a:r>
          </a:p>
          <a:p>
            <a:pPr algn="l">
              <a:buFont typeface="+mj-lt"/>
              <a:buAutoNum type="arabicPeriod"/>
            </a:pPr>
            <a:r>
              <a:rPr lang="ru-RU" sz="2400" b="1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Цикломатическая сложность (</a:t>
            </a:r>
            <a:r>
              <a:rPr lang="ru-RU" sz="2400" b="1" i="0" dirty="0" err="1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Cyclomatic</a:t>
            </a:r>
            <a:r>
              <a:rPr lang="ru-RU" sz="2400" b="1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b="1" i="0" dirty="0" err="1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Complexity</a:t>
            </a:r>
            <a:r>
              <a:rPr lang="ru-RU" sz="2400" b="1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ru-RU" sz="2400" b="0" i="0" dirty="0">
              <a:solidFill>
                <a:srgbClr val="0F1115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742950" lvl="1" indent="-285750" algn="l">
              <a:buFont typeface="+mj-lt"/>
              <a:buAutoNum type="arabicPeriod"/>
            </a:pPr>
            <a:r>
              <a:rPr lang="ru-RU" sz="2400" b="0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Количество независимых путей в коде</a:t>
            </a:r>
          </a:p>
          <a:p>
            <a:pPr marL="742950" lvl="1" indent="-285750" algn="l">
              <a:buFont typeface="+mj-lt"/>
              <a:buAutoNum type="arabicPeriod"/>
            </a:pPr>
            <a:r>
              <a:rPr lang="ru-RU" sz="2400" b="0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Чем выше, тем сложнее тестировать</a:t>
            </a:r>
          </a:p>
          <a:p>
            <a:pPr marL="742950" lvl="1" indent="-285750" algn="l">
              <a:buFont typeface="+mj-lt"/>
              <a:buAutoNum type="arabicPeriod"/>
            </a:pPr>
            <a:r>
              <a:rPr lang="ru-RU" sz="2400" b="0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Норма: &lt; 10</a:t>
            </a:r>
          </a:p>
          <a:p>
            <a:pPr algn="l">
              <a:buFont typeface="+mj-lt"/>
              <a:buAutoNum type="arabicPeriod"/>
            </a:pPr>
            <a:r>
              <a:rPr lang="ru-RU" sz="2400" b="1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Покрытие тестами (Code </a:t>
            </a:r>
            <a:r>
              <a:rPr lang="ru-RU" sz="2400" b="1" i="0" dirty="0" err="1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Coverage</a:t>
            </a:r>
            <a:r>
              <a:rPr lang="ru-RU" sz="2400" b="1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ru-RU" sz="2400" b="0" i="0" dirty="0">
              <a:solidFill>
                <a:srgbClr val="0F1115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742950" lvl="1" indent="-285750" algn="l">
              <a:buFont typeface="+mj-lt"/>
              <a:buAutoNum type="arabicPeriod"/>
            </a:pPr>
            <a:r>
              <a:rPr lang="ru-RU" sz="2400" b="0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% строк, выполняемых тестами</a:t>
            </a:r>
          </a:p>
          <a:p>
            <a:pPr marL="742950" lvl="1" indent="-285750" algn="l">
              <a:buFont typeface="+mj-lt"/>
              <a:buAutoNum type="arabicPeriod"/>
            </a:pPr>
            <a:r>
              <a:rPr lang="ru-RU" sz="2400" b="0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Норма: &gt; 80% (но не самоцель)</a:t>
            </a:r>
          </a:p>
          <a:p>
            <a:pPr algn="l">
              <a:buFont typeface="+mj-lt"/>
              <a:buAutoNum type="arabicPeriod"/>
            </a:pPr>
            <a:r>
              <a:rPr lang="ru-RU" sz="2400" b="1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Связанность (</a:t>
            </a:r>
            <a:r>
              <a:rPr lang="ru-RU" sz="2400" b="1" i="0" dirty="0" err="1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Coupling</a:t>
            </a:r>
            <a:r>
              <a:rPr lang="ru-RU" sz="2400" b="1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ru-RU" sz="2400" b="0" i="0" dirty="0">
              <a:solidFill>
                <a:srgbClr val="0F1115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742950" lvl="1" indent="-285750" algn="l">
              <a:buFont typeface="+mj-lt"/>
              <a:buAutoNum type="arabicPeriod"/>
            </a:pPr>
            <a:r>
              <a:rPr lang="ru-RU" sz="2400" b="0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Зависимости между классами</a:t>
            </a:r>
          </a:p>
          <a:p>
            <a:pPr marL="742950" lvl="1" indent="-285750" algn="l">
              <a:buFont typeface="+mj-lt"/>
              <a:buAutoNum type="arabicPeriod"/>
            </a:pPr>
            <a:r>
              <a:rPr lang="ru-RU" sz="2400" b="0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Чем ниже, тем лучше</a:t>
            </a:r>
          </a:p>
          <a:p>
            <a:pPr algn="l">
              <a:buFont typeface="+mj-lt"/>
              <a:buAutoNum type="arabicPeriod"/>
            </a:pPr>
            <a:r>
              <a:rPr lang="ru-RU" sz="2400" b="1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Связность (</a:t>
            </a:r>
            <a:r>
              <a:rPr lang="ru-RU" sz="2400" b="1" i="0" dirty="0" err="1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Cohesion</a:t>
            </a:r>
            <a:r>
              <a:rPr lang="ru-RU" sz="2400" b="1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ru-RU" sz="2400" b="0" i="0" dirty="0">
              <a:solidFill>
                <a:srgbClr val="0F1115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742950" lvl="1" indent="-285750" algn="l">
              <a:buFont typeface="+mj-lt"/>
              <a:buAutoNum type="arabicPeriod"/>
            </a:pPr>
            <a:r>
              <a:rPr lang="ru-RU" sz="2400" b="0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Насколько методы класса связаны</a:t>
            </a:r>
          </a:p>
          <a:p>
            <a:pPr marL="742950" lvl="1" indent="-285750" algn="l">
              <a:buFont typeface="+mj-lt"/>
              <a:buAutoNum type="arabicPeriod"/>
            </a:pPr>
            <a:r>
              <a:rPr lang="ru-RU" sz="2400" b="0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Чем выше, тем лучше</a:t>
            </a:r>
          </a:p>
          <a:p>
            <a:pPr algn="l">
              <a:buFont typeface="+mj-lt"/>
              <a:buAutoNum type="arabicPeriod"/>
            </a:pPr>
            <a:r>
              <a:rPr lang="ru-RU" sz="2400" b="1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Технический долг (SQALE)</a:t>
            </a:r>
            <a:endParaRPr lang="ru-RU" sz="2400" b="0" i="0" dirty="0">
              <a:solidFill>
                <a:srgbClr val="0F1115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742950" lvl="1" indent="-285750" algn="l">
              <a:buFont typeface="+mj-lt"/>
              <a:buAutoNum type="arabicPeriod"/>
            </a:pPr>
            <a:r>
              <a:rPr lang="ru-RU" sz="2400" b="0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Время на исправление проблем</a:t>
            </a:r>
          </a:p>
          <a:p>
            <a:pPr marL="742950" lvl="1" indent="-285750" algn="l">
              <a:buFont typeface="+mj-lt"/>
              <a:buAutoNum type="arabicPeriod"/>
            </a:pPr>
            <a:r>
              <a:rPr lang="ru-RU" sz="2400" b="0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Инструменты: </a:t>
            </a:r>
            <a:r>
              <a:rPr lang="ru-RU" sz="2400" b="0" i="0" dirty="0" err="1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SonarQube</a:t>
            </a:r>
            <a:endParaRPr lang="ru-RU" sz="2400" b="0" i="0" dirty="0">
              <a:solidFill>
                <a:srgbClr val="0F1115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7160383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F1825F-B1CA-6B8D-4A18-1AE737B29D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02287124-DBBC-5C82-2E89-F0302B7DA974}"/>
              </a:ext>
            </a:extLst>
          </p:cNvPr>
          <p:cNvSpPr txBox="1"/>
          <p:nvPr/>
        </p:nvSpPr>
        <p:spPr>
          <a:xfrm>
            <a:off x="-1656" y="0"/>
            <a:ext cx="12193656" cy="4097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250"/>
              </a:lnSpc>
              <a:spcBef>
                <a:spcPts val="2400"/>
              </a:spcBef>
              <a:spcAft>
                <a:spcPts val="1200"/>
              </a:spcAft>
              <a:buNone/>
            </a:pPr>
            <a:r>
              <a:rPr lang="ru-RU" sz="3200" b="1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Инструменты статического анализа</a:t>
            </a:r>
          </a:p>
        </p:txBody>
      </p:sp>
      <p:graphicFrame>
        <p:nvGraphicFramePr>
          <p:cNvPr id="5" name="Таблица 4">
            <a:extLst>
              <a:ext uri="{FF2B5EF4-FFF2-40B4-BE49-F238E27FC236}">
                <a16:creationId xmlns:a16="http://schemas.microsoft.com/office/drawing/2014/main" id="{F8FCFA9A-7ADC-523F-DAD7-C8FFE5F913A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06401636"/>
              </p:ext>
            </p:extLst>
          </p:nvPr>
        </p:nvGraphicFramePr>
        <p:xfrm>
          <a:off x="-1656" y="419429"/>
          <a:ext cx="12193656" cy="6360544"/>
        </p:xfrm>
        <a:graphic>
          <a:graphicData uri="http://schemas.openxmlformats.org/drawingml/2006/table">
            <a:tbl>
              <a:tblPr/>
              <a:tblGrid>
                <a:gridCol w="4064552">
                  <a:extLst>
                    <a:ext uri="{9D8B030D-6E8A-4147-A177-3AD203B41FA5}">
                      <a16:colId xmlns:a16="http://schemas.microsoft.com/office/drawing/2014/main" val="477215974"/>
                    </a:ext>
                  </a:extLst>
                </a:gridCol>
                <a:gridCol w="4064552">
                  <a:extLst>
                    <a:ext uri="{9D8B030D-6E8A-4147-A177-3AD203B41FA5}">
                      <a16:colId xmlns:a16="http://schemas.microsoft.com/office/drawing/2014/main" val="2123606866"/>
                    </a:ext>
                  </a:extLst>
                </a:gridCol>
                <a:gridCol w="4064552">
                  <a:extLst>
                    <a:ext uri="{9D8B030D-6E8A-4147-A177-3AD203B41FA5}">
                      <a16:colId xmlns:a16="http://schemas.microsoft.com/office/drawing/2014/main" val="4289550241"/>
                    </a:ext>
                  </a:extLst>
                </a:gridCol>
              </a:tblGrid>
              <a:tr h="403121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lang="ru-RU" sz="2700" b="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Инструмент</a:t>
                      </a:r>
                    </a:p>
                  </a:txBody>
                  <a:tcPr marL="85367" marR="142278" marT="88924" marB="8892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gradFill flip="none" rotWithShape="1">
                      <a:gsLst>
                        <a:gs pos="0">
                          <a:srgbClr val="FFFFFF">
                            <a:shade val="30000"/>
                            <a:satMod val="115000"/>
                          </a:srgbClr>
                        </a:gs>
                        <a:gs pos="50000">
                          <a:srgbClr val="FFFFFF">
                            <a:shade val="67500"/>
                            <a:satMod val="115000"/>
                          </a:srgbClr>
                        </a:gs>
                        <a:gs pos="100000">
                          <a:srgbClr val="FFFFFF">
                            <a:shade val="100000"/>
                            <a:satMod val="115000"/>
                          </a:srgbClr>
                        </a:gs>
                      </a:gsLst>
                      <a:lin ang="10800000" scaled="1"/>
                      <a:tileRect/>
                    </a:gra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lang="ru-RU" sz="2700" b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Языки</a:t>
                      </a:r>
                    </a:p>
                  </a:txBody>
                  <a:tcPr marL="142278" marR="142278" marT="88924" marB="8892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gradFill flip="none" rotWithShape="1">
                      <a:gsLst>
                        <a:gs pos="0">
                          <a:srgbClr val="FFFFFF">
                            <a:shade val="30000"/>
                            <a:satMod val="115000"/>
                          </a:srgbClr>
                        </a:gs>
                        <a:gs pos="50000">
                          <a:srgbClr val="FFFFFF">
                            <a:shade val="67500"/>
                            <a:satMod val="115000"/>
                          </a:srgbClr>
                        </a:gs>
                        <a:gs pos="100000">
                          <a:srgbClr val="FFFFFF">
                            <a:shade val="100000"/>
                            <a:satMod val="115000"/>
                          </a:srgbClr>
                        </a:gs>
                      </a:gsLst>
                      <a:lin ang="10800000" scaled="1"/>
                      <a:tileRect/>
                    </a:gra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lang="ru-RU" sz="2700" b="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Что делает</a:t>
                      </a:r>
                    </a:p>
                  </a:txBody>
                  <a:tcPr marL="142278" marR="142278" marT="88924" marB="8892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gradFill flip="none" rotWithShape="1">
                      <a:gsLst>
                        <a:gs pos="0">
                          <a:srgbClr val="FFFFFF">
                            <a:shade val="30000"/>
                            <a:satMod val="115000"/>
                          </a:srgbClr>
                        </a:gs>
                        <a:gs pos="50000">
                          <a:srgbClr val="FFFFFF">
                            <a:shade val="67500"/>
                            <a:satMod val="115000"/>
                          </a:srgbClr>
                        </a:gs>
                        <a:gs pos="100000">
                          <a:srgbClr val="FFFFFF">
                            <a:shade val="100000"/>
                            <a:satMod val="115000"/>
                          </a:srgbClr>
                        </a:gs>
                      </a:gsLst>
                      <a:lin ang="10800000" scaled="1"/>
                      <a:tileRect/>
                    </a:gradFill>
                  </a:tcPr>
                </a:tc>
                <a:extLst>
                  <a:ext uri="{0D108BD9-81ED-4DB2-BD59-A6C34878D82A}">
                    <a16:rowId xmlns:a16="http://schemas.microsoft.com/office/drawing/2014/main" val="431699558"/>
                  </a:ext>
                </a:extLst>
              </a:tr>
              <a:tr h="853668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lang="en-US" sz="2700" b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SonarQube</a:t>
                      </a:r>
                      <a:endParaRPr lang="en-US" sz="2700" b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85367" marR="142278" marT="88924" marB="8892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gradFill flip="none" rotWithShape="1">
                      <a:gsLst>
                        <a:gs pos="0">
                          <a:srgbClr val="FFFFFF">
                            <a:shade val="30000"/>
                            <a:satMod val="115000"/>
                          </a:srgbClr>
                        </a:gs>
                        <a:gs pos="50000">
                          <a:srgbClr val="FFFFFF">
                            <a:shade val="67500"/>
                            <a:satMod val="115000"/>
                          </a:srgbClr>
                        </a:gs>
                        <a:gs pos="100000">
                          <a:srgbClr val="FFFFFF">
                            <a:shade val="100000"/>
                            <a:satMod val="115000"/>
                          </a:srgbClr>
                        </a:gs>
                      </a:gsLst>
                      <a:lin ang="10800000" scaled="1"/>
                      <a:tileRect/>
                    </a:gra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lang="ru-RU" sz="2700" b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Все</a:t>
                      </a:r>
                    </a:p>
                  </a:txBody>
                  <a:tcPr marL="142278" marR="142278" marT="88924" marB="8892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gradFill flip="none" rotWithShape="1">
                      <a:gsLst>
                        <a:gs pos="0">
                          <a:srgbClr val="FFFFFF">
                            <a:shade val="30000"/>
                            <a:satMod val="115000"/>
                          </a:srgbClr>
                        </a:gs>
                        <a:gs pos="50000">
                          <a:srgbClr val="FFFFFF">
                            <a:shade val="67500"/>
                            <a:satMod val="115000"/>
                          </a:srgbClr>
                        </a:gs>
                        <a:gs pos="100000">
                          <a:srgbClr val="FFFFFF">
                            <a:shade val="100000"/>
                            <a:satMod val="115000"/>
                          </a:srgbClr>
                        </a:gs>
                      </a:gsLst>
                      <a:lin ang="10800000" scaled="1"/>
                      <a:tileRect/>
                    </a:gra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lang="ru-RU" sz="2700" b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Полный анализ, технический долг, метрики</a:t>
                      </a:r>
                    </a:p>
                  </a:txBody>
                  <a:tcPr marL="142278" marR="85367" marT="88924" marB="8892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gradFill flip="none" rotWithShape="1">
                      <a:gsLst>
                        <a:gs pos="0">
                          <a:srgbClr val="FFFFFF">
                            <a:shade val="30000"/>
                            <a:satMod val="115000"/>
                          </a:srgbClr>
                        </a:gs>
                        <a:gs pos="50000">
                          <a:srgbClr val="FFFFFF">
                            <a:shade val="67500"/>
                            <a:satMod val="115000"/>
                          </a:srgbClr>
                        </a:gs>
                        <a:gs pos="100000">
                          <a:srgbClr val="FFFFFF">
                            <a:shade val="100000"/>
                            <a:satMod val="115000"/>
                          </a:srgbClr>
                        </a:gs>
                      </a:gsLst>
                      <a:lin ang="10800000" scaled="1"/>
                      <a:tileRect/>
                    </a:gradFill>
                  </a:tcPr>
                </a:tc>
                <a:extLst>
                  <a:ext uri="{0D108BD9-81ED-4DB2-BD59-A6C34878D82A}">
                    <a16:rowId xmlns:a16="http://schemas.microsoft.com/office/drawing/2014/main" val="3010056182"/>
                  </a:ext>
                </a:extLst>
              </a:tr>
              <a:tr h="62839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lang="en-US" sz="2700" b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SonarLint</a:t>
                      </a:r>
                      <a:endParaRPr lang="en-US" sz="2700" b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85367" marR="142278" marT="88924" marB="8892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gradFill flip="none" rotWithShape="1">
                      <a:gsLst>
                        <a:gs pos="0">
                          <a:srgbClr val="FFFFFF">
                            <a:shade val="30000"/>
                            <a:satMod val="115000"/>
                          </a:srgbClr>
                        </a:gs>
                        <a:gs pos="50000">
                          <a:srgbClr val="FFFFFF">
                            <a:shade val="67500"/>
                            <a:satMod val="115000"/>
                          </a:srgbClr>
                        </a:gs>
                        <a:gs pos="100000">
                          <a:srgbClr val="FFFFFF">
                            <a:shade val="100000"/>
                            <a:satMod val="115000"/>
                          </a:srgbClr>
                        </a:gs>
                      </a:gsLst>
                      <a:lin ang="10800000" scaled="1"/>
                      <a:tileRect/>
                    </a:gra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lang="ru-RU" sz="2700" b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Все</a:t>
                      </a:r>
                    </a:p>
                  </a:txBody>
                  <a:tcPr marL="142278" marR="142278" marT="88924" marB="8892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gradFill flip="none" rotWithShape="1">
                      <a:gsLst>
                        <a:gs pos="0">
                          <a:srgbClr val="FFFFFF">
                            <a:shade val="30000"/>
                            <a:satMod val="115000"/>
                          </a:srgbClr>
                        </a:gs>
                        <a:gs pos="50000">
                          <a:srgbClr val="FFFFFF">
                            <a:shade val="67500"/>
                            <a:satMod val="115000"/>
                          </a:srgbClr>
                        </a:gs>
                        <a:gs pos="100000">
                          <a:srgbClr val="FFFFFF">
                            <a:shade val="100000"/>
                            <a:satMod val="115000"/>
                          </a:srgbClr>
                        </a:gs>
                      </a:gsLst>
                      <a:lin ang="10800000" scaled="1"/>
                      <a:tileRect/>
                    </a:gra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lang="ru-RU" sz="2700" b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Анализ в IDE (прямо при написании)</a:t>
                      </a:r>
                    </a:p>
                  </a:txBody>
                  <a:tcPr marL="142278" marR="85367" marT="88924" marB="8892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gradFill flip="none" rotWithShape="1">
                      <a:gsLst>
                        <a:gs pos="0">
                          <a:srgbClr val="FFFFFF">
                            <a:shade val="30000"/>
                            <a:satMod val="115000"/>
                          </a:srgbClr>
                        </a:gs>
                        <a:gs pos="50000">
                          <a:srgbClr val="FFFFFF">
                            <a:shade val="67500"/>
                            <a:satMod val="115000"/>
                          </a:srgbClr>
                        </a:gs>
                        <a:gs pos="100000">
                          <a:srgbClr val="FFFFFF">
                            <a:shade val="100000"/>
                            <a:satMod val="115000"/>
                          </a:srgbClr>
                        </a:gs>
                      </a:gsLst>
                      <a:lin ang="10800000" scaled="1"/>
                      <a:tileRect/>
                    </a:gradFill>
                  </a:tcPr>
                </a:tc>
                <a:extLst>
                  <a:ext uri="{0D108BD9-81ED-4DB2-BD59-A6C34878D82A}">
                    <a16:rowId xmlns:a16="http://schemas.microsoft.com/office/drawing/2014/main" val="1018637443"/>
                  </a:ext>
                </a:extLst>
              </a:tr>
              <a:tr h="403121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lang="en-US" sz="2700" b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ESLint</a:t>
                      </a:r>
                      <a:endParaRPr lang="en-US" sz="2700" b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85367" marR="142278" marT="88924" marB="8892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gradFill flip="none" rotWithShape="1">
                      <a:gsLst>
                        <a:gs pos="0">
                          <a:srgbClr val="FFFFFF">
                            <a:shade val="30000"/>
                            <a:satMod val="115000"/>
                          </a:srgbClr>
                        </a:gs>
                        <a:gs pos="50000">
                          <a:srgbClr val="FFFFFF">
                            <a:shade val="67500"/>
                            <a:satMod val="115000"/>
                          </a:srgbClr>
                        </a:gs>
                        <a:gs pos="100000">
                          <a:srgbClr val="FFFFFF">
                            <a:shade val="100000"/>
                            <a:satMod val="115000"/>
                          </a:srgbClr>
                        </a:gs>
                      </a:gsLst>
                      <a:lin ang="10800000" scaled="1"/>
                      <a:tileRect/>
                    </a:gra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lang="en-US" sz="2700" b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JavaScript/TypeScript</a:t>
                      </a:r>
                    </a:p>
                  </a:txBody>
                  <a:tcPr marL="142278" marR="142278" marT="88924" marB="8892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gradFill flip="none" rotWithShape="1">
                      <a:gsLst>
                        <a:gs pos="0">
                          <a:srgbClr val="FFFFFF">
                            <a:shade val="30000"/>
                            <a:satMod val="115000"/>
                          </a:srgbClr>
                        </a:gs>
                        <a:gs pos="50000">
                          <a:srgbClr val="FFFFFF">
                            <a:shade val="67500"/>
                            <a:satMod val="115000"/>
                          </a:srgbClr>
                        </a:gs>
                        <a:gs pos="100000">
                          <a:srgbClr val="FFFFFF">
                            <a:shade val="100000"/>
                            <a:satMod val="115000"/>
                          </a:srgbClr>
                        </a:gs>
                      </a:gsLst>
                      <a:lin ang="10800000" scaled="1"/>
                      <a:tileRect/>
                    </a:gra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lang="ru-RU" sz="2700" b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Линтер для </a:t>
                      </a:r>
                      <a:r>
                        <a:rPr lang="en-US" sz="2700" b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JS</a:t>
                      </a:r>
                    </a:p>
                  </a:txBody>
                  <a:tcPr marL="142278" marR="85367" marT="88924" marB="8892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gradFill flip="none" rotWithShape="1">
                      <a:gsLst>
                        <a:gs pos="0">
                          <a:srgbClr val="FFFFFF">
                            <a:shade val="30000"/>
                            <a:satMod val="115000"/>
                          </a:srgbClr>
                        </a:gs>
                        <a:gs pos="50000">
                          <a:srgbClr val="FFFFFF">
                            <a:shade val="67500"/>
                            <a:satMod val="115000"/>
                          </a:srgbClr>
                        </a:gs>
                        <a:gs pos="100000">
                          <a:srgbClr val="FFFFFF">
                            <a:shade val="100000"/>
                            <a:satMod val="115000"/>
                          </a:srgbClr>
                        </a:gs>
                      </a:gsLst>
                      <a:lin ang="10800000" scaled="1"/>
                      <a:tileRect/>
                    </a:gradFill>
                  </a:tcPr>
                </a:tc>
                <a:extLst>
                  <a:ext uri="{0D108BD9-81ED-4DB2-BD59-A6C34878D82A}">
                    <a16:rowId xmlns:a16="http://schemas.microsoft.com/office/drawing/2014/main" val="2264230724"/>
                  </a:ext>
                </a:extLst>
              </a:tr>
              <a:tr h="403121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lang="en-US" sz="2700" b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Checkstyle</a:t>
                      </a:r>
                      <a:endParaRPr lang="en-US" sz="2700" b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85367" marR="142278" marT="88924" marB="8892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gradFill flip="none" rotWithShape="1">
                      <a:gsLst>
                        <a:gs pos="0">
                          <a:srgbClr val="FFFFFF">
                            <a:shade val="30000"/>
                            <a:satMod val="115000"/>
                          </a:srgbClr>
                        </a:gs>
                        <a:gs pos="50000">
                          <a:srgbClr val="FFFFFF">
                            <a:shade val="67500"/>
                            <a:satMod val="115000"/>
                          </a:srgbClr>
                        </a:gs>
                        <a:gs pos="100000">
                          <a:srgbClr val="FFFFFF">
                            <a:shade val="100000"/>
                            <a:satMod val="115000"/>
                          </a:srgbClr>
                        </a:gs>
                      </a:gsLst>
                      <a:lin ang="10800000" scaled="1"/>
                      <a:tileRect/>
                    </a:gra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lang="en-US" sz="2700" b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Java</a:t>
                      </a:r>
                    </a:p>
                  </a:txBody>
                  <a:tcPr marL="142278" marR="142278" marT="88924" marB="8892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gradFill flip="none" rotWithShape="1">
                      <a:gsLst>
                        <a:gs pos="0">
                          <a:srgbClr val="FFFFFF">
                            <a:shade val="30000"/>
                            <a:satMod val="115000"/>
                          </a:srgbClr>
                        </a:gs>
                        <a:gs pos="50000">
                          <a:srgbClr val="FFFFFF">
                            <a:shade val="67500"/>
                            <a:satMod val="115000"/>
                          </a:srgbClr>
                        </a:gs>
                        <a:gs pos="100000">
                          <a:srgbClr val="FFFFFF">
                            <a:shade val="100000"/>
                            <a:satMod val="115000"/>
                          </a:srgbClr>
                        </a:gs>
                      </a:gsLst>
                      <a:lin ang="10800000" scaled="1"/>
                      <a:tileRect/>
                    </a:gra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lang="ru-RU" sz="2700" b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Проверка стиля</a:t>
                      </a:r>
                    </a:p>
                  </a:txBody>
                  <a:tcPr marL="142278" marR="85367" marT="88924" marB="8892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gradFill flip="none" rotWithShape="1">
                      <a:gsLst>
                        <a:gs pos="0">
                          <a:srgbClr val="FFFFFF">
                            <a:shade val="30000"/>
                            <a:satMod val="115000"/>
                          </a:srgbClr>
                        </a:gs>
                        <a:gs pos="50000">
                          <a:srgbClr val="FFFFFF">
                            <a:shade val="67500"/>
                            <a:satMod val="115000"/>
                          </a:srgbClr>
                        </a:gs>
                        <a:gs pos="100000">
                          <a:srgbClr val="FFFFFF">
                            <a:shade val="100000"/>
                            <a:satMod val="115000"/>
                          </a:srgbClr>
                        </a:gs>
                      </a:gsLst>
                      <a:lin ang="10800000" scaled="1"/>
                      <a:tileRect/>
                    </a:gradFill>
                  </a:tcPr>
                </a:tc>
                <a:extLst>
                  <a:ext uri="{0D108BD9-81ED-4DB2-BD59-A6C34878D82A}">
                    <a16:rowId xmlns:a16="http://schemas.microsoft.com/office/drawing/2014/main" val="269207202"/>
                  </a:ext>
                </a:extLst>
              </a:tr>
              <a:tr h="853668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lang="en-US" sz="2700" b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PMD</a:t>
                      </a:r>
                      <a:endParaRPr lang="en-US" sz="2700" b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85367" marR="142278" marT="88924" marB="8892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gradFill flip="none" rotWithShape="1">
                      <a:gsLst>
                        <a:gs pos="0">
                          <a:srgbClr val="FFFFFF">
                            <a:shade val="30000"/>
                            <a:satMod val="115000"/>
                          </a:srgbClr>
                        </a:gs>
                        <a:gs pos="50000">
                          <a:srgbClr val="FFFFFF">
                            <a:shade val="67500"/>
                            <a:satMod val="115000"/>
                          </a:srgbClr>
                        </a:gs>
                        <a:gs pos="100000">
                          <a:srgbClr val="FFFFFF">
                            <a:shade val="100000"/>
                            <a:satMod val="115000"/>
                          </a:srgbClr>
                        </a:gs>
                      </a:gsLst>
                      <a:lin ang="10800000" scaled="1"/>
                      <a:tileRect/>
                    </a:gra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lang="en-US" sz="2700" b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Java</a:t>
                      </a:r>
                    </a:p>
                  </a:txBody>
                  <a:tcPr marL="142278" marR="142278" marT="88924" marB="8892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gradFill flip="none" rotWithShape="1">
                      <a:gsLst>
                        <a:gs pos="0">
                          <a:srgbClr val="FFFFFF">
                            <a:shade val="30000"/>
                            <a:satMod val="115000"/>
                          </a:srgbClr>
                        </a:gs>
                        <a:gs pos="50000">
                          <a:srgbClr val="FFFFFF">
                            <a:shade val="67500"/>
                            <a:satMod val="115000"/>
                          </a:srgbClr>
                        </a:gs>
                        <a:gs pos="100000">
                          <a:srgbClr val="FFFFFF">
                            <a:shade val="100000"/>
                            <a:satMod val="115000"/>
                          </a:srgbClr>
                        </a:gs>
                      </a:gsLst>
                      <a:lin ang="10800000" scaled="1"/>
                      <a:tileRect/>
                    </a:gra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lang="ru-RU" sz="2700" b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Поиск потенциальных проблем</a:t>
                      </a:r>
                    </a:p>
                  </a:txBody>
                  <a:tcPr marL="142278" marR="85367" marT="88924" marB="8892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gradFill flip="none" rotWithShape="1">
                      <a:gsLst>
                        <a:gs pos="0">
                          <a:srgbClr val="FFFFFF">
                            <a:shade val="30000"/>
                            <a:satMod val="115000"/>
                          </a:srgbClr>
                        </a:gs>
                        <a:gs pos="50000">
                          <a:srgbClr val="FFFFFF">
                            <a:shade val="67500"/>
                            <a:satMod val="115000"/>
                          </a:srgbClr>
                        </a:gs>
                        <a:gs pos="100000">
                          <a:srgbClr val="FFFFFF">
                            <a:shade val="100000"/>
                            <a:satMod val="115000"/>
                          </a:srgbClr>
                        </a:gs>
                      </a:gsLst>
                      <a:lin ang="10800000" scaled="1"/>
                      <a:tileRect/>
                    </a:gradFill>
                  </a:tcPr>
                </a:tc>
                <a:extLst>
                  <a:ext uri="{0D108BD9-81ED-4DB2-BD59-A6C34878D82A}">
                    <a16:rowId xmlns:a16="http://schemas.microsoft.com/office/drawing/2014/main" val="1670514481"/>
                  </a:ext>
                </a:extLst>
              </a:tr>
              <a:tr h="403121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lang="en-US" sz="2700" b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FindBugs/SpotBugs</a:t>
                      </a:r>
                      <a:endParaRPr lang="en-US" sz="2700" b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85367" marR="142278" marT="88924" marB="8892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gradFill flip="none" rotWithShape="1">
                      <a:gsLst>
                        <a:gs pos="0">
                          <a:srgbClr val="FFFFFF">
                            <a:shade val="30000"/>
                            <a:satMod val="115000"/>
                          </a:srgbClr>
                        </a:gs>
                        <a:gs pos="50000">
                          <a:srgbClr val="FFFFFF">
                            <a:shade val="67500"/>
                            <a:satMod val="115000"/>
                          </a:srgbClr>
                        </a:gs>
                        <a:gs pos="100000">
                          <a:srgbClr val="FFFFFF">
                            <a:shade val="100000"/>
                            <a:satMod val="115000"/>
                          </a:srgbClr>
                        </a:gs>
                      </a:gsLst>
                      <a:lin ang="10800000" scaled="1"/>
                      <a:tileRect/>
                    </a:gra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lang="en-US" sz="2700" b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Java</a:t>
                      </a:r>
                    </a:p>
                  </a:txBody>
                  <a:tcPr marL="142278" marR="142278" marT="88924" marB="8892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gradFill flip="none" rotWithShape="1">
                      <a:gsLst>
                        <a:gs pos="0">
                          <a:srgbClr val="FFFFFF">
                            <a:shade val="30000"/>
                            <a:satMod val="115000"/>
                          </a:srgbClr>
                        </a:gs>
                        <a:gs pos="50000">
                          <a:srgbClr val="FFFFFF">
                            <a:shade val="67500"/>
                            <a:satMod val="115000"/>
                          </a:srgbClr>
                        </a:gs>
                        <a:gs pos="100000">
                          <a:srgbClr val="FFFFFF">
                            <a:shade val="100000"/>
                            <a:satMod val="115000"/>
                          </a:srgbClr>
                        </a:gs>
                      </a:gsLst>
                      <a:lin ang="10800000" scaled="1"/>
                      <a:tileRect/>
                    </a:gra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lang="ru-RU" sz="2700" b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Поиск багов</a:t>
                      </a:r>
                    </a:p>
                  </a:txBody>
                  <a:tcPr marL="142278" marR="85367" marT="88924" marB="8892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gradFill flip="none" rotWithShape="1">
                      <a:gsLst>
                        <a:gs pos="0">
                          <a:srgbClr val="FFFFFF">
                            <a:shade val="30000"/>
                            <a:satMod val="115000"/>
                          </a:srgbClr>
                        </a:gs>
                        <a:gs pos="50000">
                          <a:srgbClr val="FFFFFF">
                            <a:shade val="67500"/>
                            <a:satMod val="115000"/>
                          </a:srgbClr>
                        </a:gs>
                        <a:gs pos="100000">
                          <a:srgbClr val="FFFFFF">
                            <a:shade val="100000"/>
                            <a:satMod val="115000"/>
                          </a:srgbClr>
                        </a:gs>
                      </a:gsLst>
                      <a:lin ang="10800000" scaled="1"/>
                      <a:tileRect/>
                    </a:gradFill>
                  </a:tcPr>
                </a:tc>
                <a:extLst>
                  <a:ext uri="{0D108BD9-81ED-4DB2-BD59-A6C34878D82A}">
                    <a16:rowId xmlns:a16="http://schemas.microsoft.com/office/drawing/2014/main" val="485911905"/>
                  </a:ext>
                </a:extLst>
              </a:tr>
              <a:tr h="403121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lang="en-US" sz="2700" b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PyLint</a:t>
                      </a:r>
                      <a:endParaRPr lang="en-US" sz="2700" b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85367" marR="142278" marT="88924" marB="8892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gradFill flip="none" rotWithShape="1">
                      <a:gsLst>
                        <a:gs pos="0">
                          <a:srgbClr val="FFFFFF">
                            <a:shade val="30000"/>
                            <a:satMod val="115000"/>
                          </a:srgbClr>
                        </a:gs>
                        <a:gs pos="50000">
                          <a:srgbClr val="FFFFFF">
                            <a:shade val="67500"/>
                            <a:satMod val="115000"/>
                          </a:srgbClr>
                        </a:gs>
                        <a:gs pos="100000">
                          <a:srgbClr val="FFFFFF">
                            <a:shade val="100000"/>
                            <a:satMod val="115000"/>
                          </a:srgbClr>
                        </a:gs>
                      </a:gsLst>
                      <a:lin ang="10800000" scaled="1"/>
                      <a:tileRect/>
                    </a:gra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lang="en-US" sz="2700" b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Python</a:t>
                      </a:r>
                    </a:p>
                  </a:txBody>
                  <a:tcPr marL="142278" marR="142278" marT="88924" marB="8892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gradFill flip="none" rotWithShape="1">
                      <a:gsLst>
                        <a:gs pos="0">
                          <a:srgbClr val="FFFFFF">
                            <a:shade val="30000"/>
                            <a:satMod val="115000"/>
                          </a:srgbClr>
                        </a:gs>
                        <a:gs pos="50000">
                          <a:srgbClr val="FFFFFF">
                            <a:shade val="67500"/>
                            <a:satMod val="115000"/>
                          </a:srgbClr>
                        </a:gs>
                        <a:gs pos="100000">
                          <a:srgbClr val="FFFFFF">
                            <a:shade val="100000"/>
                            <a:satMod val="115000"/>
                          </a:srgbClr>
                        </a:gs>
                      </a:gsLst>
                      <a:lin ang="10800000" scaled="1"/>
                      <a:tileRect/>
                    </a:gra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lang="ru-RU" sz="2700" b="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Линтер для </a:t>
                      </a:r>
                      <a:r>
                        <a:rPr lang="en-US" sz="2700" b="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Python</a:t>
                      </a:r>
                    </a:p>
                  </a:txBody>
                  <a:tcPr marL="142278" marR="85367" marT="88924" marB="8892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gradFill flip="none" rotWithShape="1">
                      <a:gsLst>
                        <a:gs pos="0">
                          <a:srgbClr val="FFFFFF">
                            <a:shade val="30000"/>
                            <a:satMod val="115000"/>
                          </a:srgbClr>
                        </a:gs>
                        <a:gs pos="50000">
                          <a:srgbClr val="FFFFFF">
                            <a:shade val="67500"/>
                            <a:satMod val="115000"/>
                          </a:srgbClr>
                        </a:gs>
                        <a:gs pos="100000">
                          <a:srgbClr val="FFFFFF">
                            <a:shade val="100000"/>
                            <a:satMod val="115000"/>
                          </a:srgbClr>
                        </a:gs>
                      </a:gsLst>
                      <a:lin ang="10800000" scaled="1"/>
                      <a:tileRect/>
                    </a:gradFill>
                  </a:tcPr>
                </a:tc>
                <a:extLst>
                  <a:ext uri="{0D108BD9-81ED-4DB2-BD59-A6C34878D82A}">
                    <a16:rowId xmlns:a16="http://schemas.microsoft.com/office/drawing/2014/main" val="414159094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02081566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D3FDE5-7BB9-40BD-2365-3DDC398C5E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04B78C9D-0A00-BE48-6188-3341B8E7C7B2}"/>
              </a:ext>
            </a:extLst>
          </p:cNvPr>
          <p:cNvSpPr txBox="1"/>
          <p:nvPr/>
        </p:nvSpPr>
        <p:spPr>
          <a:xfrm>
            <a:off x="-1656" y="0"/>
            <a:ext cx="12193656" cy="4097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250"/>
              </a:lnSpc>
              <a:spcBef>
                <a:spcPts val="2400"/>
              </a:spcBef>
              <a:spcAft>
                <a:spcPts val="1200"/>
              </a:spcAft>
              <a:buNone/>
            </a:pPr>
            <a:r>
              <a:rPr lang="ru-RU" sz="3200" b="1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Демо </a:t>
            </a:r>
            <a:r>
              <a:rPr lang="en-US" sz="3200" b="1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SonarQube (</a:t>
            </a:r>
            <a:r>
              <a:rPr lang="ru-RU" sz="3200" b="1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описательно)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F544C6D-D317-18D6-A84F-3B4B184E14D0}"/>
              </a:ext>
            </a:extLst>
          </p:cNvPr>
          <p:cNvSpPr txBox="1"/>
          <p:nvPr/>
        </p:nvSpPr>
        <p:spPr>
          <a:xfrm>
            <a:off x="-1656" y="853708"/>
            <a:ext cx="12193656" cy="48320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latinLnBrk="1">
              <a:buNone/>
            </a:pPr>
            <a:r>
              <a:rPr lang="en-US" sz="2800" b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SonarQube Dashboard:</a:t>
            </a:r>
          </a:p>
          <a:p>
            <a:pPr algn="l" latinLnBrk="1">
              <a:buNone/>
            </a:pPr>
            <a:endParaRPr lang="en-US" sz="2800" b="0" dirty="0">
              <a:solidFill>
                <a:srgbClr val="0F1115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 latinLnBrk="1">
              <a:buNone/>
            </a:pPr>
            <a:r>
              <a:rPr lang="ru-RU" sz="2800" b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Проект: "Интернет-магазин"</a:t>
            </a:r>
          </a:p>
          <a:p>
            <a:pPr algn="l" latinLnBrk="1">
              <a:buNone/>
            </a:pPr>
            <a:r>
              <a:rPr lang="ru-RU" sz="2800" b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Технический долг: 2 дня 4 часа</a:t>
            </a:r>
          </a:p>
          <a:p>
            <a:pPr algn="l" latinLnBrk="1">
              <a:buNone/>
            </a:pPr>
            <a:r>
              <a:rPr lang="ru-RU" sz="2800" b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Проблем: 127 (15 багов, 42 запаха, 70 уязвимостей)</a:t>
            </a:r>
          </a:p>
          <a:p>
            <a:pPr algn="l" latinLnBrk="1">
              <a:buNone/>
            </a:pPr>
            <a:r>
              <a:rPr lang="ru-RU" sz="2800" b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Покрытие тестами: 67%</a:t>
            </a:r>
          </a:p>
          <a:p>
            <a:pPr algn="l" latinLnBrk="1">
              <a:buNone/>
            </a:pPr>
            <a:r>
              <a:rPr lang="ru-RU" sz="2800" b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Дублирование: 8.3%</a:t>
            </a:r>
          </a:p>
          <a:p>
            <a:pPr algn="l" latinLnBrk="1">
              <a:buNone/>
            </a:pPr>
            <a:endParaRPr lang="ru-RU" sz="2800" b="0" dirty="0">
              <a:solidFill>
                <a:srgbClr val="0F1115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 latinLnBrk="1">
              <a:buNone/>
            </a:pPr>
            <a:r>
              <a:rPr lang="ru-RU" sz="2800" b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Самые проблемные файлы:</a:t>
            </a:r>
          </a:p>
          <a:p>
            <a:pPr algn="l" latinLnBrk="1">
              <a:buNone/>
            </a:pPr>
            <a:r>
              <a:rPr lang="ru-RU" sz="2800" b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- </a:t>
            </a:r>
            <a:r>
              <a:rPr lang="en-US" sz="2800" b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OrderProcessor.java - 5 </a:t>
            </a:r>
            <a:r>
              <a:rPr lang="ru-RU" sz="2800" b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часов долга</a:t>
            </a:r>
          </a:p>
          <a:p>
            <a:pPr algn="l" latinLnBrk="1">
              <a:buNone/>
            </a:pPr>
            <a:r>
              <a:rPr lang="ru-RU" sz="2800" b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- </a:t>
            </a:r>
            <a:r>
              <a:rPr lang="en-US" sz="2800" b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PaymentService.java - 3 </a:t>
            </a:r>
            <a:r>
              <a:rPr lang="ru-RU" sz="2800" b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часа долга</a:t>
            </a:r>
          </a:p>
        </p:txBody>
      </p:sp>
    </p:spTree>
    <p:extLst>
      <p:ext uri="{BB962C8B-B14F-4D97-AF65-F5344CB8AC3E}">
        <p14:creationId xmlns:p14="http://schemas.microsoft.com/office/powerpoint/2010/main" val="99439913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773B384-0C01-2EDC-CFC8-2F0C29CB92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7763433D-78A3-32C2-6F4D-FD27D61A6EE1}"/>
              </a:ext>
            </a:extLst>
          </p:cNvPr>
          <p:cNvSpPr txBox="1"/>
          <p:nvPr/>
        </p:nvSpPr>
        <p:spPr>
          <a:xfrm>
            <a:off x="0" y="19878"/>
            <a:ext cx="12192000" cy="4097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250"/>
              </a:lnSpc>
              <a:spcBef>
                <a:spcPts val="2400"/>
              </a:spcBef>
              <a:spcAft>
                <a:spcPts val="1200"/>
              </a:spcAft>
              <a:buNone/>
            </a:pPr>
            <a:r>
              <a:rPr lang="ru-RU" sz="3200" b="1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Как управлять техническим долгом?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393F094-32EB-5685-8EB4-71F970088C4A}"/>
              </a:ext>
            </a:extLst>
          </p:cNvPr>
          <p:cNvSpPr txBox="1"/>
          <p:nvPr/>
        </p:nvSpPr>
        <p:spPr>
          <a:xfrm>
            <a:off x="0" y="909516"/>
            <a:ext cx="12192000" cy="44165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1200"/>
              </a:spcBef>
              <a:spcAft>
                <a:spcPts val="1200"/>
              </a:spcAft>
              <a:buFont typeface="+mj-lt"/>
              <a:buAutoNum type="arabicPeriod"/>
            </a:pPr>
            <a:r>
              <a:rPr lang="ru-RU" sz="2800" b="1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Осознавайте</a:t>
            </a:r>
            <a:r>
              <a:rPr lang="ru-RU" sz="2800" b="0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— понимайте, что берёте кредит</a:t>
            </a:r>
          </a:p>
          <a:p>
            <a:pPr algn="l">
              <a:spcBef>
                <a:spcPts val="450"/>
              </a:spcBef>
              <a:spcAft>
                <a:spcPts val="1200"/>
              </a:spcAft>
              <a:buFont typeface="+mj-lt"/>
              <a:buAutoNum type="arabicPeriod"/>
            </a:pPr>
            <a:r>
              <a:rPr lang="ru-RU" sz="2800" b="1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Документируйте</a:t>
            </a:r>
            <a:r>
              <a:rPr lang="ru-RU" sz="2800" b="0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— пишите TODO с датой и автором</a:t>
            </a:r>
          </a:p>
          <a:p>
            <a:pPr algn="l">
              <a:spcBef>
                <a:spcPts val="450"/>
              </a:spcBef>
              <a:spcAft>
                <a:spcPts val="1200"/>
              </a:spcAft>
              <a:buFont typeface="+mj-lt"/>
              <a:buAutoNum type="arabicPeriod"/>
            </a:pPr>
            <a:r>
              <a:rPr lang="ru-RU" sz="2800" b="1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Планируйте</a:t>
            </a:r>
            <a:r>
              <a:rPr lang="ru-RU" sz="2800" b="0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— выделяйте время на рефакторинг</a:t>
            </a:r>
          </a:p>
          <a:p>
            <a:pPr algn="l">
              <a:spcBef>
                <a:spcPts val="450"/>
              </a:spcBef>
              <a:spcAft>
                <a:spcPts val="1200"/>
              </a:spcAft>
              <a:buFont typeface="+mj-lt"/>
              <a:buAutoNum type="arabicPeriod"/>
            </a:pPr>
            <a:r>
              <a:rPr lang="ru-RU" sz="2800" b="1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Измеряйте</a:t>
            </a:r>
            <a:r>
              <a:rPr lang="ru-RU" sz="2800" b="0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— используйте метрики</a:t>
            </a:r>
          </a:p>
          <a:p>
            <a:pPr algn="l">
              <a:spcBef>
                <a:spcPts val="450"/>
              </a:spcBef>
              <a:spcAft>
                <a:spcPts val="1200"/>
              </a:spcAft>
              <a:buFont typeface="+mj-lt"/>
              <a:buAutoNum type="arabicPeriod"/>
            </a:pPr>
            <a:r>
              <a:rPr lang="ru-RU" sz="2800" b="1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Автоматизируйте</a:t>
            </a:r>
            <a:r>
              <a:rPr lang="ru-RU" sz="2800" b="0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— линтеры, CI/CD, </a:t>
            </a:r>
            <a:r>
              <a:rPr lang="ru-RU" sz="2800" b="0" i="0" dirty="0" err="1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SonarQube</a:t>
            </a:r>
            <a:endParaRPr lang="ru-RU" sz="2800" b="0" i="0" dirty="0">
              <a:solidFill>
                <a:srgbClr val="0F1115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>
              <a:spcBef>
                <a:spcPts val="450"/>
              </a:spcBef>
              <a:spcAft>
                <a:spcPts val="1200"/>
              </a:spcAft>
              <a:buFont typeface="+mj-lt"/>
              <a:buAutoNum type="arabicPeriod"/>
            </a:pPr>
            <a:r>
              <a:rPr lang="ru-RU" sz="2800" b="1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Не копируйте</a:t>
            </a:r>
            <a:r>
              <a:rPr lang="ru-RU" sz="2800" b="0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— боритесь с дублированием</a:t>
            </a:r>
          </a:p>
          <a:p>
            <a:pPr algn="l">
              <a:spcBef>
                <a:spcPts val="450"/>
              </a:spcBef>
              <a:spcAft>
                <a:spcPts val="1200"/>
              </a:spcAft>
              <a:buFont typeface="+mj-lt"/>
              <a:buAutoNum type="arabicPeriod"/>
            </a:pPr>
            <a:r>
              <a:rPr lang="ru-RU" sz="2800" b="1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Пишите тесты</a:t>
            </a:r>
            <a:r>
              <a:rPr lang="ru-RU" sz="2800" b="0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— они страхуют при рефакторинге</a:t>
            </a:r>
          </a:p>
        </p:txBody>
      </p:sp>
    </p:spTree>
    <p:extLst>
      <p:ext uri="{BB962C8B-B14F-4D97-AF65-F5344CB8AC3E}">
        <p14:creationId xmlns:p14="http://schemas.microsoft.com/office/powerpoint/2010/main" val="274600625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505084-7FA1-EEE4-8A71-EBAF4993A4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6AB86827-F6D5-1890-53D3-2B8DC9AED0AA}"/>
              </a:ext>
            </a:extLst>
          </p:cNvPr>
          <p:cNvSpPr txBox="1"/>
          <p:nvPr/>
        </p:nvSpPr>
        <p:spPr>
          <a:xfrm>
            <a:off x="-1656" y="0"/>
            <a:ext cx="12193656" cy="4097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250"/>
              </a:lnSpc>
              <a:spcBef>
                <a:spcPts val="2400"/>
              </a:spcBef>
              <a:spcAft>
                <a:spcPts val="1200"/>
              </a:spcAft>
              <a:buNone/>
            </a:pPr>
            <a:r>
              <a:rPr lang="ru-RU" sz="3200" b="1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Истории из жизни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1E1CCB6-DBB7-5783-C454-74F6DDA6543E}"/>
              </a:ext>
            </a:extLst>
          </p:cNvPr>
          <p:cNvSpPr txBox="1"/>
          <p:nvPr/>
        </p:nvSpPr>
        <p:spPr>
          <a:xfrm>
            <a:off x="0" y="371907"/>
            <a:ext cx="12192000" cy="48320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buNone/>
            </a:pPr>
            <a:r>
              <a:rPr lang="ru-RU" sz="2800" b="1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Кейс 1: Копипаст убил проект</a:t>
            </a:r>
            <a:endParaRPr lang="ru-RU" sz="2800" b="0" i="0" dirty="0">
              <a:solidFill>
                <a:srgbClr val="0F1115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buFont typeface="Arial" panose="020B0604020202020204" pitchFamily="34" charset="0"/>
              <a:buChar char="•"/>
            </a:pPr>
            <a:r>
              <a:rPr lang="ru-RU" sz="2800" b="0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Стартап копировал код модуля оплаты в каждый новый проект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ru-RU" sz="2800" b="0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Нашли уязвимость — исправляли в 15 местах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ru-RU" sz="2800" b="0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В 2 местах забыли исправить — утечка данных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ru-RU" sz="2800" b="0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Проект закрылся, уязвимость стоила репутации</a:t>
            </a:r>
          </a:p>
          <a:p>
            <a:pPr algn="just">
              <a:buNone/>
            </a:pPr>
            <a:r>
              <a:rPr lang="ru-RU" sz="2800" b="1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Кейс 2: Технический долг спас бизнес</a:t>
            </a:r>
            <a:endParaRPr lang="ru-RU" sz="2800" b="0" i="0" dirty="0">
              <a:solidFill>
                <a:srgbClr val="0F1115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buFont typeface="Arial" panose="020B0604020202020204" pitchFamily="34" charset="0"/>
              <a:buChar char="•"/>
            </a:pPr>
            <a:r>
              <a:rPr lang="ru-RU" sz="2800" b="0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Нужно было запустить MVP за 2 недели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ru-RU" sz="2800" b="0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Сознательно использовали "костыли"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ru-RU" sz="2800" b="0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Запланировали рефакторинг после запуска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ru-RU" sz="2800" b="0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Успели к дедлайну, получили инвестиции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ru-RU" sz="2800" b="0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Через месяц переписали архитектуру</a:t>
            </a:r>
          </a:p>
        </p:txBody>
      </p:sp>
    </p:spTree>
    <p:extLst>
      <p:ext uri="{BB962C8B-B14F-4D97-AF65-F5344CB8AC3E}">
        <p14:creationId xmlns:p14="http://schemas.microsoft.com/office/powerpoint/2010/main" val="48594680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4B72BE-6B6B-79EA-8ACA-97B68EF42F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87B24315-9842-0716-3D51-464923DB2DC6}"/>
              </a:ext>
            </a:extLst>
          </p:cNvPr>
          <p:cNvSpPr txBox="1"/>
          <p:nvPr/>
        </p:nvSpPr>
        <p:spPr>
          <a:xfrm>
            <a:off x="0" y="0"/>
            <a:ext cx="12192000" cy="4097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250"/>
              </a:lnSpc>
              <a:spcBef>
                <a:spcPts val="2400"/>
              </a:spcBef>
              <a:spcAft>
                <a:spcPts val="1200"/>
              </a:spcAft>
              <a:buNone/>
            </a:pPr>
            <a:r>
              <a:rPr lang="ru-RU" sz="3200" b="1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Итоги лекции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40D9E56-B1BB-364A-BC1E-5F94E36525E6}"/>
              </a:ext>
            </a:extLst>
          </p:cNvPr>
          <p:cNvSpPr txBox="1"/>
          <p:nvPr/>
        </p:nvSpPr>
        <p:spPr>
          <a:xfrm>
            <a:off x="0" y="409728"/>
            <a:ext cx="12192000" cy="5060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1200"/>
              </a:spcBef>
              <a:spcAft>
                <a:spcPts val="1200"/>
              </a:spcAft>
              <a:buFont typeface="+mj-lt"/>
              <a:buAutoNum type="arabicPeriod"/>
            </a:pPr>
            <a:r>
              <a:rPr lang="ru-RU" sz="2800" b="1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Качество</a:t>
            </a:r>
            <a:r>
              <a:rPr lang="ru-RU" sz="2800" b="0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— многомерное понятие, но </a:t>
            </a:r>
            <a:r>
              <a:rPr lang="ru-RU" sz="2800" b="0" i="0" dirty="0" err="1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поддерживаемость</a:t>
            </a:r>
            <a:r>
              <a:rPr lang="ru-RU" sz="2800" b="0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критична</a:t>
            </a:r>
          </a:p>
          <a:p>
            <a:pPr algn="l">
              <a:spcBef>
                <a:spcPts val="450"/>
              </a:spcBef>
              <a:spcAft>
                <a:spcPts val="1200"/>
              </a:spcAft>
              <a:buFont typeface="+mj-lt"/>
              <a:buAutoNum type="arabicPeriod"/>
            </a:pPr>
            <a:r>
              <a:rPr lang="ru-RU" sz="2800" b="1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Технический долг</a:t>
            </a:r>
            <a:r>
              <a:rPr lang="ru-RU" sz="2800" b="0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— метафора для плохого кода, которым придётся заниматься</a:t>
            </a:r>
          </a:p>
          <a:p>
            <a:pPr algn="l">
              <a:spcBef>
                <a:spcPts val="450"/>
              </a:spcBef>
              <a:spcAft>
                <a:spcPts val="1200"/>
              </a:spcAft>
              <a:buFont typeface="+mj-lt"/>
              <a:buAutoNum type="arabicPeriod"/>
            </a:pPr>
            <a:r>
              <a:rPr lang="ru-RU" sz="2800" b="1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Code </a:t>
            </a:r>
            <a:r>
              <a:rPr lang="ru-RU" sz="2800" b="1" i="0" dirty="0" err="1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Smells</a:t>
            </a:r>
            <a:r>
              <a:rPr lang="ru-RU" sz="2800" b="0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— симптомы проблем (дублирование, длинные методы, </a:t>
            </a:r>
            <a:r>
              <a:rPr lang="ru-RU" sz="2800" b="0" i="0" dirty="0" err="1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god-object</a:t>
            </a:r>
            <a:r>
              <a:rPr lang="ru-RU" sz="2800" b="0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pPr algn="l">
              <a:spcBef>
                <a:spcPts val="450"/>
              </a:spcBef>
              <a:spcAft>
                <a:spcPts val="1200"/>
              </a:spcAft>
              <a:buFont typeface="+mj-lt"/>
              <a:buAutoNum type="arabicPeriod"/>
            </a:pPr>
            <a:r>
              <a:rPr lang="ru-RU" sz="2800" b="1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Рефакторинг</a:t>
            </a:r>
            <a:r>
              <a:rPr lang="ru-RU" sz="2800" b="0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— лечение кода без изменения поведения</a:t>
            </a:r>
          </a:p>
          <a:p>
            <a:pPr algn="l">
              <a:spcBef>
                <a:spcPts val="450"/>
              </a:spcBef>
              <a:spcAft>
                <a:spcPts val="1200"/>
              </a:spcAft>
              <a:buFont typeface="+mj-lt"/>
              <a:buAutoNum type="arabicPeriod"/>
            </a:pPr>
            <a:r>
              <a:rPr lang="ru-RU" sz="2800" b="1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Метрики</a:t>
            </a:r>
            <a:r>
              <a:rPr lang="ru-RU" sz="2800" b="0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— помогают измерять и контролировать</a:t>
            </a:r>
          </a:p>
          <a:p>
            <a:pPr algn="l">
              <a:spcBef>
                <a:spcPts val="450"/>
              </a:spcBef>
              <a:spcAft>
                <a:spcPts val="1200"/>
              </a:spcAft>
              <a:buFont typeface="+mj-lt"/>
              <a:buAutoNum type="arabicPeriod"/>
            </a:pPr>
            <a:r>
              <a:rPr lang="ru-RU" sz="2800" b="1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Инструменты</a:t>
            </a:r>
            <a:r>
              <a:rPr lang="ru-RU" sz="2800" b="0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— </a:t>
            </a:r>
            <a:r>
              <a:rPr lang="ru-RU" sz="2800" b="0" i="0" dirty="0" err="1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SonarQube</a:t>
            </a:r>
            <a:r>
              <a:rPr lang="ru-RU" sz="2800" b="0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линтеры — обязательны в современной разработке</a:t>
            </a:r>
          </a:p>
        </p:txBody>
      </p:sp>
    </p:spTree>
    <p:extLst>
      <p:ext uri="{BB962C8B-B14F-4D97-AF65-F5344CB8AC3E}">
        <p14:creationId xmlns:p14="http://schemas.microsoft.com/office/powerpoint/2010/main" val="418084781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68B03BF-C472-BEEC-EFB6-0C4985C828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B93CBE75-088C-4D76-627E-20F99B6D47AB}"/>
              </a:ext>
            </a:extLst>
          </p:cNvPr>
          <p:cNvSpPr txBox="1"/>
          <p:nvPr/>
        </p:nvSpPr>
        <p:spPr>
          <a:xfrm>
            <a:off x="3514725" y="226037"/>
            <a:ext cx="6396037" cy="3520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680"/>
              </a:lnSpc>
              <a:buNone/>
            </a:pPr>
            <a:r>
              <a:rPr lang="ru-RU" sz="3200" b="1" kern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ДОМАШНЕЕ ЗАДАНИЕ</a:t>
            </a:r>
            <a:endParaRPr lang="ru-RU" sz="3200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B1C58D6-AFC2-E770-B77D-347CE734978A}"/>
              </a:ext>
            </a:extLst>
          </p:cNvPr>
          <p:cNvSpPr txBox="1"/>
          <p:nvPr/>
        </p:nvSpPr>
        <p:spPr>
          <a:xfrm>
            <a:off x="0" y="498544"/>
            <a:ext cx="12192000" cy="412420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2000" b="1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Задание 1:</a:t>
            </a:r>
            <a:br>
              <a:rPr lang="ru-RU" sz="2000" b="0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Возьмите любой свой старый код (или код из открытых источников) и проанализируйте его на наличие Code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Smells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Есть ли дублирование?</a:t>
            </a:r>
          </a:p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Есть ли длинные методы?</a:t>
            </a:r>
          </a:p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Есть ли большие классы?</a:t>
            </a:r>
          </a:p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Есть ли магические числа?</a:t>
            </a:r>
          </a:p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Есть ли мёртвый код?</a:t>
            </a:r>
          </a:p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Напишите отчёт (5-10 проблем) и предложите, как их исправить.</a:t>
            </a:r>
            <a:endParaRPr lang="ru-RU" b="0" i="0" dirty="0">
              <a:solidFill>
                <a:srgbClr val="0F1115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ru-RU" sz="2000" b="1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Задание 2:</a:t>
            </a:r>
            <a:br>
              <a:rPr lang="ru-RU" sz="2000" b="0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Установите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SonarLint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в вашу IDE (или любой линтер для вашего языка). Откройте проект и посмотрите, какие проблемы находит инструмент. Исправьте 3 самых критичных замечания. Приложите скриншоты "до" и "после".</a:t>
            </a:r>
            <a:endParaRPr lang="ru-RU" b="0" i="0" dirty="0">
              <a:solidFill>
                <a:srgbClr val="0F1115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ru-RU" sz="2000" b="1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Задание 3:</a:t>
            </a:r>
            <a:br>
              <a:rPr lang="ru-RU" sz="2000" b="0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Разверните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SonarQube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локально (в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Docker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или используйте облачную версию. Проанализируйте ваш проект, получите отчёт о техническом долге. Напишите, сколько времени потребуется на его погашение (по версии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SonarQube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).</a:t>
            </a:r>
            <a:endParaRPr lang="ru-RU" b="0" i="0" dirty="0">
              <a:solidFill>
                <a:srgbClr val="0F1115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B314EDF-597F-9FC4-6701-45430D10B5FC}"/>
              </a:ext>
            </a:extLst>
          </p:cNvPr>
          <p:cNvSpPr txBox="1"/>
          <p:nvPr/>
        </p:nvSpPr>
        <p:spPr>
          <a:xfrm>
            <a:off x="0" y="4553842"/>
            <a:ext cx="12192000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</a:pPr>
            <a:r>
              <a:rPr lang="ru-RU" b="1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ДОПОЛНИТЕЛЬНЫЕ МАТЕРИАЛЫ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b="1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Книга:</a:t>
            </a:r>
            <a:r>
              <a:rPr lang="ru-RU" b="0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Мартин Фаулер "Рефакторинг. Улучшение существующего кода"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b="1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Книга:</a:t>
            </a:r>
            <a:r>
              <a:rPr lang="ru-RU" b="0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Роберт Мартин "Чистый код"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b="1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Книга:</a:t>
            </a:r>
            <a:r>
              <a:rPr lang="ru-RU" b="0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Стив Макконнелл "Совершенный код"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b="1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Статья:</a:t>
            </a:r>
            <a:r>
              <a:rPr lang="ru-RU" b="0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r>
              <a:rPr lang="en-US" b="0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Martin Fowler "Technical Debt Quadrant"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b="1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Видео:</a:t>
            </a:r>
            <a:r>
              <a:rPr lang="ru-RU" b="0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"</a:t>
            </a:r>
            <a:r>
              <a:rPr lang="en-US" b="0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Is TDD Dead?" — </a:t>
            </a:r>
            <a:r>
              <a:rPr lang="ru-RU" b="0" i="0" dirty="0" err="1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дискусия</a:t>
            </a:r>
            <a:r>
              <a:rPr lang="ru-RU" b="0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с </a:t>
            </a:r>
            <a:r>
              <a:rPr lang="en-US" b="0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DHH, </a:t>
            </a:r>
            <a:r>
              <a:rPr lang="ru-RU" b="0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Мартином Фаулером и Кентом Беком 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b="1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Инструмент:</a:t>
            </a:r>
            <a:r>
              <a:rPr lang="ru-RU" b="0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r>
              <a:rPr lang="en-US" b="0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SonarQube (</a:t>
            </a:r>
            <a:r>
              <a:rPr lang="en-US" b="0" i="0" u="none" strike="noStrike" dirty="0">
                <a:solidFill>
                  <a:srgbClr val="3964FE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  <a:hlinkClick r:id="rId3"/>
              </a:rPr>
              <a:t>sonarqube.org</a:t>
            </a:r>
            <a:r>
              <a:rPr lang="en-US" b="0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b="1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Курс:</a:t>
            </a:r>
            <a:r>
              <a:rPr lang="ru-RU" b="0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r>
              <a:rPr lang="en-US" b="0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Microsoft Learn "Identify technical debt"</a:t>
            </a:r>
          </a:p>
        </p:txBody>
      </p:sp>
    </p:spTree>
    <p:extLst>
      <p:ext uri="{BB962C8B-B14F-4D97-AF65-F5344CB8AC3E}">
        <p14:creationId xmlns:p14="http://schemas.microsoft.com/office/powerpoint/2010/main" val="3240005952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6224</TotalTime>
  <Words>1896</Words>
  <Application>Microsoft Office PowerPoint</Application>
  <PresentationFormat>Широкоэкранный</PresentationFormat>
  <Paragraphs>319</Paragraphs>
  <Slides>22</Slides>
  <Notes>4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22</vt:i4>
      </vt:variant>
    </vt:vector>
  </HeadingPairs>
  <TitlesOfParts>
    <vt:vector size="27" baseType="lpstr">
      <vt:lpstr>Arial</vt:lpstr>
      <vt:lpstr>Calibri</vt:lpstr>
      <vt:lpstr>Calibri Light</vt:lpstr>
      <vt:lpstr>Times New Roman</vt:lpstr>
      <vt:lpstr>Тема Office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Арсентий Абдалов</dc:creator>
  <cp:lastModifiedBy>Арсентий Абдалов</cp:lastModifiedBy>
  <cp:revision>23</cp:revision>
  <dcterms:created xsi:type="dcterms:W3CDTF">2025-09-19T18:20:34Z</dcterms:created>
  <dcterms:modified xsi:type="dcterms:W3CDTF">2026-03-13T17:13:53Z</dcterms:modified>
</cp:coreProperties>
</file>